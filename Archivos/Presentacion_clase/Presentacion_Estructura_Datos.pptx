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 id="2147483699" r:id="rId2"/>
    <p:sldMasterId id="2147483717" r:id="rId3"/>
  </p:sldMasterIdLst>
  <p:notesMasterIdLst>
    <p:notesMasterId r:id="rId87"/>
  </p:notesMasterIdLst>
  <p:sldIdLst>
    <p:sldId id="256" r:id="rId4"/>
    <p:sldId id="257" r:id="rId5"/>
    <p:sldId id="282" r:id="rId6"/>
    <p:sldId id="266" r:id="rId7"/>
    <p:sldId id="265" r:id="rId8"/>
    <p:sldId id="267" r:id="rId9"/>
    <p:sldId id="258" r:id="rId10"/>
    <p:sldId id="268" r:id="rId11"/>
    <p:sldId id="269" r:id="rId12"/>
    <p:sldId id="259" r:id="rId13"/>
    <p:sldId id="260" r:id="rId14"/>
    <p:sldId id="261" r:id="rId15"/>
    <p:sldId id="262" r:id="rId16"/>
    <p:sldId id="263" r:id="rId17"/>
    <p:sldId id="264" r:id="rId18"/>
    <p:sldId id="270" r:id="rId19"/>
    <p:sldId id="271" r:id="rId20"/>
    <p:sldId id="272" r:id="rId21"/>
    <p:sldId id="273" r:id="rId22"/>
    <p:sldId id="276" r:id="rId23"/>
    <p:sldId id="277" r:id="rId24"/>
    <p:sldId id="278" r:id="rId25"/>
    <p:sldId id="279" r:id="rId26"/>
    <p:sldId id="280" r:id="rId27"/>
    <p:sldId id="281" r:id="rId28"/>
    <p:sldId id="274" r:id="rId29"/>
    <p:sldId id="275" r:id="rId30"/>
    <p:sldId id="283" r:id="rId31"/>
    <p:sldId id="303" r:id="rId32"/>
    <p:sldId id="302" r:id="rId33"/>
    <p:sldId id="304" r:id="rId34"/>
    <p:sldId id="305"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7" r:id="rId48"/>
    <p:sldId id="298" r:id="rId49"/>
    <p:sldId id="296" r:id="rId50"/>
    <p:sldId id="299" r:id="rId51"/>
    <p:sldId id="300" r:id="rId52"/>
    <p:sldId id="301" r:id="rId53"/>
    <p:sldId id="310" r:id="rId54"/>
    <p:sldId id="306" r:id="rId55"/>
    <p:sldId id="307" r:id="rId56"/>
    <p:sldId id="308" r:id="rId57"/>
    <p:sldId id="311" r:id="rId58"/>
    <p:sldId id="309" r:id="rId59"/>
    <p:sldId id="312" r:id="rId60"/>
    <p:sldId id="313" r:id="rId61"/>
    <p:sldId id="314" r:id="rId62"/>
    <p:sldId id="315" r:id="rId63"/>
    <p:sldId id="316" r:id="rId64"/>
    <p:sldId id="317" r:id="rId65"/>
    <p:sldId id="319" r:id="rId66"/>
    <p:sldId id="318" r:id="rId67"/>
    <p:sldId id="320" r:id="rId68"/>
    <p:sldId id="321" r:id="rId69"/>
    <p:sldId id="322" r:id="rId70"/>
    <p:sldId id="323" r:id="rId71"/>
    <p:sldId id="324" r:id="rId72"/>
    <p:sldId id="325" r:id="rId73"/>
    <p:sldId id="326" r:id="rId74"/>
    <p:sldId id="327" r:id="rId75"/>
    <p:sldId id="328" r:id="rId76"/>
    <p:sldId id="331" r:id="rId77"/>
    <p:sldId id="332" r:id="rId78"/>
    <p:sldId id="333" r:id="rId79"/>
    <p:sldId id="334" r:id="rId80"/>
    <p:sldId id="335" r:id="rId81"/>
    <p:sldId id="329" r:id="rId82"/>
    <p:sldId id="330" r:id="rId83"/>
    <p:sldId id="336" r:id="rId84"/>
    <p:sldId id="337" r:id="rId85"/>
    <p:sldId id="338" r:id="rId8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60" autoAdjust="0"/>
    <p:restoredTop sz="94660"/>
  </p:normalViewPr>
  <p:slideViewPr>
    <p:cSldViewPr snapToGrid="0">
      <p:cViewPr varScale="1">
        <p:scale>
          <a:sx n="116" d="100"/>
          <a:sy n="116" d="100"/>
        </p:scale>
        <p:origin x="57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heme" Target="theme/theme1.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notesMaster" Target="notesMasters/notes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0D56D-9810-4673-AD58-DB1A140B8EF7}" type="datetimeFigureOut">
              <a:rPr lang="es-MX" smtClean="0"/>
              <a:t>05/03/2024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C99AC-7844-49F4-8DC0-5F2700B1ACF5}" type="slidenum">
              <a:rPr lang="es-MX" smtClean="0"/>
              <a:t>‹Nº›</a:t>
            </a:fld>
            <a:endParaRPr lang="es-MX"/>
          </a:p>
        </p:txBody>
      </p:sp>
    </p:spTree>
    <p:extLst>
      <p:ext uri="{BB962C8B-B14F-4D97-AF65-F5344CB8AC3E}">
        <p14:creationId xmlns:p14="http://schemas.microsoft.com/office/powerpoint/2010/main" val="773598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AB756-9787-2503-DE6D-0EC716B98BD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2E1CB2D0-BF5C-1573-3CEE-5AC04C339C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35B65C32-E229-AE67-BD2C-ECCAE96543D2}"/>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5" name="Marcador de pie de página 4">
            <a:extLst>
              <a:ext uri="{FF2B5EF4-FFF2-40B4-BE49-F238E27FC236}">
                <a16:creationId xmlns:a16="http://schemas.microsoft.com/office/drawing/2014/main" id="{2C70B934-5D30-ACC8-18DA-E39476852F32}"/>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34202AE2-EA84-F9AC-3C70-AB354CC761E3}"/>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61605166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31AD8C-5EB8-9B8C-BDE9-B21A4578C76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834F645-EE9B-91CD-FBEF-80ACE56E00E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81B7255-DC05-5F4F-48F2-561A144FB53A}"/>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5" name="Marcador de pie de página 4">
            <a:extLst>
              <a:ext uri="{FF2B5EF4-FFF2-40B4-BE49-F238E27FC236}">
                <a16:creationId xmlns:a16="http://schemas.microsoft.com/office/drawing/2014/main" id="{9987E0CF-48EA-A4DA-193C-12DC177E4E1B}"/>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99A75311-4905-296F-4F38-62239BE72BF1}"/>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23289759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FF6977-BEB6-3062-A311-31C52A7B3BD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428C6F-0672-6852-E756-E53DAB932D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014D80B-3605-223D-DED4-8BFA33CFC85B}"/>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5" name="Marcador de pie de página 4">
            <a:extLst>
              <a:ext uri="{FF2B5EF4-FFF2-40B4-BE49-F238E27FC236}">
                <a16:creationId xmlns:a16="http://schemas.microsoft.com/office/drawing/2014/main" id="{49DC9DBA-1DC1-BF30-BF08-423697D80BB6}"/>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5F08284D-6787-124E-7684-2E8D3923D4ED}"/>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11307442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02EFFF-99C7-CE8F-BD2E-BA6119A7314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7109CB7-7F3F-EED8-043F-61C8C039848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5A74BBB-8BBD-B121-1089-97DE7720255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F5B43B6-9DF8-B4C4-6F70-82C3A3F7E44E}"/>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6" name="Marcador de pie de página 5">
            <a:extLst>
              <a:ext uri="{FF2B5EF4-FFF2-40B4-BE49-F238E27FC236}">
                <a16:creationId xmlns:a16="http://schemas.microsoft.com/office/drawing/2014/main" id="{6AD956A3-C832-40CE-642A-C01A2E679928}"/>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32BAFEAA-11DA-8124-726F-6BFF39E09BC1}"/>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2631288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FF8BE-9512-821D-D51E-2FFF55CEC92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0403590-5348-E661-C65C-0A4858F802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DD053AD-F769-138C-5804-39C8AEF94E6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38816CF7-D052-E2E3-7C90-D844E5EF86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89D6DD7-6E9E-0A3A-53B6-2FA1433D85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2D1B701-ACCF-179F-C64C-2E6517C6AB42}"/>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8" name="Marcador de pie de página 7">
            <a:extLst>
              <a:ext uri="{FF2B5EF4-FFF2-40B4-BE49-F238E27FC236}">
                <a16:creationId xmlns:a16="http://schemas.microsoft.com/office/drawing/2014/main" id="{7B2E324D-D9BD-1BA9-BAF2-F76084E1AE6C}"/>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00D6C2CC-07CD-1191-7870-89AC054D9864}"/>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406356931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6A1CCC-DC65-4DFE-CB95-3BF2571CC4F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EFF1FF5-C7E6-94C7-128F-79FE8BAD2B19}"/>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4" name="Marcador de pie de página 3">
            <a:extLst>
              <a:ext uri="{FF2B5EF4-FFF2-40B4-BE49-F238E27FC236}">
                <a16:creationId xmlns:a16="http://schemas.microsoft.com/office/drawing/2014/main" id="{DC16025D-3EC4-4DE7-43C4-CBB320D5A71D}"/>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26B5541E-497B-7BC7-C46A-ABC18CB7A019}"/>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2049962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B55C8F6-715E-BDBE-EAF9-3493417A3C40}"/>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3" name="Marcador de pie de página 2">
            <a:extLst>
              <a:ext uri="{FF2B5EF4-FFF2-40B4-BE49-F238E27FC236}">
                <a16:creationId xmlns:a16="http://schemas.microsoft.com/office/drawing/2014/main" id="{3AF5F208-A721-71DF-1442-FAC66FD4C4AA}"/>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B6E25898-7EA6-0727-9982-F059B041ABA2}"/>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6190075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5BAF84-02D5-8F89-EDB4-A9D300A752F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A019CDA-C984-7D26-8F8E-B43E83C0CE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45F6C455-1973-FF34-9F60-DE90F4115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B982B3-E9B3-B7E1-87FD-3E4C9CC89B47}"/>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6" name="Marcador de pie de página 5">
            <a:extLst>
              <a:ext uri="{FF2B5EF4-FFF2-40B4-BE49-F238E27FC236}">
                <a16:creationId xmlns:a16="http://schemas.microsoft.com/office/drawing/2014/main" id="{2241F64F-CF3F-6967-8956-9FD45080CFE9}"/>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0450A313-5C03-E2B6-DFBB-8F534EF36641}"/>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40405651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C1D452-E779-0ABD-8E6E-0F668F3CD4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FF9365E-5239-0B98-3E50-00C26CE3DB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30DC598-C31A-3405-E17E-AB7C60A05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8FA9BCA-8738-EC5C-65CD-43133EED2FFE}"/>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6" name="Marcador de pie de página 5">
            <a:extLst>
              <a:ext uri="{FF2B5EF4-FFF2-40B4-BE49-F238E27FC236}">
                <a16:creationId xmlns:a16="http://schemas.microsoft.com/office/drawing/2014/main" id="{20351288-A38B-ED1D-7C2F-18EBBDFB9FBB}"/>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08C1E894-1624-2949-2555-EDEE25D6B6BE}"/>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35325518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BFCB2-AD9A-D4DC-4115-C2CD145D424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62D294B-822A-806B-9AE7-3E3949898F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C2AFF5F-CB32-ED65-FDB8-18177F76C0C2}"/>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5" name="Marcador de pie de página 4">
            <a:extLst>
              <a:ext uri="{FF2B5EF4-FFF2-40B4-BE49-F238E27FC236}">
                <a16:creationId xmlns:a16="http://schemas.microsoft.com/office/drawing/2014/main" id="{0682C7B6-7843-82E5-32DC-2F689C352A6A}"/>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A8E032BA-B50D-16F1-0CD5-BD405240A925}"/>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63589309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5CFB4E5-D169-D6D7-7ACD-C1BD87B1B82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0EE53AF-5276-E98C-8F43-47133EB3F4D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F17C03C-7BC9-E4C3-CF33-98DA7C349E8E}"/>
              </a:ext>
            </a:extLst>
          </p:cNvPr>
          <p:cNvSpPr>
            <a:spLocks noGrp="1"/>
          </p:cNvSpPr>
          <p:nvPr>
            <p:ph type="dt" sz="half" idx="10"/>
          </p:nvPr>
        </p:nvSpPr>
        <p:spPr/>
        <p:txBody>
          <a:bodyPr/>
          <a:lstStyle/>
          <a:p>
            <a:fld id="{6989806E-8E94-473C-AEE7-BE6F15F85533}" type="datetime1">
              <a:rPr lang="en-US" smtClean="0"/>
              <a:t>3/5/2024</a:t>
            </a:fld>
            <a:endParaRPr lang="en-US" dirty="0"/>
          </a:p>
        </p:txBody>
      </p:sp>
      <p:sp>
        <p:nvSpPr>
          <p:cNvPr id="5" name="Marcador de pie de página 4">
            <a:extLst>
              <a:ext uri="{FF2B5EF4-FFF2-40B4-BE49-F238E27FC236}">
                <a16:creationId xmlns:a16="http://schemas.microsoft.com/office/drawing/2014/main" id="{778C7D58-D7C0-7592-2E0D-9C5C7CD8753C}"/>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2AA7B42E-3FCA-9E92-4E75-3FFCB9F094B0}"/>
              </a:ext>
            </a:extLst>
          </p:cNvPr>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36492179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8568800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15948692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167021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43350451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989806E-8E94-473C-AEE7-BE6F15F85533}" type="datetime1">
              <a:rPr lang="en-US" smtClean="0"/>
              <a:t>3/5/2024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412788328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989806E-8E94-473C-AEE7-BE6F15F85533}" type="datetime1">
              <a:rPr lang="en-US" smtClean="0"/>
              <a:t>3/5/2024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4849361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989806E-8E94-473C-AEE7-BE6F15F85533}" type="datetime1">
              <a:rPr lang="en-US" smtClean="0"/>
              <a:t>3/5/2024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022664948"/>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635769268"/>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04470040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076843551"/>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70110421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6444273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463020611"/>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6989806E-8E94-473C-AEE7-BE6F15F85533}" type="datetime1">
              <a:rPr lang="en-US" smtClean="0"/>
              <a:t>3/5/2024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32191265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6989806E-8E94-473C-AEE7-BE6F15F85533}" type="datetime1">
              <a:rPr lang="en-US" smtClean="0"/>
              <a:t>3/5/2024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5845307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744628949"/>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225295252"/>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4A918BC-4D43-4B42-B3C0-E7EBE25E6AF0}" type="slidenum">
              <a:rPr lang="en-US" smtClean="0"/>
              <a:pPr/>
              <a:t>‹Nº›</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328782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48329938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670767"/>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993125467"/>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s-ES"/>
              <a:t>Haga clic para modificar los estilos de texto del patrón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989806E-8E94-473C-AEE7-BE6F15F85533}" type="datetime1">
              <a:rPr lang="en-US" smtClean="0"/>
              <a:t>3/5/2024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839044026"/>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989806E-8E94-473C-AEE7-BE6F15F85533}" type="datetime1">
              <a:rPr lang="en-US" smtClean="0"/>
              <a:t>3/5/2024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115197436"/>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9806E-8E94-473C-AEE7-BE6F15F85533}" type="datetime1">
              <a:rPr lang="en-US" smtClean="0"/>
              <a:t>3/5/2024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730664528"/>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41146182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989806E-8E94-473C-AEE7-BE6F15F85533}" type="datetime1">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944706857"/>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673779242"/>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1679883742"/>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89806E-8E94-473C-AEE7-BE6F15F85533}" type="datetime1">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293702814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713605F-4024-1F66-B79F-7AD4FA381B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0F19BA2-3628-46FA-ADE3-E9F206D4EF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6B118FB-C8CF-6C0D-F2D7-AAA30E752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89806E-8E94-473C-AEE7-BE6F15F85533}" type="datetime1">
              <a:rPr lang="en-US" smtClean="0"/>
              <a:t>3/5/2024</a:t>
            </a:fld>
            <a:endParaRPr lang="en-US" dirty="0"/>
          </a:p>
        </p:txBody>
      </p:sp>
      <p:sp>
        <p:nvSpPr>
          <p:cNvPr id="5" name="Marcador de pie de página 4">
            <a:extLst>
              <a:ext uri="{FF2B5EF4-FFF2-40B4-BE49-F238E27FC236}">
                <a16:creationId xmlns:a16="http://schemas.microsoft.com/office/drawing/2014/main" id="{35837341-69A5-6A5B-71E2-D573F1E2DA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a:extLst>
              <a:ext uri="{FF2B5EF4-FFF2-40B4-BE49-F238E27FC236}">
                <a16:creationId xmlns:a16="http://schemas.microsoft.com/office/drawing/2014/main" id="{89E7A432-57CC-951C-460A-5D49263B62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9783117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989806E-8E94-473C-AEE7-BE6F15F85533}" type="datetime1">
              <a:rPr lang="en-US" smtClean="0"/>
              <a:t>3/5/2024</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14734117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989806E-8E94-473C-AEE7-BE6F15F85533}" type="datetime1">
              <a:rPr lang="en-US" smtClean="0"/>
              <a:t>3/5/2024</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4A918BC-4D43-4B42-B3C0-E7EBE25E6AF0}" type="slidenum">
              <a:rPr lang="en-US" smtClean="0"/>
              <a:pPr/>
              <a:t>‹Nº›</a:t>
            </a:fld>
            <a:endParaRPr lang="en-US" dirty="0"/>
          </a:p>
        </p:txBody>
      </p:sp>
    </p:spTree>
    <p:extLst>
      <p:ext uri="{BB962C8B-B14F-4D97-AF65-F5344CB8AC3E}">
        <p14:creationId xmlns:p14="http://schemas.microsoft.com/office/powerpoint/2010/main" val="3129281356"/>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35.xml"/><Relationship Id="rId6" Type="http://schemas.microsoft.com/office/2007/relationships/hdphoto" Target="../media/hdphoto1.wdp"/><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jpeg"/><Relationship Id="rId1" Type="http://schemas.openxmlformats.org/officeDocument/2006/relationships/slideLayout" Target="../slideLayouts/slideLayout35.xml"/><Relationship Id="rId6" Type="http://schemas.openxmlformats.org/officeDocument/2006/relationships/image" Target="../media/image16.png"/><Relationship Id="rId5" Type="http://schemas.openxmlformats.org/officeDocument/2006/relationships/image" Target="../media/image15.jpe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40.xml"/><Relationship Id="rId5" Type="http://schemas.microsoft.com/office/2007/relationships/hdphoto" Target="../media/hdphoto5.wdp"/><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0.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0.xml"/><Relationship Id="rId6" Type="http://schemas.openxmlformats.org/officeDocument/2006/relationships/image" Target="../media/image27.png"/><Relationship Id="rId5" Type="http://schemas.openxmlformats.org/officeDocument/2006/relationships/image" Target="../media/image26.png"/><Relationship Id="rId4" Type="http://schemas.microsoft.com/office/2007/relationships/hdphoto" Target="../media/hdphoto6.wdp"/></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0.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Layout" Target="../slideLayouts/slideLayout40.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emf"/><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0.emf"/><Relationship Id="rId1" Type="http://schemas.openxmlformats.org/officeDocument/2006/relationships/slideLayout" Target="../slideLayouts/slideLayout40.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2.png"/><Relationship Id="rId1" Type="http://schemas.openxmlformats.org/officeDocument/2006/relationships/slideLayout" Target="../slideLayouts/slideLayout40.xml"/><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0.xml"/><Relationship Id="rId6" Type="http://schemas.openxmlformats.org/officeDocument/2006/relationships/image" Target="../media/image48.png"/><Relationship Id="rId5" Type="http://schemas.microsoft.com/office/2007/relationships/hdphoto" Target="../media/hdphoto8.wdp"/><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5.png"/><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0.xml"/><Relationship Id="rId4" Type="http://schemas.microsoft.com/office/2007/relationships/hdphoto" Target="../media/hdphoto9.wdp"/></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0.xml"/><Relationship Id="rId4" Type="http://schemas.openxmlformats.org/officeDocument/2006/relationships/image" Target="../media/image65.emf"/></Relationships>
</file>

<file path=ppt/slides/_rels/slide35.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66.png"/><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emf"/><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40.xml"/><Relationship Id="rId4" Type="http://schemas.openxmlformats.org/officeDocument/2006/relationships/image" Target="../media/image93.png"/></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40.xml"/><Relationship Id="rId5" Type="http://schemas.openxmlformats.org/officeDocument/2006/relationships/image" Target="../media/image39.png"/><Relationship Id="rId4" Type="http://schemas.openxmlformats.org/officeDocument/2006/relationships/image" Target="../media/image93.png"/></Relationships>
</file>

<file path=ppt/slides/_rels/slide5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0.xml"/></Relationships>
</file>

<file path=ppt/slides/_rels/slide6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40.xml"/></Relationships>
</file>

<file path=ppt/slides/_rels/slide6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5.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40.xml"/></Relationships>
</file>

<file path=ppt/slides/_rels/slide66.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102.emf"/><Relationship Id="rId1" Type="http://schemas.openxmlformats.org/officeDocument/2006/relationships/slideLayout" Target="../slideLayouts/slideLayout40.xml"/><Relationship Id="rId5" Type="http://schemas.microsoft.com/office/2007/relationships/hdphoto" Target="../media/hdphoto11.wdp"/><Relationship Id="rId4" Type="http://schemas.openxmlformats.org/officeDocument/2006/relationships/image" Target="../media/image103.png"/></Relationships>
</file>

<file path=ppt/slides/_rels/slide67.x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slideLayout" Target="../slideLayouts/slideLayout40.xml"/></Relationships>
</file>

<file path=ppt/slides/_rels/slide6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40.xml"/></Relationships>
</file>

<file path=ppt/slides/_rels/slide7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40.xml"/></Relationships>
</file>

<file path=ppt/slides/_rels/slide7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40.xml"/></Relationships>
</file>

<file path=ppt/slides/_rels/slide7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40.xml"/></Relationships>
</file>

<file path=ppt/slides/_rels/slide7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40.xml"/></Relationships>
</file>

<file path=ppt/slides/_rels/slide7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40.xml"/></Relationships>
</file>

<file path=ppt/slides/_rels/slide7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4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40.xml"/></Relationships>
</file>

<file path=ppt/slides/_rels/slide7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40.xml"/></Relationships>
</file>

<file path=ppt/slides/_rels/slide7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40.xml"/></Relationships>
</file>

<file path=ppt/slides/_rels/slide8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4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3.xml.rels><?xml version="1.0" encoding="UTF-8" standalone="yes"?>
<Relationships xmlns="http://schemas.openxmlformats.org/package/2006/relationships"><Relationship Id="rId2" Type="http://schemas.openxmlformats.org/officeDocument/2006/relationships/image" Target="../media/image119.emf"/><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Parte de una red con un fondo blanco">
            <a:extLst>
              <a:ext uri="{FF2B5EF4-FFF2-40B4-BE49-F238E27FC236}">
                <a16:creationId xmlns:a16="http://schemas.microsoft.com/office/drawing/2014/main" id="{5E79A710-D9A1-BFB5-659E-528E6490E8FD}"/>
              </a:ext>
            </a:extLst>
          </p:cNvPr>
          <p:cNvPicPr>
            <a:picLocks noChangeAspect="1"/>
          </p:cNvPicPr>
          <p:nvPr/>
        </p:nvPicPr>
        <p:blipFill rotWithShape="1">
          <a:blip r:embed="rId2"/>
          <a:srcRect t="7808" r="1" b="1"/>
          <a:stretch/>
        </p:blipFill>
        <p:spPr>
          <a:xfrm>
            <a:off x="20" y="-1"/>
            <a:ext cx="11144289" cy="6858001"/>
          </a:xfrm>
          <a:prstGeom prst="rect">
            <a:avLst/>
          </a:prstGeom>
          <a:effectLst>
            <a:outerShdw blurRad="596900" dist="330200" dir="8820000" sx="87000" sy="87000" algn="ctr" rotWithShape="0">
              <a:srgbClr val="000000">
                <a:alpha val="29000"/>
              </a:srgbClr>
            </a:outerShdw>
          </a:effectLst>
        </p:spPr>
      </p:pic>
      <p:sp>
        <p:nvSpPr>
          <p:cNvPr id="2" name="Título 1">
            <a:extLst>
              <a:ext uri="{FF2B5EF4-FFF2-40B4-BE49-F238E27FC236}">
                <a16:creationId xmlns:a16="http://schemas.microsoft.com/office/drawing/2014/main" id="{B967C757-BCA7-583A-D985-79EC9390532F}"/>
              </a:ext>
            </a:extLst>
          </p:cNvPr>
          <p:cNvSpPr>
            <a:spLocks noGrp="1"/>
          </p:cNvSpPr>
          <p:nvPr>
            <p:ph type="ctrTitle"/>
          </p:nvPr>
        </p:nvSpPr>
        <p:spPr>
          <a:xfrm>
            <a:off x="5705118" y="-192843"/>
            <a:ext cx="6359882" cy="2483316"/>
          </a:xfrm>
          <a:ln>
            <a:solidFill>
              <a:schemeClr val="bg1"/>
            </a:solidFill>
          </a:ln>
        </p:spPr>
        <p:txBody>
          <a:bodyPr anchor="b">
            <a:normAutofit/>
          </a:bodyPr>
          <a:lstStyle/>
          <a:p>
            <a:r>
              <a:rPr lang="es-MX" b="1" dirty="0">
                <a:latin typeface="Abadi" panose="020B0604020104020204" pitchFamily="34" charset="0"/>
              </a:rPr>
              <a:t>ESTRUCTURA DE DATOS CON C++</a:t>
            </a:r>
          </a:p>
        </p:txBody>
      </p:sp>
    </p:spTree>
    <p:extLst>
      <p:ext uri="{BB962C8B-B14F-4D97-AF65-F5344CB8AC3E}">
        <p14:creationId xmlns:p14="http://schemas.microsoft.com/office/powerpoint/2010/main" val="3498894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8A59E85-254E-E4BA-E57A-3F47C30C87C6}"/>
              </a:ext>
            </a:extLst>
          </p:cNvPr>
          <p:cNvSpPr txBox="1"/>
          <p:nvPr/>
        </p:nvSpPr>
        <p:spPr>
          <a:xfrm>
            <a:off x="1240367" y="873760"/>
            <a:ext cx="9711266" cy="6001643"/>
          </a:xfrm>
          <a:prstGeom prst="rect">
            <a:avLst/>
          </a:prstGeom>
          <a:noFill/>
        </p:spPr>
        <p:txBody>
          <a:bodyPr wrap="square" rtlCol="0">
            <a:spAutoFit/>
          </a:bodyPr>
          <a:lstStyle/>
          <a:p>
            <a:pPr algn="ctr"/>
            <a:r>
              <a:rPr lang="es-MX" sz="4800" dirty="0"/>
              <a:t>ÍNDICE</a:t>
            </a:r>
          </a:p>
          <a:p>
            <a:pPr marL="285750" indent="-285750">
              <a:buFont typeface="Arial" panose="020B0604020202020204" pitchFamily="34" charset="0"/>
              <a:buChar char="•"/>
            </a:pPr>
            <a:r>
              <a:rPr lang="es-MX" sz="2400" dirty="0">
                <a:latin typeface="Consolas" panose="020B0609020204030204" pitchFamily="49" charset="0"/>
              </a:rPr>
              <a:t>Definición de Estructura de Datos</a:t>
            </a:r>
          </a:p>
          <a:p>
            <a:pPr marL="285750" indent="-285750">
              <a:buFont typeface="Arial" panose="020B0604020202020204" pitchFamily="34" charset="0"/>
              <a:buChar char="•"/>
            </a:pPr>
            <a:r>
              <a:rPr lang="es-MX" sz="2400" dirty="0">
                <a:latin typeface="Consolas" panose="020B0609020204030204" pitchFamily="49" charset="0"/>
              </a:rPr>
              <a:t>ADT</a:t>
            </a:r>
          </a:p>
          <a:p>
            <a:pPr marL="285750" indent="-285750">
              <a:buFont typeface="Arial" panose="020B0604020202020204" pitchFamily="34" charset="0"/>
              <a:buChar char="•"/>
            </a:pPr>
            <a:r>
              <a:rPr lang="es-MX" sz="2400" dirty="0">
                <a:latin typeface="Consolas" panose="020B0609020204030204" pitchFamily="49" charset="0"/>
              </a:rPr>
              <a:t>Diseño orientado a objetos</a:t>
            </a:r>
          </a:p>
          <a:p>
            <a:pPr marL="285750" indent="-285750">
              <a:buFont typeface="Arial" panose="020B0604020202020204" pitchFamily="34" charset="0"/>
              <a:buChar char="•"/>
            </a:pPr>
            <a:r>
              <a:rPr lang="es-MX" sz="2400">
                <a:latin typeface="Consolas" panose="020B0609020204030204" pitchFamily="49" charset="0"/>
              </a:rPr>
              <a:t>POO</a:t>
            </a:r>
            <a:endParaRPr lang="es-MX" sz="2400" dirty="0">
              <a:latin typeface="Consolas" panose="020B0609020204030204" pitchFamily="49" charset="0"/>
            </a:endParaRPr>
          </a:p>
          <a:p>
            <a:pPr marL="285750" indent="-285750">
              <a:buFont typeface="Arial" panose="020B0604020202020204" pitchFamily="34" charset="0"/>
              <a:buChar char="•"/>
            </a:pPr>
            <a:r>
              <a:rPr lang="es-MX" sz="2400" dirty="0">
                <a:latin typeface="Consolas" panose="020B0609020204030204" pitchFamily="49" charset="0"/>
              </a:rPr>
              <a:t>Apuntadores y lista basada en arreglos </a:t>
            </a:r>
          </a:p>
          <a:p>
            <a:pPr marL="285750" indent="-285750">
              <a:buFont typeface="Arial" panose="020B0604020202020204" pitchFamily="34" charset="0"/>
              <a:buChar char="•"/>
            </a:pPr>
            <a:r>
              <a:rPr lang="es-MX" sz="2400" dirty="0">
                <a:latin typeface="Consolas" panose="020B0609020204030204" pitchFamily="49" charset="0"/>
              </a:rPr>
              <a:t>Listas ligadas </a:t>
            </a:r>
          </a:p>
          <a:p>
            <a:pPr marL="285750" indent="-285750">
              <a:buFont typeface="Arial" panose="020B0604020202020204" pitchFamily="34" charset="0"/>
              <a:buChar char="•"/>
            </a:pPr>
            <a:r>
              <a:rPr lang="es-MX" sz="2400" dirty="0">
                <a:latin typeface="Consolas" panose="020B0609020204030204" pitchFamily="49" charset="0"/>
              </a:rPr>
              <a:t>Pilas </a:t>
            </a:r>
          </a:p>
          <a:p>
            <a:pPr marL="285750" indent="-285750">
              <a:buFont typeface="Arial" panose="020B0604020202020204" pitchFamily="34" charset="0"/>
              <a:buChar char="•"/>
            </a:pPr>
            <a:r>
              <a:rPr lang="es-MX" sz="2400" dirty="0">
                <a:latin typeface="Consolas" panose="020B0609020204030204" pitchFamily="49" charset="0"/>
              </a:rPr>
              <a:t>Colas </a:t>
            </a:r>
          </a:p>
          <a:p>
            <a:pPr marL="285750" indent="-285750">
              <a:buFont typeface="Arial" panose="020B0604020202020204" pitchFamily="34" charset="0"/>
              <a:buChar char="•"/>
            </a:pPr>
            <a:r>
              <a:rPr lang="es-MX" sz="2400" dirty="0">
                <a:latin typeface="Consolas" panose="020B0609020204030204" pitchFamily="49" charset="0"/>
              </a:rPr>
              <a:t>Arboles</a:t>
            </a:r>
          </a:p>
          <a:p>
            <a:pPr marL="285750" indent="-285750">
              <a:buFont typeface="Arial" panose="020B0604020202020204" pitchFamily="34" charset="0"/>
              <a:buChar char="•"/>
            </a:pPr>
            <a:r>
              <a:rPr lang="es-MX" sz="2400" dirty="0">
                <a:latin typeface="Consolas" panose="020B0609020204030204" pitchFamily="49" charset="0"/>
              </a:rPr>
              <a:t>Grafos</a:t>
            </a:r>
          </a:p>
          <a:p>
            <a:pPr marL="285750" indent="-285750">
              <a:buFont typeface="Arial" panose="020B0604020202020204" pitchFamily="34" charset="0"/>
              <a:buChar char="•"/>
            </a:pPr>
            <a:r>
              <a:rPr lang="es-MX" sz="2400" dirty="0">
                <a:latin typeface="Consolas" panose="020B0609020204030204" pitchFamily="49" charset="0"/>
              </a:rPr>
              <a:t>Tablas Hash y Hashing </a:t>
            </a:r>
          </a:p>
          <a:p>
            <a:pPr marL="285750" indent="-285750">
              <a:buFont typeface="Arial" panose="020B0604020202020204" pitchFamily="34" charset="0"/>
              <a:buChar char="•"/>
            </a:pPr>
            <a:r>
              <a:rPr lang="es-MX" sz="2400" dirty="0">
                <a:latin typeface="Consolas" panose="020B0609020204030204" pitchFamily="49" charset="0"/>
              </a:rPr>
              <a:t>Conjuntos </a:t>
            </a:r>
          </a:p>
          <a:p>
            <a:pPr marL="285750" indent="-285750">
              <a:buFont typeface="Arial" panose="020B0604020202020204" pitchFamily="34" charset="0"/>
              <a:buChar char="•"/>
            </a:pPr>
            <a:r>
              <a:rPr lang="es-MX" sz="2400" dirty="0">
                <a:latin typeface="Consolas" panose="020B0609020204030204" pitchFamily="49" charset="0"/>
              </a:rPr>
              <a:t>Mapas </a:t>
            </a:r>
          </a:p>
          <a:p>
            <a:pPr marL="285750" indent="-285750">
              <a:buFont typeface="Arial" panose="020B0604020202020204" pitchFamily="34" charset="0"/>
              <a:buChar char="•"/>
            </a:pPr>
            <a:r>
              <a:rPr lang="es-MX" sz="2400" dirty="0">
                <a:latin typeface="Consolas" panose="020B0609020204030204" pitchFamily="49" charset="0"/>
              </a:rPr>
              <a:t>Heap </a:t>
            </a:r>
          </a:p>
        </p:txBody>
      </p:sp>
    </p:spTree>
    <p:extLst>
      <p:ext uri="{BB962C8B-B14F-4D97-AF65-F5344CB8AC3E}">
        <p14:creationId xmlns:p14="http://schemas.microsoft.com/office/powerpoint/2010/main" val="2163738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BF667EF-FFFB-DBE3-ED97-26EBFEA84E90}"/>
              </a:ext>
            </a:extLst>
          </p:cNvPr>
          <p:cNvSpPr txBox="1"/>
          <p:nvPr/>
        </p:nvSpPr>
        <p:spPr>
          <a:xfrm>
            <a:off x="3346127" y="2653453"/>
            <a:ext cx="4891779" cy="1446550"/>
          </a:xfrm>
          <a:prstGeom prst="rect">
            <a:avLst/>
          </a:prstGeom>
          <a:noFill/>
        </p:spPr>
        <p:txBody>
          <a:bodyPr wrap="square" rtlCol="0">
            <a:spAutoFit/>
          </a:bodyPr>
          <a:lstStyle/>
          <a:p>
            <a:r>
              <a:rPr lang="es-MX" sz="8800" b="1" dirty="0">
                <a:latin typeface="ADLaM Display" panose="02010000000000000000" pitchFamily="2" charset="0"/>
                <a:ea typeface="ADLaM Display" panose="02010000000000000000" pitchFamily="2" charset="0"/>
                <a:cs typeface="ADLaM Display" panose="02010000000000000000" pitchFamily="2" charset="0"/>
              </a:rPr>
              <a:t>PARTE I</a:t>
            </a:r>
          </a:p>
        </p:txBody>
      </p:sp>
    </p:spTree>
    <p:extLst>
      <p:ext uri="{BB962C8B-B14F-4D97-AF65-F5344CB8AC3E}">
        <p14:creationId xmlns:p14="http://schemas.microsoft.com/office/powerpoint/2010/main" val="738029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962D3E4-BD11-731C-D3DA-0E7967A3753B}"/>
              </a:ext>
            </a:extLst>
          </p:cNvPr>
          <p:cNvSpPr txBox="1"/>
          <p:nvPr/>
        </p:nvSpPr>
        <p:spPr>
          <a:xfrm>
            <a:off x="3936999" y="1649567"/>
            <a:ext cx="2510367" cy="954107"/>
          </a:xfrm>
          <a:prstGeom prst="rect">
            <a:avLst/>
          </a:prstGeom>
          <a:noFill/>
        </p:spPr>
        <p:txBody>
          <a:bodyPr wrap="square" rtlCol="0">
            <a:spAutoFit/>
          </a:bodyPr>
          <a:lstStyle/>
          <a:p>
            <a:pPr algn="ctr"/>
            <a:r>
              <a:rPr lang="es-MX" sz="2800" u="sng" dirty="0">
                <a:latin typeface="ADLaM Display" panose="02010000000000000000" pitchFamily="2" charset="0"/>
                <a:ea typeface="ADLaM Display" panose="02010000000000000000" pitchFamily="2" charset="0"/>
                <a:cs typeface="ADLaM Display" panose="02010000000000000000" pitchFamily="2" charset="0"/>
              </a:rPr>
              <a:t>ESTRUCTURA</a:t>
            </a:r>
            <a:r>
              <a:rPr lang="es-MX" sz="2800" dirty="0">
                <a:latin typeface="ADLaM Display" panose="02010000000000000000" pitchFamily="2" charset="0"/>
                <a:ea typeface="ADLaM Display" panose="02010000000000000000" pitchFamily="2" charset="0"/>
                <a:cs typeface="ADLaM Display" panose="02010000000000000000" pitchFamily="2" charset="0"/>
              </a:rPr>
              <a:t> DE </a:t>
            </a:r>
            <a:r>
              <a:rPr lang="es-MX" sz="2800" u="sng" dirty="0">
                <a:latin typeface="ADLaM Display" panose="02010000000000000000" pitchFamily="2" charset="0"/>
                <a:ea typeface="ADLaM Display" panose="02010000000000000000" pitchFamily="2" charset="0"/>
                <a:cs typeface="ADLaM Display" panose="02010000000000000000" pitchFamily="2" charset="0"/>
              </a:rPr>
              <a:t>DATOS</a:t>
            </a:r>
          </a:p>
        </p:txBody>
      </p:sp>
      <p:sp>
        <p:nvSpPr>
          <p:cNvPr id="4" name="CuadroTexto 3">
            <a:extLst>
              <a:ext uri="{FF2B5EF4-FFF2-40B4-BE49-F238E27FC236}">
                <a16:creationId xmlns:a16="http://schemas.microsoft.com/office/drawing/2014/main" id="{3CD40C14-B3AD-5C97-E957-D0C922D62279}"/>
              </a:ext>
            </a:extLst>
          </p:cNvPr>
          <p:cNvSpPr txBox="1"/>
          <p:nvPr/>
        </p:nvSpPr>
        <p:spPr>
          <a:xfrm>
            <a:off x="848360" y="451535"/>
            <a:ext cx="3977640" cy="923330"/>
          </a:xfrm>
          <a:prstGeom prst="rect">
            <a:avLst/>
          </a:prstGeom>
          <a:noFill/>
        </p:spPr>
        <p:txBody>
          <a:bodyPr wrap="square">
            <a:spAutoFit/>
          </a:bodyPr>
          <a:lstStyle/>
          <a:p>
            <a:pPr algn="ctr"/>
            <a:r>
              <a:rPr lang="es-MX" b="1" dirty="0">
                <a:latin typeface="ADLaM Display" panose="02010000000000000000" pitchFamily="2" charset="0"/>
                <a:ea typeface="ADLaM Display" panose="02010000000000000000" pitchFamily="2" charset="0"/>
                <a:cs typeface="ADLaM Display" panose="02010000000000000000" pitchFamily="2" charset="0"/>
              </a:rPr>
              <a:t>	U</a:t>
            </a:r>
            <a:r>
              <a:rPr lang="es-MX" b="1" i="0" dirty="0">
                <a:effectLst/>
                <a:latin typeface="ADLaM Display" panose="02010000000000000000" pitchFamily="2" charset="0"/>
                <a:ea typeface="ADLaM Display" panose="02010000000000000000" pitchFamily="2" charset="0"/>
                <a:cs typeface="ADLaM Display" panose="02010000000000000000" pitchFamily="2" charset="0"/>
              </a:rPr>
              <a:t>na forma específica de organizar y almacenar datos en la memoria de una computadora</a:t>
            </a:r>
            <a:endParaRPr lang="es-MX" b="1"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6" name="Conector: angular 5">
            <a:extLst>
              <a:ext uri="{FF2B5EF4-FFF2-40B4-BE49-F238E27FC236}">
                <a16:creationId xmlns:a16="http://schemas.microsoft.com/office/drawing/2014/main" id="{8FB60CB2-AE33-D3C0-4B19-A658BF52AB56}"/>
              </a:ext>
            </a:extLst>
          </p:cNvPr>
          <p:cNvCxnSpPr>
            <a:cxnSpLocks/>
            <a:endCxn id="4" idx="2"/>
          </p:cNvCxnSpPr>
          <p:nvPr/>
        </p:nvCxnSpPr>
        <p:spPr>
          <a:xfrm rot="10800000">
            <a:off x="2837181" y="1374865"/>
            <a:ext cx="900855" cy="77990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8" name="Abrir llave 7">
            <a:extLst>
              <a:ext uri="{FF2B5EF4-FFF2-40B4-BE49-F238E27FC236}">
                <a16:creationId xmlns:a16="http://schemas.microsoft.com/office/drawing/2014/main" id="{4CA3A2E6-E0A9-5181-F1AC-393B56308564}"/>
              </a:ext>
            </a:extLst>
          </p:cNvPr>
          <p:cNvSpPr/>
          <p:nvPr/>
        </p:nvSpPr>
        <p:spPr>
          <a:xfrm>
            <a:off x="3873499" y="1727200"/>
            <a:ext cx="63500" cy="855134"/>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0" name="CuadroTexto 9">
            <a:extLst>
              <a:ext uri="{FF2B5EF4-FFF2-40B4-BE49-F238E27FC236}">
                <a16:creationId xmlns:a16="http://schemas.microsoft.com/office/drawing/2014/main" id="{491EB44B-676C-A07C-F77A-EC79D1BAEA3F}"/>
              </a:ext>
            </a:extLst>
          </p:cNvPr>
          <p:cNvSpPr txBox="1"/>
          <p:nvPr/>
        </p:nvSpPr>
        <p:spPr>
          <a:xfrm>
            <a:off x="7929032" y="232602"/>
            <a:ext cx="2709333" cy="1200329"/>
          </a:xfrm>
          <a:prstGeom prst="rect">
            <a:avLst/>
          </a:prstGeom>
          <a:noFill/>
        </p:spPr>
        <p:txBody>
          <a:bodyPr wrap="square">
            <a:spAutoFit/>
          </a:bodyPr>
          <a:lstStyle/>
          <a:p>
            <a:pPr algn="ctr"/>
            <a:r>
              <a:rPr lang="es-MX" b="1" dirty="0">
                <a:latin typeface="ADLaM Display" panose="02010000000000000000" pitchFamily="2" charset="0"/>
                <a:ea typeface="ADLaM Display" panose="02010000000000000000" pitchFamily="2" charset="0"/>
                <a:cs typeface="ADLaM Display" panose="02010000000000000000" pitchFamily="2" charset="0"/>
              </a:rPr>
              <a:t>D</a:t>
            </a:r>
            <a:r>
              <a:rPr lang="es-MX" b="1" i="0" dirty="0">
                <a:effectLst/>
                <a:latin typeface="ADLaM Display" panose="02010000000000000000" pitchFamily="2" charset="0"/>
                <a:ea typeface="ADLaM Display" panose="02010000000000000000" pitchFamily="2" charset="0"/>
                <a:cs typeface="ADLaM Display" panose="02010000000000000000" pitchFamily="2" charset="0"/>
              </a:rPr>
              <a:t>efiniremos cómo se agrupan los datos y cómo se relacionan entre sí</a:t>
            </a:r>
            <a:endParaRPr lang="es-MX" b="1"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2" name="Conector: angular 11">
            <a:extLst>
              <a:ext uri="{FF2B5EF4-FFF2-40B4-BE49-F238E27FC236}">
                <a16:creationId xmlns:a16="http://schemas.microsoft.com/office/drawing/2014/main" id="{19E616D5-4DAC-8072-EBA2-F49538792E49}"/>
              </a:ext>
            </a:extLst>
          </p:cNvPr>
          <p:cNvCxnSpPr>
            <a:stCxn id="10" idx="1"/>
            <a:endCxn id="2" idx="0"/>
          </p:cNvCxnSpPr>
          <p:nvPr/>
        </p:nvCxnSpPr>
        <p:spPr>
          <a:xfrm rot="10800000" flipV="1">
            <a:off x="5192184" y="832767"/>
            <a:ext cx="2736849" cy="81680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14" name="CuadroTexto 13">
            <a:extLst>
              <a:ext uri="{FF2B5EF4-FFF2-40B4-BE49-F238E27FC236}">
                <a16:creationId xmlns:a16="http://schemas.microsoft.com/office/drawing/2014/main" id="{EA200C32-ABA5-5361-F1B4-B037064ABB6C}"/>
              </a:ext>
            </a:extLst>
          </p:cNvPr>
          <p:cNvSpPr txBox="1"/>
          <p:nvPr/>
        </p:nvSpPr>
        <p:spPr>
          <a:xfrm>
            <a:off x="7715248" y="2695202"/>
            <a:ext cx="3136899" cy="1200329"/>
          </a:xfrm>
          <a:prstGeom prst="rect">
            <a:avLst/>
          </a:prstGeom>
          <a:noFill/>
        </p:spPr>
        <p:txBody>
          <a:bodyPr wrap="square">
            <a:spAutoFit/>
          </a:bodyPr>
          <a:lstStyle/>
          <a:p>
            <a:pPr algn="ctr"/>
            <a:r>
              <a:rPr lang="es-MX" b="1" dirty="0">
                <a:latin typeface="ADLaM Display" panose="02010000000000000000" pitchFamily="2" charset="0"/>
                <a:ea typeface="ADLaM Display" panose="02010000000000000000" pitchFamily="2" charset="0"/>
                <a:cs typeface="ADLaM Display" panose="02010000000000000000" pitchFamily="2" charset="0"/>
              </a:rPr>
              <a:t>P</a:t>
            </a:r>
            <a:r>
              <a:rPr lang="es-MX" b="1" i="0" dirty="0">
                <a:effectLst/>
                <a:latin typeface="ADLaM Display" panose="02010000000000000000" pitchFamily="2" charset="0"/>
                <a:ea typeface="ADLaM Display" panose="02010000000000000000" pitchFamily="2" charset="0"/>
                <a:cs typeface="ADLaM Display" panose="02010000000000000000" pitchFamily="2" charset="0"/>
              </a:rPr>
              <a:t>ueden ser cualquier tipo de información que se almacena y procesa en una computadora</a:t>
            </a:r>
            <a:endParaRPr lang="es-MX" b="1"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6" name="Conector: angular 15">
            <a:extLst>
              <a:ext uri="{FF2B5EF4-FFF2-40B4-BE49-F238E27FC236}">
                <a16:creationId xmlns:a16="http://schemas.microsoft.com/office/drawing/2014/main" id="{4EB5112B-4860-F099-77CC-57EB283C05DD}"/>
              </a:ext>
            </a:extLst>
          </p:cNvPr>
          <p:cNvCxnSpPr>
            <a:stCxn id="14" idx="0"/>
          </p:cNvCxnSpPr>
          <p:nvPr/>
        </p:nvCxnSpPr>
        <p:spPr>
          <a:xfrm rot="16200000" flipV="1">
            <a:off x="7561449" y="972952"/>
            <a:ext cx="354169" cy="3090331"/>
          </a:xfrm>
          <a:prstGeom prst="bentConnector2">
            <a:avLst/>
          </a:prstGeom>
          <a:ln>
            <a:tailEnd type="triangle"/>
          </a:ln>
        </p:spPr>
        <p:style>
          <a:lnRef idx="3">
            <a:schemeClr val="dk1"/>
          </a:lnRef>
          <a:fillRef idx="0">
            <a:schemeClr val="dk1"/>
          </a:fillRef>
          <a:effectRef idx="2">
            <a:schemeClr val="dk1"/>
          </a:effectRef>
          <a:fontRef idx="minor">
            <a:schemeClr val="tx1"/>
          </a:fontRef>
        </p:style>
      </p:cxnSp>
      <p:pic>
        <p:nvPicPr>
          <p:cNvPr id="2050" name="Picture 2" descr="ESTRUCTURA DE DATOS: 3.1 LISTA ENLAZADAS">
            <a:extLst>
              <a:ext uri="{FF2B5EF4-FFF2-40B4-BE49-F238E27FC236}">
                <a16:creationId xmlns:a16="http://schemas.microsoft.com/office/drawing/2014/main" id="{77322566-48B8-9088-9F2F-4CD847272A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529"/>
          <a:stretch/>
        </p:blipFill>
        <p:spPr bwMode="auto">
          <a:xfrm>
            <a:off x="319087" y="3118446"/>
            <a:ext cx="2886075" cy="92333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rreglos en Java- Cursos de Java">
            <a:extLst>
              <a:ext uri="{FF2B5EF4-FFF2-40B4-BE49-F238E27FC236}">
                <a16:creationId xmlns:a16="http://schemas.microsoft.com/office/drawing/2014/main" id="{D55C829B-3417-EE22-5FD4-34F95A28F0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52" r="54233"/>
          <a:stretch/>
        </p:blipFill>
        <p:spPr bwMode="auto">
          <a:xfrm>
            <a:off x="389466" y="4221163"/>
            <a:ext cx="1026637" cy="2052637"/>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1CB04E32-BF6F-2CFA-EDC5-4D2F61C585D7}"/>
              </a:ext>
            </a:extLst>
          </p:cNvPr>
          <p:cNvSpPr txBox="1"/>
          <p:nvPr/>
        </p:nvSpPr>
        <p:spPr>
          <a:xfrm>
            <a:off x="-413280" y="6223000"/>
            <a:ext cx="2580746" cy="369332"/>
          </a:xfrm>
          <a:prstGeom prst="rect">
            <a:avLst/>
          </a:prstGeom>
          <a:noFill/>
        </p:spPr>
        <p:txBody>
          <a:bodyPr wrap="square" rtlCol="0">
            <a:spAutoFit/>
          </a:bodyPr>
          <a:lstStyle/>
          <a:p>
            <a:pPr algn="ctr"/>
            <a:r>
              <a:rPr lang="es-MX" b="1" dirty="0">
                <a:latin typeface="Abadi" panose="020B0604020104020204" pitchFamily="34" charset="0"/>
              </a:rPr>
              <a:t>Arreglos</a:t>
            </a:r>
          </a:p>
        </p:txBody>
      </p:sp>
      <p:pic>
        <p:nvPicPr>
          <p:cNvPr id="2054" name="Picture 6" descr="Cola (informática) - Wikipedia, la enciclopedia libre">
            <a:extLst>
              <a:ext uri="{FF2B5EF4-FFF2-40B4-BE49-F238E27FC236}">
                <a16:creationId xmlns:a16="http://schemas.microsoft.com/office/drawing/2014/main" id="{C983DF97-526F-EBDB-B483-B07D9D327C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9015" y="4639584"/>
            <a:ext cx="2354019" cy="1418321"/>
          </a:xfrm>
          <a:prstGeom prst="rect">
            <a:avLst/>
          </a:prstGeom>
          <a:noFill/>
          <a:extLst>
            <a:ext uri="{909E8E84-426E-40DD-AFC4-6F175D3DCCD1}">
              <a14:hiddenFill xmlns:a14="http://schemas.microsoft.com/office/drawing/2010/main">
                <a:solidFill>
                  <a:srgbClr val="FFFFFF"/>
                </a:solidFill>
              </a14:hiddenFill>
            </a:ext>
          </a:extLst>
        </p:spPr>
      </p:pic>
      <p:sp>
        <p:nvSpPr>
          <p:cNvPr id="18" name="CuadroTexto 17">
            <a:extLst>
              <a:ext uri="{FF2B5EF4-FFF2-40B4-BE49-F238E27FC236}">
                <a16:creationId xmlns:a16="http://schemas.microsoft.com/office/drawing/2014/main" id="{8323933C-C308-D2AB-7D02-3CA1945D9E9A}"/>
              </a:ext>
            </a:extLst>
          </p:cNvPr>
          <p:cNvSpPr txBox="1"/>
          <p:nvPr/>
        </p:nvSpPr>
        <p:spPr>
          <a:xfrm>
            <a:off x="1762124" y="6221799"/>
            <a:ext cx="2580746" cy="369332"/>
          </a:xfrm>
          <a:prstGeom prst="rect">
            <a:avLst/>
          </a:prstGeom>
          <a:noFill/>
        </p:spPr>
        <p:txBody>
          <a:bodyPr wrap="square" rtlCol="0">
            <a:spAutoFit/>
          </a:bodyPr>
          <a:lstStyle/>
          <a:p>
            <a:pPr algn="ctr"/>
            <a:r>
              <a:rPr lang="es-MX" b="1" dirty="0">
                <a:latin typeface="Abadi" panose="020B0604020104020204" pitchFamily="34" charset="0"/>
              </a:rPr>
              <a:t>Colas</a:t>
            </a:r>
          </a:p>
        </p:txBody>
      </p:sp>
      <p:pic>
        <p:nvPicPr>
          <p:cNvPr id="2056" name="Picture 8" descr="Dibujo de bocchi Wa ha ha - Dibujos de don Vegeta | Facebook">
            <a:extLst>
              <a:ext uri="{FF2B5EF4-FFF2-40B4-BE49-F238E27FC236}">
                <a16:creationId xmlns:a16="http://schemas.microsoft.com/office/drawing/2014/main" id="{4458B753-E32B-790C-A615-0B5E577BBFA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7345" b="89831" l="9825" r="89825">
                        <a14:foregroundMark x1="32982" y1="41243" x2="32982" y2="41243"/>
                        <a14:foregroundMark x1="11930" y1="31073" x2="23860" y2="68362"/>
                        <a14:foregroundMark x1="23860" y1="68362" x2="44561" y2="80226"/>
                        <a14:foregroundMark x1="44561" y1="80226" x2="71579" y2="77401"/>
                        <a14:foregroundMark x1="71579" y1="77401" x2="79298" y2="49153"/>
                        <a14:foregroundMark x1="22456" y1="75706" x2="51930" y2="85876"/>
                        <a14:foregroundMark x1="72281" y1="84746" x2="75439" y2="70621"/>
                        <a14:foregroundMark x1="86667" y1="32203" x2="86667" y2="32203"/>
                        <a14:foregroundMark x1="86667" y1="24859" x2="83509" y2="31638"/>
                        <a14:foregroundMark x1="77895" y1="32768" x2="62456" y2="16949"/>
                        <a14:foregroundMark x1="59298" y1="7345" x2="51228" y2="9040"/>
                        <a14:foregroundMark x1="59298" y1="24294" x2="74386" y2="49153"/>
                        <a14:foregroundMark x1="68772" y1="37288" x2="37193" y2="47458"/>
                        <a14:foregroundMark x1="48070" y1="44633" x2="62105" y2="56497"/>
                        <a14:foregroundMark x1="34035" y1="39548" x2="23158" y2="45198"/>
                        <a14:foregroundMark x1="37895" y1="52542" x2="60702" y2="58757"/>
                        <a14:foregroundMark x1="60702" y1="58757" x2="60702" y2="58757"/>
                        <a14:foregroundMark x1="49123" y1="62147" x2="27719" y2="53672"/>
                        <a14:foregroundMark x1="27719" y1="53672" x2="25965" y2="50847"/>
                        <a14:foregroundMark x1="37895" y1="30508" x2="26316" y2="62147"/>
                        <a14:foregroundMark x1="67018" y1="83616" x2="28772" y2="84746"/>
                      </a14:backgroundRemoval>
                    </a14:imgEffect>
                  </a14:imgLayer>
                </a14:imgProps>
              </a:ext>
              <a:ext uri="{28A0092B-C50C-407E-A947-70E740481C1C}">
                <a14:useLocalDpi xmlns:a14="http://schemas.microsoft.com/office/drawing/2010/main" val="0"/>
              </a:ext>
            </a:extLst>
          </a:blip>
          <a:srcRect/>
          <a:stretch>
            <a:fillRect/>
          </a:stretch>
        </p:blipFill>
        <p:spPr bwMode="auto">
          <a:xfrm>
            <a:off x="11314003" y="6381065"/>
            <a:ext cx="840003" cy="52168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Árbol (informática) - Wikipedia, la enciclopedia libre">
            <a:extLst>
              <a:ext uri="{FF2B5EF4-FFF2-40B4-BE49-F238E27FC236}">
                <a16:creationId xmlns:a16="http://schemas.microsoft.com/office/drawing/2014/main" id="{4FC999B6-BA06-A0AC-AD8D-E25C3D0184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18274" y="4575498"/>
            <a:ext cx="1828800" cy="1609725"/>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9B2FDC7F-2AC6-5A98-40B1-B7AD05A74009}"/>
              </a:ext>
            </a:extLst>
          </p:cNvPr>
          <p:cNvSpPr txBox="1"/>
          <p:nvPr/>
        </p:nvSpPr>
        <p:spPr>
          <a:xfrm>
            <a:off x="4044827" y="6220598"/>
            <a:ext cx="2580746" cy="369332"/>
          </a:xfrm>
          <a:prstGeom prst="rect">
            <a:avLst/>
          </a:prstGeom>
          <a:noFill/>
        </p:spPr>
        <p:txBody>
          <a:bodyPr wrap="square" rtlCol="0">
            <a:spAutoFit/>
          </a:bodyPr>
          <a:lstStyle/>
          <a:p>
            <a:pPr algn="ctr"/>
            <a:r>
              <a:rPr lang="es-MX" b="1" dirty="0">
                <a:latin typeface="Abadi" panose="020B0604020104020204" pitchFamily="34" charset="0"/>
              </a:rPr>
              <a:t>Pilas</a:t>
            </a:r>
          </a:p>
        </p:txBody>
      </p:sp>
      <p:pic>
        <p:nvPicPr>
          <p:cNvPr id="2060" name="Picture 12" descr="Pila (informática) - Wikipedia, la enciclopedia libre">
            <a:extLst>
              <a:ext uri="{FF2B5EF4-FFF2-40B4-BE49-F238E27FC236}">
                <a16:creationId xmlns:a16="http://schemas.microsoft.com/office/drawing/2014/main" id="{2AC45A0A-E405-B9AF-A66A-3D9F711072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7526" y="4851284"/>
            <a:ext cx="1655348" cy="1189076"/>
          </a:xfrm>
          <a:prstGeom prst="rect">
            <a:avLst/>
          </a:prstGeom>
          <a:noFill/>
          <a:extLst>
            <a:ext uri="{909E8E84-426E-40DD-AFC4-6F175D3DCCD1}">
              <a14:hiddenFill xmlns:a14="http://schemas.microsoft.com/office/drawing/2010/main">
                <a:solidFill>
                  <a:srgbClr val="FFFFFF"/>
                </a:solidFill>
              </a14:hiddenFill>
            </a:ext>
          </a:extLst>
        </p:spPr>
      </p:pic>
      <p:sp>
        <p:nvSpPr>
          <p:cNvPr id="20" name="CuadroTexto 19">
            <a:extLst>
              <a:ext uri="{FF2B5EF4-FFF2-40B4-BE49-F238E27FC236}">
                <a16:creationId xmlns:a16="http://schemas.microsoft.com/office/drawing/2014/main" id="{C5832A96-A067-36D0-9869-32E613D19BCB}"/>
              </a:ext>
            </a:extLst>
          </p:cNvPr>
          <p:cNvSpPr txBox="1"/>
          <p:nvPr/>
        </p:nvSpPr>
        <p:spPr>
          <a:xfrm>
            <a:off x="6235700" y="6290752"/>
            <a:ext cx="2580746" cy="369332"/>
          </a:xfrm>
          <a:prstGeom prst="rect">
            <a:avLst/>
          </a:prstGeom>
          <a:noFill/>
        </p:spPr>
        <p:txBody>
          <a:bodyPr wrap="square" rtlCol="0">
            <a:spAutoFit/>
          </a:bodyPr>
          <a:lstStyle/>
          <a:p>
            <a:pPr algn="ctr"/>
            <a:r>
              <a:rPr lang="es-MX" b="1" dirty="0">
                <a:latin typeface="Abadi" panose="020B0604020104020204" pitchFamily="34" charset="0"/>
              </a:rPr>
              <a:t>Arboles</a:t>
            </a:r>
          </a:p>
        </p:txBody>
      </p:sp>
      <p:pic>
        <p:nvPicPr>
          <p:cNvPr id="2062" name="Picture 14" descr="Teoria dos Grafos – Uma introdução | Luiz Bitencourt">
            <a:extLst>
              <a:ext uri="{FF2B5EF4-FFF2-40B4-BE49-F238E27FC236}">
                <a16:creationId xmlns:a16="http://schemas.microsoft.com/office/drawing/2014/main" id="{617B6437-2685-8A46-0378-B691D4C5512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58225" y="4376996"/>
            <a:ext cx="1930050" cy="1816099"/>
          </a:xfrm>
          <a:prstGeom prst="rect">
            <a:avLst/>
          </a:prstGeom>
          <a:noFill/>
          <a:extLst>
            <a:ext uri="{909E8E84-426E-40DD-AFC4-6F175D3DCCD1}">
              <a14:hiddenFill xmlns:a14="http://schemas.microsoft.com/office/drawing/2010/main">
                <a:solidFill>
                  <a:srgbClr val="FFFFFF"/>
                </a:solidFill>
              </a14:hiddenFill>
            </a:ext>
          </a:extLst>
        </p:spPr>
      </p:pic>
      <p:sp>
        <p:nvSpPr>
          <p:cNvPr id="21" name="CuadroTexto 20">
            <a:extLst>
              <a:ext uri="{FF2B5EF4-FFF2-40B4-BE49-F238E27FC236}">
                <a16:creationId xmlns:a16="http://schemas.microsoft.com/office/drawing/2014/main" id="{15262BE3-F2CC-987C-3626-BD3DA3C76826}"/>
              </a:ext>
            </a:extLst>
          </p:cNvPr>
          <p:cNvSpPr txBox="1"/>
          <p:nvPr/>
        </p:nvSpPr>
        <p:spPr>
          <a:xfrm>
            <a:off x="8589433" y="6192283"/>
            <a:ext cx="2580746" cy="369332"/>
          </a:xfrm>
          <a:prstGeom prst="rect">
            <a:avLst/>
          </a:prstGeom>
          <a:noFill/>
        </p:spPr>
        <p:txBody>
          <a:bodyPr wrap="square" rtlCol="0">
            <a:spAutoFit/>
          </a:bodyPr>
          <a:lstStyle/>
          <a:p>
            <a:pPr algn="ctr"/>
            <a:r>
              <a:rPr lang="es-MX" b="1" dirty="0">
                <a:latin typeface="Abadi" panose="020B0604020104020204" pitchFamily="34" charset="0"/>
              </a:rPr>
              <a:t>Grafos</a:t>
            </a:r>
          </a:p>
        </p:txBody>
      </p:sp>
    </p:spTree>
    <p:extLst>
      <p:ext uri="{BB962C8B-B14F-4D97-AF65-F5344CB8AC3E}">
        <p14:creationId xmlns:p14="http://schemas.microsoft.com/office/powerpoint/2010/main" val="1083430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DE53157-20BC-68CC-28AE-6C10319D2C73}"/>
              </a:ext>
            </a:extLst>
          </p:cNvPr>
          <p:cNvSpPr txBox="1"/>
          <p:nvPr/>
        </p:nvSpPr>
        <p:spPr>
          <a:xfrm>
            <a:off x="182034" y="655934"/>
            <a:ext cx="4288366" cy="1200329"/>
          </a:xfrm>
          <a:prstGeom prst="rect">
            <a:avLst/>
          </a:prstGeom>
          <a:noFill/>
        </p:spPr>
        <p:txBody>
          <a:bodyPr wrap="square">
            <a:spAutoFit/>
          </a:bodyPr>
          <a:lstStyle/>
          <a:p>
            <a:pPr algn="ctr"/>
            <a:r>
              <a:rPr lang="es-MX" b="1" dirty="0">
                <a:latin typeface="Söhne"/>
              </a:rPr>
              <a:t>U</a:t>
            </a:r>
            <a:r>
              <a:rPr lang="es-MX" b="1" i="0" dirty="0">
                <a:effectLst/>
                <a:latin typeface="Söhne"/>
              </a:rPr>
              <a:t>na categoría que define el conjunto de valores que una variable puede contener y las operaciones que se pueden realizar en esos valores</a:t>
            </a:r>
            <a:endParaRPr lang="es-MX" b="1" dirty="0"/>
          </a:p>
        </p:txBody>
      </p:sp>
      <p:grpSp>
        <p:nvGrpSpPr>
          <p:cNvPr id="12" name="Grupo 11">
            <a:extLst>
              <a:ext uri="{FF2B5EF4-FFF2-40B4-BE49-F238E27FC236}">
                <a16:creationId xmlns:a16="http://schemas.microsoft.com/office/drawing/2014/main" id="{F25FEF77-95A3-57E3-4302-61410C043D84}"/>
              </a:ext>
            </a:extLst>
          </p:cNvPr>
          <p:cNvGrpSpPr/>
          <p:nvPr/>
        </p:nvGrpSpPr>
        <p:grpSpPr>
          <a:xfrm>
            <a:off x="1727199" y="2497668"/>
            <a:ext cx="7721600" cy="856627"/>
            <a:chOff x="1553633" y="2637368"/>
            <a:chExt cx="7721600" cy="856627"/>
          </a:xfrm>
        </p:grpSpPr>
        <p:sp>
          <p:nvSpPr>
            <p:cNvPr id="2" name="CuadroTexto 1">
              <a:extLst>
                <a:ext uri="{FF2B5EF4-FFF2-40B4-BE49-F238E27FC236}">
                  <a16:creationId xmlns:a16="http://schemas.microsoft.com/office/drawing/2014/main" id="{95B2E5E0-0D2E-C307-5E4E-D5C3DF9C3C9F}"/>
                </a:ext>
              </a:extLst>
            </p:cNvPr>
            <p:cNvSpPr txBox="1"/>
            <p:nvPr/>
          </p:nvSpPr>
          <p:spPr>
            <a:xfrm>
              <a:off x="1553633" y="2847664"/>
              <a:ext cx="7721600" cy="646331"/>
            </a:xfrm>
            <a:prstGeom prst="rect">
              <a:avLst/>
            </a:prstGeom>
            <a:noFill/>
          </p:spPr>
          <p:txBody>
            <a:bodyPr wrap="square" rtlCol="0">
              <a:spAutoFit/>
            </a:bodyPr>
            <a:lstStyle/>
            <a:p>
              <a:pPr algn="ctr"/>
              <a:r>
                <a:rPr lang="es-MX" dirty="0">
                  <a:latin typeface="ADLaM Display" panose="02010000000000000000" pitchFamily="2" charset="0"/>
                  <a:ea typeface="ADLaM Display" panose="02010000000000000000" pitchFamily="2" charset="0"/>
                  <a:cs typeface="ADLaM Display" panose="02010000000000000000" pitchFamily="2" charset="0"/>
                </a:rPr>
                <a:t>TIPO DE DATO ABSTRACTO (ADT)</a:t>
              </a:r>
            </a:p>
            <a:p>
              <a:pPr algn="ctr"/>
              <a:r>
                <a:rPr lang="es-MX" dirty="0">
                  <a:latin typeface="ADLaM Display" panose="02010000000000000000" pitchFamily="2" charset="0"/>
                  <a:ea typeface="ADLaM Display" panose="02010000000000000000" pitchFamily="2" charset="0"/>
                  <a:cs typeface="ADLaM Display" panose="02010000000000000000" pitchFamily="2" charset="0"/>
                </a:rPr>
                <a:t>Abstract Data Type</a:t>
              </a:r>
            </a:p>
          </p:txBody>
        </p:sp>
        <p:sp>
          <p:nvSpPr>
            <p:cNvPr id="7" name="Abrir llave 6">
              <a:extLst>
                <a:ext uri="{FF2B5EF4-FFF2-40B4-BE49-F238E27FC236}">
                  <a16:creationId xmlns:a16="http://schemas.microsoft.com/office/drawing/2014/main" id="{8A880C70-1214-A298-94A7-DB95AAB24820}"/>
                </a:ext>
              </a:extLst>
            </p:cNvPr>
            <p:cNvSpPr/>
            <p:nvPr/>
          </p:nvSpPr>
          <p:spPr>
            <a:xfrm rot="5400000">
              <a:off x="4115483" y="1815417"/>
              <a:ext cx="235698" cy="1879600"/>
            </a:xfrm>
            <a:prstGeom prst="leftBrace">
              <a:avLst/>
            </a:prstGeom>
            <a:ln>
              <a:solidFill>
                <a:srgbClr val="FF0000">
                  <a:alpha val="95000"/>
                </a:srgb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grpSp>
      <p:sp>
        <p:nvSpPr>
          <p:cNvPr id="10" name="CuadroTexto 9">
            <a:extLst>
              <a:ext uri="{FF2B5EF4-FFF2-40B4-BE49-F238E27FC236}">
                <a16:creationId xmlns:a16="http://schemas.microsoft.com/office/drawing/2014/main" id="{88EA1983-E35E-E8CD-A7EF-E58473F69E4D}"/>
              </a:ext>
            </a:extLst>
          </p:cNvPr>
          <p:cNvSpPr txBox="1"/>
          <p:nvPr/>
        </p:nvSpPr>
        <p:spPr>
          <a:xfrm>
            <a:off x="5063068" y="655934"/>
            <a:ext cx="5317068" cy="923330"/>
          </a:xfrm>
          <a:prstGeom prst="rect">
            <a:avLst/>
          </a:prstGeom>
          <a:noFill/>
        </p:spPr>
        <p:txBody>
          <a:bodyPr wrap="square">
            <a:spAutoFit/>
          </a:bodyPr>
          <a:lstStyle/>
          <a:p>
            <a:r>
              <a:rPr lang="es-MX" b="1" dirty="0">
                <a:latin typeface="Söhne"/>
              </a:rPr>
              <a:t>N</a:t>
            </a:r>
            <a:r>
              <a:rPr lang="es-MX" b="1" i="0" dirty="0">
                <a:effectLst/>
                <a:latin typeface="Söhne"/>
              </a:rPr>
              <a:t>o se trata de una implementación concreta, sino de una descripción de la estructura y el comportamiento de un tipo de dato sin entrar en detalles específicos</a:t>
            </a:r>
            <a:endParaRPr lang="es-MX" b="1" dirty="0"/>
          </a:p>
        </p:txBody>
      </p:sp>
      <p:sp>
        <p:nvSpPr>
          <p:cNvPr id="13" name="Abrir llave 12">
            <a:extLst>
              <a:ext uri="{FF2B5EF4-FFF2-40B4-BE49-F238E27FC236}">
                <a16:creationId xmlns:a16="http://schemas.microsoft.com/office/drawing/2014/main" id="{5214661D-1652-6AD0-349F-D73089B6E070}"/>
              </a:ext>
            </a:extLst>
          </p:cNvPr>
          <p:cNvSpPr/>
          <p:nvPr/>
        </p:nvSpPr>
        <p:spPr>
          <a:xfrm rot="5400000">
            <a:off x="5997576" y="1942044"/>
            <a:ext cx="237065" cy="1348315"/>
          </a:xfrm>
          <a:prstGeom prst="leftBrace">
            <a:avLst/>
          </a:prstGeom>
          <a:ln>
            <a:solidFill>
              <a:srgbClr val="FF0000">
                <a:alpha val="95000"/>
              </a:srgb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pic>
        <p:nvPicPr>
          <p:cNvPr id="3074" name="Picture 2" descr="Hitori Bocchi out of context #11 : r/HitoriBocchiOfficial">
            <a:extLst>
              <a:ext uri="{FF2B5EF4-FFF2-40B4-BE49-F238E27FC236}">
                <a16:creationId xmlns:a16="http://schemas.microsoft.com/office/drawing/2014/main" id="{70EE56FD-5E7C-26C2-CD5F-E406845F8C90}"/>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46717" b="98485" l="56030" r="93878">
                        <a14:foregroundMark x1="70315" y1="48232" x2="61410" y2="54798"/>
                        <a14:foregroundMark x1="61410" y1="54798" x2="62894" y2="83838"/>
                        <a14:foregroundMark x1="62894" y1="83838" x2="69202" y2="93434"/>
                        <a14:foregroundMark x1="69202" y1="93434" x2="75139" y2="73485"/>
                        <a14:foregroundMark x1="75139" y1="73485" x2="75510" y2="57828"/>
                        <a14:foregroundMark x1="70315" y1="58586" x2="63636" y2="69697"/>
                        <a14:foregroundMark x1="61410" y1="87626" x2="71429" y2="94192"/>
                        <a14:foregroundMark x1="71429" y1="94192" x2="76438" y2="93939"/>
                        <a14:foregroundMark x1="60668" y1="87879" x2="56030" y2="98737"/>
                        <a14:foregroundMark x1="76438" y1="94444" x2="76438" y2="96212"/>
                        <a14:foregroundMark x1="67904" y1="46717" x2="67904" y2="46717"/>
                      </a14:backgroundRemoval>
                    </a14:imgEffect>
                  </a14:imgLayer>
                </a14:imgProps>
              </a:ext>
              <a:ext uri="{28A0092B-C50C-407E-A947-70E740481C1C}">
                <a14:useLocalDpi xmlns:a14="http://schemas.microsoft.com/office/drawing/2010/main" val="0"/>
              </a:ext>
            </a:extLst>
          </a:blip>
          <a:srcRect l="58576" t="44591" r="2092" b="4209"/>
          <a:stretch/>
        </p:blipFill>
        <p:spPr bwMode="auto">
          <a:xfrm>
            <a:off x="0" y="4926797"/>
            <a:ext cx="2019299" cy="1931203"/>
          </a:xfrm>
          <a:prstGeom prst="rect">
            <a:avLst/>
          </a:prstGeom>
          <a:noFill/>
          <a:extLst>
            <a:ext uri="{909E8E84-426E-40DD-AFC4-6F175D3DCCD1}">
              <a14:hiddenFill xmlns:a14="http://schemas.microsoft.com/office/drawing/2010/main">
                <a:solidFill>
                  <a:srgbClr val="FFFFFF"/>
                </a:solidFill>
              </a14:hiddenFill>
            </a:ext>
          </a:extLst>
        </p:spPr>
      </p:pic>
      <p:sp>
        <p:nvSpPr>
          <p:cNvPr id="16" name="Bocadillo nube: nube 15">
            <a:extLst>
              <a:ext uri="{FF2B5EF4-FFF2-40B4-BE49-F238E27FC236}">
                <a16:creationId xmlns:a16="http://schemas.microsoft.com/office/drawing/2014/main" id="{DDFC6AC0-BE25-034C-E648-B7EE338B6B66}"/>
              </a:ext>
            </a:extLst>
          </p:cNvPr>
          <p:cNvSpPr/>
          <p:nvPr/>
        </p:nvSpPr>
        <p:spPr>
          <a:xfrm>
            <a:off x="716280" y="3008389"/>
            <a:ext cx="2199640" cy="1645117"/>
          </a:xfrm>
          <a:prstGeom prst="cloudCallout">
            <a:avLst>
              <a:gd name="adj1" fmla="val -38616"/>
              <a:gd name="adj2" fmla="val 70837"/>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¿Por qué no pasar directamente a la acción?</a:t>
            </a:r>
          </a:p>
        </p:txBody>
      </p:sp>
      <p:sp>
        <p:nvSpPr>
          <p:cNvPr id="18" name="CuadroTexto 17">
            <a:extLst>
              <a:ext uri="{FF2B5EF4-FFF2-40B4-BE49-F238E27FC236}">
                <a16:creationId xmlns:a16="http://schemas.microsoft.com/office/drawing/2014/main" id="{767CBB90-EAD9-B3C7-A96B-DE0855449830}"/>
              </a:ext>
            </a:extLst>
          </p:cNvPr>
          <p:cNvSpPr txBox="1"/>
          <p:nvPr/>
        </p:nvSpPr>
        <p:spPr>
          <a:xfrm>
            <a:off x="3903979" y="3680735"/>
            <a:ext cx="3368040" cy="646331"/>
          </a:xfrm>
          <a:prstGeom prst="rect">
            <a:avLst/>
          </a:prstGeom>
          <a:noFill/>
        </p:spPr>
        <p:txBody>
          <a:bodyPr wrap="square">
            <a:spAutoFit/>
          </a:bodyPr>
          <a:lstStyle/>
          <a:p>
            <a:pPr algn="ctr"/>
            <a:r>
              <a:rPr lang="es-MX" b="1" u="sng" dirty="0">
                <a:latin typeface="Söhne"/>
              </a:rPr>
              <a:t>D</a:t>
            </a:r>
            <a:r>
              <a:rPr lang="es-MX" b="1" i="0" u="sng" dirty="0">
                <a:effectLst/>
                <a:latin typeface="Söhne"/>
              </a:rPr>
              <a:t>escripción abstracta de una estructura de datos </a:t>
            </a:r>
            <a:endParaRPr lang="es-MX" b="1" u="sng" dirty="0"/>
          </a:p>
        </p:txBody>
      </p:sp>
      <p:cxnSp>
        <p:nvCxnSpPr>
          <p:cNvPr id="20" name="Conector recto de flecha 19">
            <a:extLst>
              <a:ext uri="{FF2B5EF4-FFF2-40B4-BE49-F238E27FC236}">
                <a16:creationId xmlns:a16="http://schemas.microsoft.com/office/drawing/2014/main" id="{AD065932-B6CA-E61E-E64E-8A5953DD81A0}"/>
              </a:ext>
            </a:extLst>
          </p:cNvPr>
          <p:cNvCxnSpPr>
            <a:stCxn id="2" idx="2"/>
            <a:endCxn id="18" idx="0"/>
          </p:cNvCxnSpPr>
          <p:nvPr/>
        </p:nvCxnSpPr>
        <p:spPr>
          <a:xfrm>
            <a:off x="5587999" y="3354295"/>
            <a:ext cx="0" cy="3264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CuadroTexto 21">
            <a:extLst>
              <a:ext uri="{FF2B5EF4-FFF2-40B4-BE49-F238E27FC236}">
                <a16:creationId xmlns:a16="http://schemas.microsoft.com/office/drawing/2014/main" id="{8F9E94C1-B67B-1422-047E-841A198EA08D}"/>
              </a:ext>
            </a:extLst>
          </p:cNvPr>
          <p:cNvSpPr txBox="1"/>
          <p:nvPr/>
        </p:nvSpPr>
        <p:spPr>
          <a:xfrm>
            <a:off x="2443480" y="5180985"/>
            <a:ext cx="8178800" cy="1200329"/>
          </a:xfrm>
          <a:prstGeom prst="rect">
            <a:avLst/>
          </a:prstGeom>
          <a:noFill/>
        </p:spPr>
        <p:txBody>
          <a:bodyPr wrap="square" rtlCol="0">
            <a:spAutoFit/>
          </a:bodyPr>
          <a:lstStyle/>
          <a:p>
            <a:pPr marL="285750" indent="-285750">
              <a:buFont typeface="Arial" panose="020B0604020202020204" pitchFamily="34" charset="0"/>
              <a:buChar char="•"/>
            </a:pPr>
            <a:r>
              <a:rPr lang="es-MX" sz="2400" b="1" dirty="0">
                <a:latin typeface="ADLaM Display" panose="02010000000000000000" pitchFamily="2" charset="0"/>
                <a:ea typeface="ADLaM Display" panose="02010000000000000000" pitchFamily="2" charset="0"/>
                <a:cs typeface="ADLaM Display" panose="02010000000000000000" pitchFamily="2" charset="0"/>
              </a:rPr>
              <a:t>A</a:t>
            </a:r>
            <a:r>
              <a:rPr lang="es-MX" sz="2400" b="1" i="0" dirty="0">
                <a:effectLst/>
                <a:latin typeface="ADLaM Display" panose="02010000000000000000" pitchFamily="2" charset="0"/>
                <a:ea typeface="ADLaM Display" panose="02010000000000000000" pitchFamily="2" charset="0"/>
                <a:cs typeface="ADLaM Display" panose="02010000000000000000" pitchFamily="2" charset="0"/>
              </a:rPr>
              <a:t>bstraemos la lógica de cómo se almacenan los datos</a:t>
            </a:r>
          </a:p>
          <a:p>
            <a:pPr marL="285750" indent="-285750">
              <a:buFont typeface="Arial" panose="020B0604020202020204" pitchFamily="34" charset="0"/>
              <a:buChar char="•"/>
            </a:pPr>
            <a:r>
              <a:rPr lang="es-MX" sz="2400" b="1" dirty="0">
                <a:latin typeface="ADLaM Display" panose="02010000000000000000" pitchFamily="2" charset="0"/>
                <a:ea typeface="ADLaM Display" panose="02010000000000000000" pitchFamily="2" charset="0"/>
                <a:cs typeface="ADLaM Display" panose="02010000000000000000" pitchFamily="2" charset="0"/>
              </a:rPr>
              <a:t>Nos centramos </a:t>
            </a:r>
            <a:r>
              <a:rPr lang="es-MX" sz="2400" b="1" i="0" dirty="0">
                <a:effectLst/>
                <a:latin typeface="ADLaM Display" panose="02010000000000000000" pitchFamily="2" charset="0"/>
                <a:ea typeface="ADLaM Display" panose="02010000000000000000" pitchFamily="2" charset="0"/>
                <a:cs typeface="ADLaM Display" panose="02010000000000000000" pitchFamily="2" charset="0"/>
              </a:rPr>
              <a:t>en cómo utilizar los datos de manera efectiva sin preocuparnos por los detalles internos</a:t>
            </a:r>
            <a:endParaRPr lang="es-MX" sz="2400" b="1"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24" name="Conector: angular 23">
            <a:extLst>
              <a:ext uri="{FF2B5EF4-FFF2-40B4-BE49-F238E27FC236}">
                <a16:creationId xmlns:a16="http://schemas.microsoft.com/office/drawing/2014/main" id="{BD1B1C27-C97F-83AA-FAE1-2FE3F8383710}"/>
              </a:ext>
            </a:extLst>
          </p:cNvPr>
          <p:cNvCxnSpPr>
            <a:stCxn id="4" idx="2"/>
            <a:endCxn id="7" idx="1"/>
          </p:cNvCxnSpPr>
          <p:nvPr/>
        </p:nvCxnSpPr>
        <p:spPr>
          <a:xfrm rot="16200000" flipH="1">
            <a:off x="3045855" y="1136624"/>
            <a:ext cx="641405" cy="2080681"/>
          </a:xfrm>
          <a:prstGeom prst="bentConnector5">
            <a:avLst>
              <a:gd name="adj1" fmla="val 35641"/>
              <a:gd name="adj2" fmla="val 100003"/>
              <a:gd name="adj3" fmla="val 64359"/>
            </a:avLst>
          </a:prstGeom>
          <a:ln>
            <a:tailEnd type="triangle"/>
          </a:ln>
        </p:spPr>
        <p:style>
          <a:lnRef idx="3">
            <a:schemeClr val="dk1"/>
          </a:lnRef>
          <a:fillRef idx="0">
            <a:schemeClr val="dk1"/>
          </a:fillRef>
          <a:effectRef idx="2">
            <a:schemeClr val="dk1"/>
          </a:effectRef>
          <a:fontRef idx="minor">
            <a:schemeClr val="tx1"/>
          </a:fontRef>
        </p:style>
      </p:cxnSp>
      <p:cxnSp>
        <p:nvCxnSpPr>
          <p:cNvPr id="28" name="Conector: angular 27">
            <a:extLst>
              <a:ext uri="{FF2B5EF4-FFF2-40B4-BE49-F238E27FC236}">
                <a16:creationId xmlns:a16="http://schemas.microsoft.com/office/drawing/2014/main" id="{A1BA9229-BF2F-6B60-75CB-D2F23A17DFBE}"/>
              </a:ext>
            </a:extLst>
          </p:cNvPr>
          <p:cNvCxnSpPr>
            <a:stCxn id="10" idx="2"/>
            <a:endCxn id="13" idx="1"/>
          </p:cNvCxnSpPr>
          <p:nvPr/>
        </p:nvCxnSpPr>
        <p:spPr>
          <a:xfrm rot="5400000">
            <a:off x="6459653" y="1235719"/>
            <a:ext cx="918405" cy="1605494"/>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
        <p:nvSpPr>
          <p:cNvPr id="5" name="CuadroTexto 4">
            <a:extLst>
              <a:ext uri="{FF2B5EF4-FFF2-40B4-BE49-F238E27FC236}">
                <a16:creationId xmlns:a16="http://schemas.microsoft.com/office/drawing/2014/main" id="{AEE80E99-CA5E-9F6A-750C-17686840816E}"/>
              </a:ext>
            </a:extLst>
          </p:cNvPr>
          <p:cNvSpPr txBox="1"/>
          <p:nvPr/>
        </p:nvSpPr>
        <p:spPr>
          <a:xfrm>
            <a:off x="8600149" y="2289950"/>
            <a:ext cx="2618514" cy="1569660"/>
          </a:xfrm>
          <a:prstGeom prst="rect">
            <a:avLst/>
          </a:prstGeom>
          <a:noFill/>
        </p:spPr>
        <p:txBody>
          <a:bodyPr wrap="square" rtlCol="0">
            <a:spAutoFit/>
          </a:bodyPr>
          <a:lstStyle/>
          <a:p>
            <a:pPr marL="285750" indent="-285750">
              <a:buFont typeface="Arial" panose="020B0604020202020204" pitchFamily="34" charset="0"/>
              <a:buChar char="•"/>
            </a:pPr>
            <a:r>
              <a:rPr lang="es-MX" sz="2400" b="1" dirty="0">
                <a:latin typeface="ADLaM Display" panose="02010000000000000000" pitchFamily="2" charset="0"/>
                <a:ea typeface="ADLaM Display" panose="02010000000000000000" pitchFamily="2" charset="0"/>
                <a:cs typeface="ADLaM Display" panose="02010000000000000000" pitchFamily="2" charset="0"/>
              </a:rPr>
              <a:t>Nombre del tipo</a:t>
            </a:r>
          </a:p>
          <a:p>
            <a:pPr marL="285750" indent="-285750">
              <a:buFont typeface="Arial" panose="020B0604020202020204" pitchFamily="34" charset="0"/>
              <a:buChar char="•"/>
            </a:pPr>
            <a:r>
              <a:rPr lang="es-MX" sz="2400" b="1" dirty="0">
                <a:latin typeface="ADLaM Display" panose="02010000000000000000" pitchFamily="2" charset="0"/>
                <a:ea typeface="ADLaM Display" panose="02010000000000000000" pitchFamily="2" charset="0"/>
                <a:cs typeface="ADLaM Display" panose="02010000000000000000" pitchFamily="2" charset="0"/>
              </a:rPr>
              <a:t>Dominio</a:t>
            </a:r>
          </a:p>
          <a:p>
            <a:pPr marL="285750" indent="-285750">
              <a:buFont typeface="Arial" panose="020B0604020202020204" pitchFamily="34" charset="0"/>
              <a:buChar char="•"/>
            </a:pPr>
            <a:r>
              <a:rPr lang="es-MX" sz="2400" b="1" dirty="0">
                <a:latin typeface="ADLaM Display" panose="02010000000000000000" pitchFamily="2" charset="0"/>
                <a:ea typeface="ADLaM Display" panose="02010000000000000000" pitchFamily="2" charset="0"/>
                <a:cs typeface="ADLaM Display" panose="02010000000000000000" pitchFamily="2" charset="0"/>
              </a:rPr>
              <a:t>Operaciones</a:t>
            </a:r>
          </a:p>
        </p:txBody>
      </p:sp>
      <p:sp>
        <p:nvSpPr>
          <p:cNvPr id="6" name="Abrir llave 5">
            <a:extLst>
              <a:ext uri="{FF2B5EF4-FFF2-40B4-BE49-F238E27FC236}">
                <a16:creationId xmlns:a16="http://schemas.microsoft.com/office/drawing/2014/main" id="{DB4F2EAB-DA94-7582-1C2F-CBA0FFAE8BA1}"/>
              </a:ext>
            </a:extLst>
          </p:cNvPr>
          <p:cNvSpPr/>
          <p:nvPr/>
        </p:nvSpPr>
        <p:spPr>
          <a:xfrm>
            <a:off x="8241175" y="2351752"/>
            <a:ext cx="258299" cy="1510496"/>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cxnSp>
        <p:nvCxnSpPr>
          <p:cNvPr id="9" name="Conector recto de flecha 8">
            <a:extLst>
              <a:ext uri="{FF2B5EF4-FFF2-40B4-BE49-F238E27FC236}">
                <a16:creationId xmlns:a16="http://schemas.microsoft.com/office/drawing/2014/main" id="{26901854-CA7F-504A-4C2F-6F7AAE1FAA68}"/>
              </a:ext>
            </a:extLst>
          </p:cNvPr>
          <p:cNvCxnSpPr/>
          <p:nvPr/>
        </p:nvCxnSpPr>
        <p:spPr>
          <a:xfrm>
            <a:off x="7101068" y="3159889"/>
            <a:ext cx="82180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74119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E595F23-D36B-A203-DB57-3304B321281A}"/>
              </a:ext>
            </a:extLst>
          </p:cNvPr>
          <p:cNvSpPr txBox="1"/>
          <p:nvPr/>
        </p:nvSpPr>
        <p:spPr>
          <a:xfrm>
            <a:off x="1569720" y="2211218"/>
            <a:ext cx="6751320" cy="954107"/>
          </a:xfrm>
          <a:prstGeom prst="rect">
            <a:avLst/>
          </a:prstGeom>
          <a:noFill/>
        </p:spPr>
        <p:txBody>
          <a:bodyPr wrap="square" rtlCol="0">
            <a:spAutoFit/>
          </a:bodyPr>
          <a:lstStyle/>
          <a:p>
            <a:pPr algn="ctr"/>
            <a:r>
              <a:rPr lang="es-MX" sz="2800" dirty="0">
                <a:latin typeface="ADLaM Display" panose="02010000000000000000" pitchFamily="2" charset="0"/>
                <a:ea typeface="ADLaM Display" panose="02010000000000000000" pitchFamily="2" charset="0"/>
                <a:cs typeface="ADLaM Display" panose="02010000000000000000" pitchFamily="2" charset="0"/>
              </a:rPr>
              <a:t>DISEÑO ORIENTADO A OBJETOS (OOD)</a:t>
            </a:r>
          </a:p>
        </p:txBody>
      </p:sp>
      <p:sp>
        <p:nvSpPr>
          <p:cNvPr id="4" name="CuadroTexto 3">
            <a:extLst>
              <a:ext uri="{FF2B5EF4-FFF2-40B4-BE49-F238E27FC236}">
                <a16:creationId xmlns:a16="http://schemas.microsoft.com/office/drawing/2014/main" id="{04A4E8BD-CF38-B877-E1A1-C68EA0C79CFA}"/>
              </a:ext>
            </a:extLst>
          </p:cNvPr>
          <p:cNvSpPr txBox="1"/>
          <p:nvPr/>
        </p:nvSpPr>
        <p:spPr>
          <a:xfrm>
            <a:off x="115570" y="404614"/>
            <a:ext cx="3765550" cy="646331"/>
          </a:xfrm>
          <a:prstGeom prst="rect">
            <a:avLst/>
          </a:prstGeom>
          <a:noFill/>
        </p:spPr>
        <p:txBody>
          <a:bodyPr wrap="square">
            <a:spAutoFit/>
          </a:bodyPr>
          <a:lstStyle/>
          <a:p>
            <a:pPr algn="ctr"/>
            <a:r>
              <a:rPr lang="es-MX" b="1" i="0" dirty="0">
                <a:effectLst/>
                <a:latin typeface="ADLaM Display" panose="02010000000000000000" pitchFamily="2" charset="0"/>
                <a:ea typeface="ADLaM Display" panose="02010000000000000000" pitchFamily="2" charset="0"/>
                <a:cs typeface="ADLaM Display" panose="02010000000000000000" pitchFamily="2" charset="0"/>
              </a:rPr>
              <a:t>Planificación y creación de una estructura lógica y organizada</a:t>
            </a:r>
            <a:endParaRPr lang="es-MX" b="1"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 name="Conector: angular 10">
            <a:extLst>
              <a:ext uri="{FF2B5EF4-FFF2-40B4-BE49-F238E27FC236}">
                <a16:creationId xmlns:a16="http://schemas.microsoft.com/office/drawing/2014/main" id="{9B8A8CD4-0F11-740E-F95A-CF0A159D9DF2}"/>
              </a:ext>
            </a:extLst>
          </p:cNvPr>
          <p:cNvCxnSpPr>
            <a:cxnSpLocks/>
          </p:cNvCxnSpPr>
          <p:nvPr/>
        </p:nvCxnSpPr>
        <p:spPr>
          <a:xfrm rot="16200000" flipH="1">
            <a:off x="2105054" y="1133504"/>
            <a:ext cx="854056" cy="688936"/>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sp>
        <p:nvSpPr>
          <p:cNvPr id="14" name="Abrir llave 13">
            <a:extLst>
              <a:ext uri="{FF2B5EF4-FFF2-40B4-BE49-F238E27FC236}">
                <a16:creationId xmlns:a16="http://schemas.microsoft.com/office/drawing/2014/main" id="{EA2B82FA-3122-F9C1-9E3D-8119F7BBCBA8}"/>
              </a:ext>
            </a:extLst>
          </p:cNvPr>
          <p:cNvSpPr/>
          <p:nvPr/>
        </p:nvSpPr>
        <p:spPr>
          <a:xfrm rot="5400000">
            <a:off x="2786687" y="1489657"/>
            <a:ext cx="187345" cy="1255776"/>
          </a:xfrm>
          <a:prstGeom prst="leftBrace">
            <a:avLst/>
          </a:prstGeom>
          <a:ln>
            <a:solidFill>
              <a:srgbClr val="FF0000">
                <a:alpha val="95000"/>
              </a:srgbClr>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7" name="CuadroTexto 16">
            <a:extLst>
              <a:ext uri="{FF2B5EF4-FFF2-40B4-BE49-F238E27FC236}">
                <a16:creationId xmlns:a16="http://schemas.microsoft.com/office/drawing/2014/main" id="{12F59220-5D1E-E63F-9620-F7A433144164}"/>
              </a:ext>
            </a:extLst>
          </p:cNvPr>
          <p:cNvSpPr txBox="1"/>
          <p:nvPr/>
        </p:nvSpPr>
        <p:spPr>
          <a:xfrm>
            <a:off x="4218942" y="266114"/>
            <a:ext cx="6103620" cy="923330"/>
          </a:xfrm>
          <a:prstGeom prst="rect">
            <a:avLst/>
          </a:prstGeom>
          <a:noFill/>
        </p:spPr>
        <p:txBody>
          <a:bodyPr wrap="square">
            <a:spAutoFit/>
          </a:bodyPr>
          <a:lstStyle/>
          <a:p>
            <a:pPr algn="ctr"/>
            <a:r>
              <a:rPr lang="es-MX" b="1" i="0" dirty="0">
                <a:effectLst/>
                <a:latin typeface="ADLaM Display" panose="02010000000000000000" pitchFamily="2" charset="0"/>
                <a:ea typeface="ADLaM Display" panose="02010000000000000000" pitchFamily="2" charset="0"/>
                <a:cs typeface="ADLaM Display" panose="02010000000000000000" pitchFamily="2" charset="0"/>
              </a:rPr>
              <a:t>Un paradigma de programación que se basa en la idea de que el software se puede modelar en términos de objetos</a:t>
            </a:r>
            <a:endParaRPr lang="es-MX"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8" name="Abrir llave 17">
            <a:extLst>
              <a:ext uri="{FF2B5EF4-FFF2-40B4-BE49-F238E27FC236}">
                <a16:creationId xmlns:a16="http://schemas.microsoft.com/office/drawing/2014/main" id="{E585EFA8-E445-74DE-AA08-D609D5ABB1C8}"/>
              </a:ext>
            </a:extLst>
          </p:cNvPr>
          <p:cNvSpPr/>
          <p:nvPr/>
        </p:nvSpPr>
        <p:spPr>
          <a:xfrm rot="5400000">
            <a:off x="5609591" y="173483"/>
            <a:ext cx="200658" cy="3901439"/>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cxnSp>
        <p:nvCxnSpPr>
          <p:cNvPr id="20" name="Conector: angular 19">
            <a:extLst>
              <a:ext uri="{FF2B5EF4-FFF2-40B4-BE49-F238E27FC236}">
                <a16:creationId xmlns:a16="http://schemas.microsoft.com/office/drawing/2014/main" id="{3B16963B-D007-01DD-FD49-450E25D20D12}"/>
              </a:ext>
            </a:extLst>
          </p:cNvPr>
          <p:cNvCxnSpPr>
            <a:stCxn id="17" idx="2"/>
            <a:endCxn id="18" idx="1"/>
          </p:cNvCxnSpPr>
          <p:nvPr/>
        </p:nvCxnSpPr>
        <p:spPr>
          <a:xfrm rot="5400000">
            <a:off x="6073121" y="826243"/>
            <a:ext cx="834430" cy="1560832"/>
          </a:xfrm>
          <a:prstGeom prst="bentConnector5">
            <a:avLst>
              <a:gd name="adj1" fmla="val 27396"/>
              <a:gd name="adj2" fmla="val 100021"/>
              <a:gd name="adj3" fmla="val 72604"/>
            </a:avLst>
          </a:prstGeom>
          <a:ln>
            <a:tailEnd type="triangle"/>
          </a:ln>
        </p:spPr>
        <p:style>
          <a:lnRef idx="3">
            <a:schemeClr val="dk1"/>
          </a:lnRef>
          <a:fillRef idx="0">
            <a:schemeClr val="dk1"/>
          </a:fillRef>
          <a:effectRef idx="2">
            <a:schemeClr val="dk1"/>
          </a:effectRef>
          <a:fontRef idx="minor">
            <a:schemeClr val="tx1"/>
          </a:fontRef>
        </p:style>
      </p:cxnSp>
      <p:sp>
        <p:nvSpPr>
          <p:cNvPr id="24" name="CuadroTexto 23">
            <a:extLst>
              <a:ext uri="{FF2B5EF4-FFF2-40B4-BE49-F238E27FC236}">
                <a16:creationId xmlns:a16="http://schemas.microsoft.com/office/drawing/2014/main" id="{981BCB10-BB99-9447-4A0F-793D8820DE5D}"/>
              </a:ext>
            </a:extLst>
          </p:cNvPr>
          <p:cNvSpPr txBox="1"/>
          <p:nvPr/>
        </p:nvSpPr>
        <p:spPr>
          <a:xfrm>
            <a:off x="1893570" y="3590328"/>
            <a:ext cx="6103620" cy="646331"/>
          </a:xfrm>
          <a:prstGeom prst="rect">
            <a:avLst/>
          </a:prstGeom>
          <a:noFill/>
        </p:spPr>
        <p:txBody>
          <a:bodyPr wrap="square">
            <a:spAutoFit/>
          </a:bodyPr>
          <a:lstStyle/>
          <a:p>
            <a:pPr algn="ctr"/>
            <a:r>
              <a:rPr lang="es-MX" b="1" i="0" dirty="0">
                <a:effectLst/>
                <a:latin typeface="ADLaM Display" panose="02010000000000000000" pitchFamily="2" charset="0"/>
                <a:ea typeface="ADLaM Display" panose="02010000000000000000" pitchFamily="2" charset="0"/>
                <a:cs typeface="ADLaM Display" panose="02010000000000000000" pitchFamily="2" charset="0"/>
              </a:rPr>
              <a:t>UN ENFOQUE DE PROGRAMACIÓN QUE UTILIZA CLASES Y OBJETOS PARA MODELAR EL MUNDO REAL</a:t>
            </a:r>
            <a:endParaRPr lang="es-MX" b="1"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28" name="Conector recto de flecha 27">
            <a:extLst>
              <a:ext uri="{FF2B5EF4-FFF2-40B4-BE49-F238E27FC236}">
                <a16:creationId xmlns:a16="http://schemas.microsoft.com/office/drawing/2014/main" id="{FE627D6B-8A0E-2E05-EF8F-C522CE769EEF}"/>
              </a:ext>
            </a:extLst>
          </p:cNvPr>
          <p:cNvCxnSpPr>
            <a:stCxn id="2" idx="2"/>
            <a:endCxn id="24" idx="0"/>
          </p:cNvCxnSpPr>
          <p:nvPr/>
        </p:nvCxnSpPr>
        <p:spPr>
          <a:xfrm>
            <a:off x="4945380" y="3165325"/>
            <a:ext cx="0" cy="4250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100" name="Picture 4" descr="Aprende JAVA: ¿Cual es la diferencia entre una Clase y un Objeto en JAVA?">
            <a:extLst>
              <a:ext uri="{FF2B5EF4-FFF2-40B4-BE49-F238E27FC236}">
                <a16:creationId xmlns:a16="http://schemas.microsoft.com/office/drawing/2014/main" id="{4BD17909-291B-CC41-7FA6-B654F6EBC8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32" t="7399" r="5933" b="2643"/>
          <a:stretch/>
        </p:blipFill>
        <p:spPr bwMode="auto">
          <a:xfrm>
            <a:off x="115570" y="4661662"/>
            <a:ext cx="2836684" cy="1320105"/>
          </a:xfrm>
          <a:prstGeom prst="rect">
            <a:avLst/>
          </a:prstGeom>
          <a:noFill/>
          <a:extLst>
            <a:ext uri="{909E8E84-426E-40DD-AFC4-6F175D3DCCD1}">
              <a14:hiddenFill xmlns:a14="http://schemas.microsoft.com/office/drawing/2010/main">
                <a:solidFill>
                  <a:srgbClr val="FFFFFF"/>
                </a:solidFill>
              </a14:hiddenFill>
            </a:ext>
          </a:extLst>
        </p:spPr>
      </p:pic>
      <p:sp>
        <p:nvSpPr>
          <p:cNvPr id="29" name="CuadroTexto 28">
            <a:extLst>
              <a:ext uri="{FF2B5EF4-FFF2-40B4-BE49-F238E27FC236}">
                <a16:creationId xmlns:a16="http://schemas.microsoft.com/office/drawing/2014/main" id="{4DB1FD08-2D33-A719-F1AA-95082666CA76}"/>
              </a:ext>
            </a:extLst>
          </p:cNvPr>
          <p:cNvSpPr txBox="1"/>
          <p:nvPr/>
        </p:nvSpPr>
        <p:spPr>
          <a:xfrm>
            <a:off x="272933" y="6372381"/>
            <a:ext cx="2580746" cy="369332"/>
          </a:xfrm>
          <a:prstGeom prst="rect">
            <a:avLst/>
          </a:prstGeom>
          <a:noFill/>
        </p:spPr>
        <p:txBody>
          <a:bodyPr wrap="square" rtlCol="0">
            <a:spAutoFit/>
          </a:bodyPr>
          <a:lstStyle/>
          <a:p>
            <a:pPr algn="ctr"/>
            <a:r>
              <a:rPr lang="es-MX" b="1" dirty="0">
                <a:latin typeface="Abadi" panose="020B0604020104020204" pitchFamily="34" charset="0"/>
              </a:rPr>
              <a:t>Clases y objetos</a:t>
            </a:r>
          </a:p>
        </p:txBody>
      </p:sp>
      <p:pic>
        <p:nvPicPr>
          <p:cNvPr id="4102" name="Picture 6" descr="Encapsulación: definición e importancia">
            <a:extLst>
              <a:ext uri="{FF2B5EF4-FFF2-40B4-BE49-F238E27FC236}">
                <a16:creationId xmlns:a16="http://schemas.microsoft.com/office/drawing/2014/main" id="{D5DFF1DD-F192-EA2C-EC2B-EEABC7F8E91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1771" t="12326" r="22969" b="10617"/>
          <a:stretch/>
        </p:blipFill>
        <p:spPr bwMode="auto">
          <a:xfrm>
            <a:off x="3361690" y="4656661"/>
            <a:ext cx="1805478" cy="1381761"/>
          </a:xfrm>
          <a:prstGeom prst="rect">
            <a:avLst/>
          </a:prstGeom>
          <a:noFill/>
          <a:extLst>
            <a:ext uri="{909E8E84-426E-40DD-AFC4-6F175D3DCCD1}">
              <a14:hiddenFill xmlns:a14="http://schemas.microsoft.com/office/drawing/2010/main">
                <a:solidFill>
                  <a:srgbClr val="FFFFFF"/>
                </a:solidFill>
              </a14:hiddenFill>
            </a:ext>
          </a:extLst>
        </p:spPr>
      </p:pic>
      <p:sp>
        <p:nvSpPr>
          <p:cNvPr id="30" name="CuadroTexto 29">
            <a:extLst>
              <a:ext uri="{FF2B5EF4-FFF2-40B4-BE49-F238E27FC236}">
                <a16:creationId xmlns:a16="http://schemas.microsoft.com/office/drawing/2014/main" id="{45849F03-C7AA-DC6C-45D8-69A29B5AB742}"/>
              </a:ext>
            </a:extLst>
          </p:cNvPr>
          <p:cNvSpPr txBox="1"/>
          <p:nvPr/>
        </p:nvSpPr>
        <p:spPr>
          <a:xfrm>
            <a:off x="2974056" y="6407220"/>
            <a:ext cx="2580746" cy="369332"/>
          </a:xfrm>
          <a:prstGeom prst="rect">
            <a:avLst/>
          </a:prstGeom>
          <a:noFill/>
        </p:spPr>
        <p:txBody>
          <a:bodyPr wrap="square" rtlCol="0">
            <a:spAutoFit/>
          </a:bodyPr>
          <a:lstStyle/>
          <a:p>
            <a:pPr algn="ctr"/>
            <a:r>
              <a:rPr lang="es-MX" b="1" dirty="0">
                <a:latin typeface="Abadi" panose="020B0604020104020204" pitchFamily="34" charset="0"/>
              </a:rPr>
              <a:t>Encapsulamiento</a:t>
            </a:r>
          </a:p>
        </p:txBody>
      </p:sp>
      <p:pic>
        <p:nvPicPr>
          <p:cNvPr id="4104" name="Picture 8" descr="Paradigma de la programación orientada a objetos">
            <a:extLst>
              <a:ext uri="{FF2B5EF4-FFF2-40B4-BE49-F238E27FC236}">
                <a16:creationId xmlns:a16="http://schemas.microsoft.com/office/drawing/2014/main" id="{63939DFD-5A65-56F2-49EF-F37A32B9272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538" r="5235" b="10982"/>
          <a:stretch/>
        </p:blipFill>
        <p:spPr bwMode="auto">
          <a:xfrm>
            <a:off x="5335849" y="4236659"/>
            <a:ext cx="3014401" cy="2135722"/>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D213EB6B-3F98-60A9-51F3-A66F59CE222A}"/>
              </a:ext>
            </a:extLst>
          </p:cNvPr>
          <p:cNvSpPr txBox="1"/>
          <p:nvPr/>
        </p:nvSpPr>
        <p:spPr>
          <a:xfrm>
            <a:off x="5552676" y="6407220"/>
            <a:ext cx="2580746" cy="369332"/>
          </a:xfrm>
          <a:prstGeom prst="rect">
            <a:avLst/>
          </a:prstGeom>
          <a:noFill/>
        </p:spPr>
        <p:txBody>
          <a:bodyPr wrap="square" rtlCol="0">
            <a:spAutoFit/>
          </a:bodyPr>
          <a:lstStyle/>
          <a:p>
            <a:pPr algn="ctr"/>
            <a:r>
              <a:rPr lang="es-MX" b="1" dirty="0">
                <a:latin typeface="Abadi" panose="020B0604020104020204" pitchFamily="34" charset="0"/>
              </a:rPr>
              <a:t>Abstracción</a:t>
            </a:r>
          </a:p>
        </p:txBody>
      </p:sp>
      <p:pic>
        <p:nvPicPr>
          <p:cNvPr id="4110" name="Picture 14" descr="Herencia - Iconos gratis de médico">
            <a:extLst>
              <a:ext uri="{FF2B5EF4-FFF2-40B4-BE49-F238E27FC236}">
                <a16:creationId xmlns:a16="http://schemas.microsoft.com/office/drawing/2014/main" id="{4F19D5A0-A8CE-6D39-3FC2-B9E5369225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75642" y="4335981"/>
            <a:ext cx="2036400" cy="2036400"/>
          </a:xfrm>
          <a:prstGeom prst="rect">
            <a:avLst/>
          </a:prstGeom>
          <a:noFill/>
          <a:extLst>
            <a:ext uri="{909E8E84-426E-40DD-AFC4-6F175D3DCCD1}">
              <a14:hiddenFill xmlns:a14="http://schemas.microsoft.com/office/drawing/2010/main">
                <a:solidFill>
                  <a:srgbClr val="FFFFFF"/>
                </a:solidFill>
              </a14:hiddenFill>
            </a:ext>
          </a:extLst>
        </p:spPr>
      </p:pic>
      <p:sp>
        <p:nvSpPr>
          <p:cNvPr id="32" name="CuadroTexto 31">
            <a:extLst>
              <a:ext uri="{FF2B5EF4-FFF2-40B4-BE49-F238E27FC236}">
                <a16:creationId xmlns:a16="http://schemas.microsoft.com/office/drawing/2014/main" id="{152C7028-165A-B187-55EB-CA06BE10A4FF}"/>
              </a:ext>
            </a:extLst>
          </p:cNvPr>
          <p:cNvSpPr txBox="1"/>
          <p:nvPr/>
        </p:nvSpPr>
        <p:spPr>
          <a:xfrm>
            <a:off x="8403469" y="6407220"/>
            <a:ext cx="2580746" cy="369332"/>
          </a:xfrm>
          <a:prstGeom prst="rect">
            <a:avLst/>
          </a:prstGeom>
          <a:noFill/>
        </p:spPr>
        <p:txBody>
          <a:bodyPr wrap="square" rtlCol="0">
            <a:spAutoFit/>
          </a:bodyPr>
          <a:lstStyle/>
          <a:p>
            <a:pPr algn="ctr"/>
            <a:r>
              <a:rPr lang="es-MX" b="1" dirty="0">
                <a:latin typeface="Abadi" panose="020B0604020104020204" pitchFamily="34" charset="0"/>
              </a:rPr>
              <a:t>Herencia</a:t>
            </a:r>
          </a:p>
        </p:txBody>
      </p:sp>
      <p:pic>
        <p:nvPicPr>
          <p:cNvPr id="4112" name="Picture 16" descr="Please follow the creatorof hitoribocchi, @katuwo__ , on twitter. Its a  gold mine. : r/HitoriBocchiOfficial">
            <a:extLst>
              <a:ext uri="{FF2B5EF4-FFF2-40B4-BE49-F238E27FC236}">
                <a16:creationId xmlns:a16="http://schemas.microsoft.com/office/drawing/2014/main" id="{70BB3FFA-9447-7D64-8748-3322F58B98EA}"/>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10000" b="90000" l="10000" r="90000">
                        <a14:foregroundMark x1="60622" y1="27871" x2="44870" y2="77241"/>
                        <a14:foregroundMark x1="56684" y1="28922" x2="60622" y2="42507"/>
                        <a14:foregroundMark x1="47254" y1="33824" x2="46839" y2="56443"/>
                        <a14:foregroundMark x1="55855" y1="44608" x2="56062" y2="55672"/>
                        <a14:foregroundMark x1="59585" y1="51961" x2="59067" y2="66877"/>
                        <a14:foregroundMark x1="63731" y1="33053" x2="61554" y2="46849"/>
                        <a14:foregroundMark x1="52642" y1="45168" x2="39171" y2="57633"/>
                        <a14:foregroundMark x1="39171" y1="57633" x2="39171" y2="57633"/>
                        <a14:foregroundMark x1="44974" y1="47129" x2="44974" y2="47129"/>
                        <a14:foregroundMark x1="59171" y1="67857" x2="59171" y2="67857"/>
                        <a14:foregroundMark x1="53264" y1="78081" x2="53264" y2="78081"/>
                        <a14:foregroundMark x1="35751" y1="62675" x2="35751" y2="62675"/>
                      </a14:backgroundRemoval>
                    </a14:imgEffect>
                  </a14:imgLayer>
                </a14:imgProps>
              </a:ext>
              <a:ext uri="{28A0092B-C50C-407E-A947-70E740481C1C}">
                <a14:useLocalDpi xmlns:a14="http://schemas.microsoft.com/office/drawing/2010/main" val="0"/>
              </a:ext>
            </a:extLst>
          </a:blip>
          <a:srcRect l="29259" t="17664" r="15877" b="13188"/>
          <a:stretch/>
        </p:blipFill>
        <p:spPr bwMode="auto">
          <a:xfrm>
            <a:off x="11309607" y="5212080"/>
            <a:ext cx="882393" cy="164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5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hade val="98000"/>
                <a:satMod val="130000"/>
                <a:lumMod val="102000"/>
              </a:schemeClr>
            </a:gs>
            <a:gs pos="100000">
              <a:schemeClr val="bg1">
                <a:tint val="98000"/>
                <a:shade val="78000"/>
                <a:satMod val="140000"/>
              </a:schemeClr>
            </a:gs>
          </a:gsLst>
          <a:path path="circle">
            <a:fillToRect l="100000" t="100000" r="100000" b="100000"/>
          </a:path>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F05DDE-5F2C-44F5-BACC-DED4737B1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useBgFill="1">
        <p:nvSpPr>
          <p:cNvPr id="8" name="Rectangle 7">
            <a:extLst>
              <a:ext uri="{FF2B5EF4-FFF2-40B4-BE49-F238E27FC236}">
                <a16:creationId xmlns:a16="http://schemas.microsoft.com/office/drawing/2014/main" id="{79C8665A-B6C6-46BB-9012-A9223856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D8964DE-AB9E-402E-8B81-8AA9BB4798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12" name="Rectangle 11">
            <a:extLst>
              <a:ext uri="{FF2B5EF4-FFF2-40B4-BE49-F238E27FC236}">
                <a16:creationId xmlns:a16="http://schemas.microsoft.com/office/drawing/2014/main" id="{0361BE5E-E17F-47E3-AF50-969EA826B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5" name="CuadroTexto 4">
            <a:extLst>
              <a:ext uri="{FF2B5EF4-FFF2-40B4-BE49-F238E27FC236}">
                <a16:creationId xmlns:a16="http://schemas.microsoft.com/office/drawing/2014/main" id="{CEDEE893-C964-70C1-88A6-E9213C329206}"/>
              </a:ext>
            </a:extLst>
          </p:cNvPr>
          <p:cNvSpPr txBox="1"/>
          <p:nvPr/>
        </p:nvSpPr>
        <p:spPr>
          <a:xfrm>
            <a:off x="558800" y="248920"/>
            <a:ext cx="2430357"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DOO</a:t>
            </a:r>
          </a:p>
        </p:txBody>
      </p:sp>
      <p:sp>
        <p:nvSpPr>
          <p:cNvPr id="7" name="Rectángulo 6">
            <a:extLst>
              <a:ext uri="{FF2B5EF4-FFF2-40B4-BE49-F238E27FC236}">
                <a16:creationId xmlns:a16="http://schemas.microsoft.com/office/drawing/2014/main" id="{C38A1E54-B539-CCEB-63DF-4F5A19848891}"/>
              </a:ext>
            </a:extLst>
          </p:cNvPr>
          <p:cNvSpPr/>
          <p:nvPr/>
        </p:nvSpPr>
        <p:spPr>
          <a:xfrm>
            <a:off x="654262" y="1537712"/>
            <a:ext cx="2275840" cy="142748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Componentes</a:t>
            </a:r>
          </a:p>
          <a:p>
            <a:pPr algn="ctr"/>
            <a:endParaRPr lang="es-MX" b="1" dirty="0">
              <a:solidFill>
                <a:schemeClr val="tx1"/>
              </a:solidFill>
            </a:endParaRPr>
          </a:p>
        </p:txBody>
      </p:sp>
      <p:cxnSp>
        <p:nvCxnSpPr>
          <p:cNvPr id="11" name="Conector recto de flecha 10">
            <a:extLst>
              <a:ext uri="{FF2B5EF4-FFF2-40B4-BE49-F238E27FC236}">
                <a16:creationId xmlns:a16="http://schemas.microsoft.com/office/drawing/2014/main" id="{34EAEEB4-48AB-B442-AC97-1FA1B6292F69}"/>
              </a:ext>
            </a:extLst>
          </p:cNvPr>
          <p:cNvCxnSpPr>
            <a:cxnSpLocks/>
            <a:stCxn id="7" idx="3"/>
            <a:endCxn id="14" idx="1"/>
          </p:cNvCxnSpPr>
          <p:nvPr/>
        </p:nvCxnSpPr>
        <p:spPr>
          <a:xfrm>
            <a:off x="2930102" y="2251452"/>
            <a:ext cx="6917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Rectángulo 13">
            <a:extLst>
              <a:ext uri="{FF2B5EF4-FFF2-40B4-BE49-F238E27FC236}">
                <a16:creationId xmlns:a16="http://schemas.microsoft.com/office/drawing/2014/main" id="{33A041D2-A50F-48F9-46DA-0F349ED121C3}"/>
              </a:ext>
            </a:extLst>
          </p:cNvPr>
          <p:cNvSpPr/>
          <p:nvPr/>
        </p:nvSpPr>
        <p:spPr>
          <a:xfrm>
            <a:off x="3621828" y="1537712"/>
            <a:ext cx="2275840" cy="142748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Objetos</a:t>
            </a:r>
          </a:p>
        </p:txBody>
      </p:sp>
      <p:sp>
        <p:nvSpPr>
          <p:cNvPr id="15" name="CuadroTexto 14">
            <a:extLst>
              <a:ext uri="{FF2B5EF4-FFF2-40B4-BE49-F238E27FC236}">
                <a16:creationId xmlns:a16="http://schemas.microsoft.com/office/drawing/2014/main" id="{D1FC7983-988C-A5EB-4D4A-FD04D15CBA25}"/>
              </a:ext>
            </a:extLst>
          </p:cNvPr>
          <p:cNvSpPr txBox="1"/>
          <p:nvPr/>
        </p:nvSpPr>
        <p:spPr>
          <a:xfrm>
            <a:off x="1198246" y="1168380"/>
            <a:ext cx="1361440" cy="369332"/>
          </a:xfrm>
          <a:prstGeom prst="rect">
            <a:avLst/>
          </a:prstGeom>
          <a:noFill/>
        </p:spPr>
        <p:txBody>
          <a:bodyPr wrap="square" rtlCol="0">
            <a:spAutoFit/>
          </a:bodyPr>
          <a:lstStyle/>
          <a:p>
            <a:r>
              <a:rPr lang="es-MX" dirty="0"/>
              <a:t>Identificar</a:t>
            </a:r>
          </a:p>
        </p:txBody>
      </p:sp>
      <p:sp>
        <p:nvSpPr>
          <p:cNvPr id="16" name="Abrir llave 15">
            <a:extLst>
              <a:ext uri="{FF2B5EF4-FFF2-40B4-BE49-F238E27FC236}">
                <a16:creationId xmlns:a16="http://schemas.microsoft.com/office/drawing/2014/main" id="{593696BB-B057-1DC4-4B8F-3648594AAB43}"/>
              </a:ext>
            </a:extLst>
          </p:cNvPr>
          <p:cNvSpPr/>
          <p:nvPr/>
        </p:nvSpPr>
        <p:spPr>
          <a:xfrm>
            <a:off x="5963289" y="1405632"/>
            <a:ext cx="391160" cy="179832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8" name="CuadroTexto 17">
            <a:extLst>
              <a:ext uri="{FF2B5EF4-FFF2-40B4-BE49-F238E27FC236}">
                <a16:creationId xmlns:a16="http://schemas.microsoft.com/office/drawing/2014/main" id="{8EA71ECE-B55C-6661-AA15-E196AF9D60F5}"/>
              </a:ext>
            </a:extLst>
          </p:cNvPr>
          <p:cNvSpPr txBox="1"/>
          <p:nvPr/>
        </p:nvSpPr>
        <p:spPr>
          <a:xfrm>
            <a:off x="2989157" y="1935460"/>
            <a:ext cx="548548" cy="369332"/>
          </a:xfrm>
          <a:prstGeom prst="rect">
            <a:avLst/>
          </a:prstGeom>
          <a:noFill/>
        </p:spPr>
        <p:txBody>
          <a:bodyPr wrap="none" rtlCol="0">
            <a:spAutoFit/>
          </a:bodyPr>
          <a:lstStyle/>
          <a:p>
            <a:r>
              <a:rPr lang="es-MX" dirty="0"/>
              <a:t>son</a:t>
            </a:r>
          </a:p>
        </p:txBody>
      </p:sp>
      <p:sp>
        <p:nvSpPr>
          <p:cNvPr id="19" name="Cilindro 18">
            <a:extLst>
              <a:ext uri="{FF2B5EF4-FFF2-40B4-BE49-F238E27FC236}">
                <a16:creationId xmlns:a16="http://schemas.microsoft.com/office/drawing/2014/main" id="{BC62379A-D7BD-FEA5-C4C2-C057B7B5773E}"/>
              </a:ext>
            </a:extLst>
          </p:cNvPr>
          <p:cNvSpPr/>
          <p:nvPr/>
        </p:nvSpPr>
        <p:spPr>
          <a:xfrm>
            <a:off x="6898105" y="1287552"/>
            <a:ext cx="956734" cy="914400"/>
          </a:xfrm>
          <a:prstGeom prst="can">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Datos</a:t>
            </a:r>
          </a:p>
        </p:txBody>
      </p:sp>
      <p:sp>
        <p:nvSpPr>
          <p:cNvPr id="20" name="Diagrama de flujo: documento 19">
            <a:extLst>
              <a:ext uri="{FF2B5EF4-FFF2-40B4-BE49-F238E27FC236}">
                <a16:creationId xmlns:a16="http://schemas.microsoft.com/office/drawing/2014/main" id="{0CCA1AF0-4B47-7897-DCC0-00463EB9F2CE}"/>
              </a:ext>
            </a:extLst>
          </p:cNvPr>
          <p:cNvSpPr/>
          <p:nvPr/>
        </p:nvSpPr>
        <p:spPr>
          <a:xfrm>
            <a:off x="6718751" y="2269918"/>
            <a:ext cx="1363133" cy="974017"/>
          </a:xfrm>
          <a:prstGeom prst="flowChartDocumen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chemeClr val="tx1"/>
                </a:solidFill>
              </a:rPr>
              <a:t>Operaciones</a:t>
            </a:r>
            <a:endParaRPr lang="es-MX" b="1" dirty="0">
              <a:solidFill>
                <a:schemeClr val="tx1"/>
              </a:solidFill>
            </a:endParaRPr>
          </a:p>
        </p:txBody>
      </p:sp>
      <p:sp>
        <p:nvSpPr>
          <p:cNvPr id="21" name="Flecha: a la derecha 20">
            <a:extLst>
              <a:ext uri="{FF2B5EF4-FFF2-40B4-BE49-F238E27FC236}">
                <a16:creationId xmlns:a16="http://schemas.microsoft.com/office/drawing/2014/main" id="{F2F7325F-0808-DB29-4381-D16E600F0569}"/>
              </a:ext>
            </a:extLst>
          </p:cNvPr>
          <p:cNvSpPr/>
          <p:nvPr/>
        </p:nvSpPr>
        <p:spPr>
          <a:xfrm>
            <a:off x="8184095" y="1935460"/>
            <a:ext cx="867834" cy="601133"/>
          </a:xfrm>
          <a:prstGeom prst="right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Diagrama de flujo: conector 21">
            <a:extLst>
              <a:ext uri="{FF2B5EF4-FFF2-40B4-BE49-F238E27FC236}">
                <a16:creationId xmlns:a16="http://schemas.microsoft.com/office/drawing/2014/main" id="{E8A6623D-F42F-7CA1-E4AC-7CE2A35CD600}"/>
              </a:ext>
            </a:extLst>
          </p:cNvPr>
          <p:cNvSpPr/>
          <p:nvPr/>
        </p:nvSpPr>
        <p:spPr>
          <a:xfrm>
            <a:off x="9103907" y="1823782"/>
            <a:ext cx="2097493" cy="796651"/>
          </a:xfrm>
          <a:prstGeom prst="flowChartConnector">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Encapsulamiento</a:t>
            </a:r>
          </a:p>
        </p:txBody>
      </p:sp>
      <p:pic>
        <p:nvPicPr>
          <p:cNvPr id="25" name="Imagen 24">
            <a:extLst>
              <a:ext uri="{FF2B5EF4-FFF2-40B4-BE49-F238E27FC236}">
                <a16:creationId xmlns:a16="http://schemas.microsoft.com/office/drawing/2014/main" id="{5B974464-7122-B5A7-86AA-8537E17C429B}"/>
              </a:ext>
            </a:extLst>
          </p:cNvPr>
          <p:cNvPicPr>
            <a:picLocks noChangeAspect="1"/>
          </p:cNvPicPr>
          <p:nvPr/>
        </p:nvPicPr>
        <p:blipFill>
          <a:blip r:embed="rId2"/>
          <a:stretch>
            <a:fillRect/>
          </a:stretch>
        </p:blipFill>
        <p:spPr>
          <a:xfrm>
            <a:off x="457200" y="4128512"/>
            <a:ext cx="4445287" cy="1855731"/>
          </a:xfrm>
          <a:prstGeom prst="rect">
            <a:avLst/>
          </a:prstGeom>
        </p:spPr>
      </p:pic>
      <p:cxnSp>
        <p:nvCxnSpPr>
          <p:cNvPr id="27" name="Conector recto de flecha 26">
            <a:extLst>
              <a:ext uri="{FF2B5EF4-FFF2-40B4-BE49-F238E27FC236}">
                <a16:creationId xmlns:a16="http://schemas.microsoft.com/office/drawing/2014/main" id="{8F6F9A95-F51B-63B6-D1C3-68FF54C79746}"/>
              </a:ext>
            </a:extLst>
          </p:cNvPr>
          <p:cNvCxnSpPr>
            <a:stCxn id="14" idx="2"/>
          </p:cNvCxnSpPr>
          <p:nvPr/>
        </p:nvCxnSpPr>
        <p:spPr>
          <a:xfrm>
            <a:off x="4759748" y="2965192"/>
            <a:ext cx="0" cy="11707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CuadroTexto 27">
            <a:extLst>
              <a:ext uri="{FF2B5EF4-FFF2-40B4-BE49-F238E27FC236}">
                <a16:creationId xmlns:a16="http://schemas.microsoft.com/office/drawing/2014/main" id="{A0DB55C8-FCCD-B071-E48A-F9BA1265CCD6}"/>
              </a:ext>
            </a:extLst>
          </p:cNvPr>
          <p:cNvSpPr txBox="1"/>
          <p:nvPr/>
        </p:nvSpPr>
        <p:spPr>
          <a:xfrm>
            <a:off x="6300671" y="1117342"/>
            <a:ext cx="508281" cy="2374900"/>
          </a:xfrm>
          <a:prstGeom prst="rect">
            <a:avLst/>
          </a:prstGeom>
          <a:noFill/>
        </p:spPr>
        <p:txBody>
          <a:bodyPr vert="wordArtVert" wrap="square" rtlCol="0">
            <a:spAutoFit/>
          </a:bodyPr>
          <a:lstStyle/>
          <a:p>
            <a:r>
              <a:rPr lang="es-MX" dirty="0"/>
              <a:t>Combina</a:t>
            </a:r>
          </a:p>
        </p:txBody>
      </p:sp>
      <p:pic>
        <p:nvPicPr>
          <p:cNvPr id="30" name="Imagen 29">
            <a:extLst>
              <a:ext uri="{FF2B5EF4-FFF2-40B4-BE49-F238E27FC236}">
                <a16:creationId xmlns:a16="http://schemas.microsoft.com/office/drawing/2014/main" id="{7D41847F-895A-46C4-3F35-357C295B8F8D}"/>
              </a:ext>
            </a:extLst>
          </p:cNvPr>
          <p:cNvPicPr>
            <a:picLocks noChangeAspect="1"/>
          </p:cNvPicPr>
          <p:nvPr/>
        </p:nvPicPr>
        <p:blipFill rotWithShape="1">
          <a:blip r:embed="rId3"/>
          <a:srcRect l="14379" t="15370" r="55858" b="66393"/>
          <a:stretch/>
        </p:blipFill>
        <p:spPr>
          <a:xfrm>
            <a:off x="5964622" y="3864605"/>
            <a:ext cx="4624077" cy="1593757"/>
          </a:xfrm>
          <a:prstGeom prst="rect">
            <a:avLst/>
          </a:prstGeom>
        </p:spPr>
      </p:pic>
      <p:sp>
        <p:nvSpPr>
          <p:cNvPr id="31" name="CuadroTexto 30">
            <a:extLst>
              <a:ext uri="{FF2B5EF4-FFF2-40B4-BE49-F238E27FC236}">
                <a16:creationId xmlns:a16="http://schemas.microsoft.com/office/drawing/2014/main" id="{08A53179-36B3-A60F-64D3-765B952E1C9F}"/>
              </a:ext>
            </a:extLst>
          </p:cNvPr>
          <p:cNvSpPr txBox="1"/>
          <p:nvPr/>
        </p:nvSpPr>
        <p:spPr>
          <a:xfrm>
            <a:off x="3828197" y="3361432"/>
            <a:ext cx="1006267" cy="369332"/>
          </a:xfrm>
          <a:prstGeom prst="rect">
            <a:avLst/>
          </a:prstGeom>
          <a:noFill/>
        </p:spPr>
        <p:txBody>
          <a:bodyPr wrap="square" rtlCol="0">
            <a:spAutoFit/>
          </a:bodyPr>
          <a:lstStyle/>
          <a:p>
            <a:r>
              <a:rPr lang="es-MX" dirty="0"/>
              <a:t>En C++</a:t>
            </a:r>
          </a:p>
        </p:txBody>
      </p:sp>
      <p:sp>
        <p:nvSpPr>
          <p:cNvPr id="32" name="CuadroTexto 31">
            <a:extLst>
              <a:ext uri="{FF2B5EF4-FFF2-40B4-BE49-F238E27FC236}">
                <a16:creationId xmlns:a16="http://schemas.microsoft.com/office/drawing/2014/main" id="{0250779E-D283-8818-796E-74D4F8B6C848}"/>
              </a:ext>
            </a:extLst>
          </p:cNvPr>
          <p:cNvSpPr txBox="1"/>
          <p:nvPr/>
        </p:nvSpPr>
        <p:spPr>
          <a:xfrm>
            <a:off x="4993927" y="6017854"/>
            <a:ext cx="2954866" cy="369332"/>
          </a:xfrm>
          <a:prstGeom prst="rect">
            <a:avLst/>
          </a:prstGeom>
          <a:noFill/>
        </p:spPr>
        <p:txBody>
          <a:bodyPr wrap="square" rtlCol="0">
            <a:spAutoFit/>
          </a:bodyPr>
          <a:lstStyle/>
          <a:p>
            <a:r>
              <a:rPr lang="es-MX" u="sng" dirty="0">
                <a:solidFill>
                  <a:srgbClr val="FF0000"/>
                </a:solidFill>
              </a:rPr>
              <a:t>PALABRA RESERVADA</a:t>
            </a:r>
          </a:p>
        </p:txBody>
      </p:sp>
      <p:cxnSp>
        <p:nvCxnSpPr>
          <p:cNvPr id="34" name="Conector: angular 33">
            <a:extLst>
              <a:ext uri="{FF2B5EF4-FFF2-40B4-BE49-F238E27FC236}">
                <a16:creationId xmlns:a16="http://schemas.microsoft.com/office/drawing/2014/main" id="{F0FD19C0-AA32-39B3-875C-53F24DF6F356}"/>
              </a:ext>
            </a:extLst>
          </p:cNvPr>
          <p:cNvCxnSpPr>
            <a:cxnSpLocks/>
          </p:cNvCxnSpPr>
          <p:nvPr/>
        </p:nvCxnSpPr>
        <p:spPr>
          <a:xfrm rot="5400000" flipH="1" flipV="1">
            <a:off x="4741302" y="4867766"/>
            <a:ext cx="1667935" cy="632245"/>
          </a:xfrm>
          <a:prstGeom prst="bentConnector3">
            <a:avLst>
              <a:gd name="adj1" fmla="val 98731"/>
            </a:avLst>
          </a:prstGeom>
          <a:ln>
            <a:tailEnd type="triangle"/>
          </a:ln>
        </p:spPr>
        <p:style>
          <a:lnRef idx="3">
            <a:schemeClr val="dk1"/>
          </a:lnRef>
          <a:fillRef idx="0">
            <a:schemeClr val="dk1"/>
          </a:fillRef>
          <a:effectRef idx="2">
            <a:schemeClr val="dk1"/>
          </a:effectRef>
          <a:fontRef idx="minor">
            <a:schemeClr val="tx1"/>
          </a:fontRef>
        </p:style>
      </p:cxnSp>
      <p:pic>
        <p:nvPicPr>
          <p:cNvPr id="2" name="Picture 2" descr="Hitoribocchi no OO Seikatsu – terrenceswiff">
            <a:extLst>
              <a:ext uri="{FF2B5EF4-FFF2-40B4-BE49-F238E27FC236}">
                <a16:creationId xmlns:a16="http://schemas.microsoft.com/office/drawing/2014/main" id="{BC0A38BD-0753-0D85-9C38-CDC697FCDA8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6395" b="98256" l="6897" r="96552">
                        <a14:foregroundMark x1="23153" y1="52907" x2="8867" y2="80814"/>
                        <a14:foregroundMark x1="7882" y1="87209" x2="25616" y2="90116"/>
                        <a14:foregroundMark x1="7389" y1="93023" x2="33005" y2="94767"/>
                        <a14:foregroundMark x1="15271" y1="87791" x2="47783" y2="56977"/>
                        <a14:foregroundMark x1="54187" y1="40116" x2="91626" y2="83140"/>
                        <a14:foregroundMark x1="85714" y1="91860" x2="31527" y2="90698"/>
                        <a14:foregroundMark x1="31527" y1="90698" x2="31034" y2="91279"/>
                        <a14:foregroundMark x1="58621" y1="47674" x2="37931" y2="80814"/>
                        <a14:foregroundMark x1="37931" y1="80814" x2="37931" y2="80814"/>
                        <a14:foregroundMark x1="60099" y1="65698" x2="45320" y2="76744"/>
                        <a14:foregroundMark x1="17241" y1="67442" x2="31527" y2="77326"/>
                        <a14:foregroundMark x1="7882" y1="98837" x2="70443" y2="96512"/>
                        <a14:foregroundMark x1="36453" y1="50000" x2="31034" y2="64535"/>
                        <a14:foregroundMark x1="83744" y1="52907" x2="73399" y2="65698"/>
                        <a14:foregroundMark x1="91133" y1="92442" x2="92118" y2="94767"/>
                        <a14:foregroundMark x1="92118" y1="90116" x2="96552" y2="95349"/>
                        <a14:foregroundMark x1="73399" y1="6395" x2="73399" y2="6395"/>
                        <a14:foregroundMark x1="76355" y1="22674" x2="76355" y2="22674"/>
                      </a14:backgroundRemoval>
                    </a14:imgEffect>
                  </a14:imgLayer>
                </a14:imgProps>
              </a:ext>
              <a:ext uri="{28A0092B-C50C-407E-A947-70E740481C1C}">
                <a14:useLocalDpi xmlns:a14="http://schemas.microsoft.com/office/drawing/2010/main" val="0"/>
              </a:ext>
            </a:extLst>
          </a:blip>
          <a:srcRect/>
          <a:stretch>
            <a:fillRect/>
          </a:stretch>
        </p:blipFill>
        <p:spPr bwMode="auto">
          <a:xfrm>
            <a:off x="9427288" y="5234517"/>
            <a:ext cx="1933575" cy="163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427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68949AE-4931-6400-D7CE-EC4609BF87B8}"/>
              </a:ext>
            </a:extLst>
          </p:cNvPr>
          <p:cNvSpPr txBox="1"/>
          <p:nvPr/>
        </p:nvSpPr>
        <p:spPr>
          <a:xfrm>
            <a:off x="382794" y="223520"/>
            <a:ext cx="10722086" cy="594509"/>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Clases</a:t>
            </a:r>
          </a:p>
        </p:txBody>
      </p:sp>
      <p:pic>
        <p:nvPicPr>
          <p:cNvPr id="1028" name="Picture 4" descr="Qué es un objeto en programación?">
            <a:extLst>
              <a:ext uri="{FF2B5EF4-FFF2-40B4-BE49-F238E27FC236}">
                <a16:creationId xmlns:a16="http://schemas.microsoft.com/office/drawing/2014/main" id="{3FB0BB0E-58FC-3930-1FA3-B790AFAD7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28" y="1010868"/>
            <a:ext cx="4219329" cy="1914021"/>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BE7FAD27-D207-3421-41D2-89C02BAF7936}"/>
              </a:ext>
            </a:extLst>
          </p:cNvPr>
          <p:cNvSpPr txBox="1"/>
          <p:nvPr/>
        </p:nvSpPr>
        <p:spPr>
          <a:xfrm>
            <a:off x="1340837" y="2809446"/>
            <a:ext cx="2182450" cy="419654"/>
          </a:xfrm>
          <a:prstGeom prst="rect">
            <a:avLst/>
          </a:prstGeom>
          <a:noFill/>
        </p:spPr>
        <p:txBody>
          <a:bodyPr wrap="square" rtlCol="0">
            <a:spAutoFit/>
          </a:bodyPr>
          <a:lstStyle/>
          <a:p>
            <a:r>
              <a:rPr lang="es-MX" b="1" dirty="0">
                <a:latin typeface="ADLaM Display" panose="02010000000000000000" pitchFamily="2" charset="0"/>
                <a:ea typeface="ADLaM Display" panose="02010000000000000000" pitchFamily="2" charset="0"/>
                <a:cs typeface="ADLaM Display" panose="02010000000000000000" pitchFamily="2" charset="0"/>
              </a:rPr>
              <a:t>Plantilla o Molde</a:t>
            </a:r>
          </a:p>
        </p:txBody>
      </p:sp>
      <p:sp>
        <p:nvSpPr>
          <p:cNvPr id="8" name="Cilindro 7">
            <a:extLst>
              <a:ext uri="{FF2B5EF4-FFF2-40B4-BE49-F238E27FC236}">
                <a16:creationId xmlns:a16="http://schemas.microsoft.com/office/drawing/2014/main" id="{955235B6-E2EF-3E9E-9F98-BC7950E824B5}"/>
              </a:ext>
            </a:extLst>
          </p:cNvPr>
          <p:cNvSpPr/>
          <p:nvPr/>
        </p:nvSpPr>
        <p:spPr>
          <a:xfrm>
            <a:off x="8719374" y="469287"/>
            <a:ext cx="1004141" cy="1038988"/>
          </a:xfrm>
          <a:prstGeom prst="can">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Datos</a:t>
            </a:r>
          </a:p>
        </p:txBody>
      </p:sp>
      <p:sp>
        <p:nvSpPr>
          <p:cNvPr id="9" name="Diagrama de flujo: documento 8">
            <a:extLst>
              <a:ext uri="{FF2B5EF4-FFF2-40B4-BE49-F238E27FC236}">
                <a16:creationId xmlns:a16="http://schemas.microsoft.com/office/drawing/2014/main" id="{694323DF-14B4-91EE-A965-F7A89DC679FB}"/>
              </a:ext>
            </a:extLst>
          </p:cNvPr>
          <p:cNvSpPr/>
          <p:nvPr/>
        </p:nvSpPr>
        <p:spPr>
          <a:xfrm>
            <a:off x="8506105" y="1818161"/>
            <a:ext cx="1430677" cy="1106728"/>
          </a:xfrm>
          <a:prstGeom prst="flowChartDocumen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chemeClr val="tx1"/>
                </a:solidFill>
              </a:rPr>
              <a:t>Operaciones</a:t>
            </a:r>
            <a:endParaRPr lang="es-MX" b="1" dirty="0">
              <a:solidFill>
                <a:schemeClr val="tx1"/>
              </a:solidFill>
            </a:endParaRPr>
          </a:p>
        </p:txBody>
      </p:sp>
      <p:pic>
        <p:nvPicPr>
          <p:cNvPr id="20" name="Imagen 19">
            <a:extLst>
              <a:ext uri="{FF2B5EF4-FFF2-40B4-BE49-F238E27FC236}">
                <a16:creationId xmlns:a16="http://schemas.microsoft.com/office/drawing/2014/main" id="{BA724C71-E5E2-3004-F1D3-2208372255C4}"/>
              </a:ext>
            </a:extLst>
          </p:cNvPr>
          <p:cNvPicPr>
            <a:picLocks noChangeAspect="1"/>
          </p:cNvPicPr>
          <p:nvPr/>
        </p:nvPicPr>
        <p:blipFill rotWithShape="1">
          <a:blip r:embed="rId3"/>
          <a:srcRect l="18055" t="15271" r="52049" b="65000"/>
          <a:stretch/>
        </p:blipFill>
        <p:spPr>
          <a:xfrm>
            <a:off x="4648043" y="1158695"/>
            <a:ext cx="2948690" cy="1185026"/>
          </a:xfrm>
          <a:prstGeom prst="rect">
            <a:avLst/>
          </a:prstGeom>
        </p:spPr>
      </p:pic>
      <p:cxnSp>
        <p:nvCxnSpPr>
          <p:cNvPr id="11" name="Conector: angular 10">
            <a:extLst>
              <a:ext uri="{FF2B5EF4-FFF2-40B4-BE49-F238E27FC236}">
                <a16:creationId xmlns:a16="http://schemas.microsoft.com/office/drawing/2014/main" id="{E8631F96-99AC-DC41-24D7-4E791F30795D}"/>
              </a:ext>
            </a:extLst>
          </p:cNvPr>
          <p:cNvCxnSpPr>
            <a:cxnSpLocks/>
          </p:cNvCxnSpPr>
          <p:nvPr/>
        </p:nvCxnSpPr>
        <p:spPr>
          <a:xfrm rot="10800000" flipV="1">
            <a:off x="6122389" y="1967878"/>
            <a:ext cx="2383716" cy="245081"/>
          </a:xfrm>
          <a:prstGeom prst="bentConnector4">
            <a:avLst>
              <a:gd name="adj1" fmla="val 14604"/>
              <a:gd name="adj2" fmla="val 331772"/>
            </a:avLst>
          </a:prstGeom>
          <a:ln>
            <a:tailEnd type="triangle"/>
          </a:ln>
        </p:spPr>
        <p:style>
          <a:lnRef idx="3">
            <a:schemeClr val="dk1"/>
          </a:lnRef>
          <a:fillRef idx="0">
            <a:schemeClr val="dk1"/>
          </a:fillRef>
          <a:effectRef idx="2">
            <a:schemeClr val="dk1"/>
          </a:effectRef>
          <a:fontRef idx="minor">
            <a:schemeClr val="tx1"/>
          </a:fontRef>
        </p:style>
      </p:cxnSp>
      <p:cxnSp>
        <p:nvCxnSpPr>
          <p:cNvPr id="15" name="Conector: angular 14">
            <a:extLst>
              <a:ext uri="{FF2B5EF4-FFF2-40B4-BE49-F238E27FC236}">
                <a16:creationId xmlns:a16="http://schemas.microsoft.com/office/drawing/2014/main" id="{1A6AD9BF-C892-3914-841F-38E6FB0DD901}"/>
              </a:ext>
            </a:extLst>
          </p:cNvPr>
          <p:cNvCxnSpPr>
            <a:cxnSpLocks/>
            <a:stCxn id="8" idx="2"/>
          </p:cNvCxnSpPr>
          <p:nvPr/>
        </p:nvCxnSpPr>
        <p:spPr>
          <a:xfrm rot="10800000" flipV="1">
            <a:off x="6512605" y="988780"/>
            <a:ext cx="2206770" cy="339831"/>
          </a:xfrm>
          <a:prstGeom prst="bentConnector3">
            <a:avLst>
              <a:gd name="adj1" fmla="val 100058"/>
            </a:avLst>
          </a:prstGeom>
          <a:ln>
            <a:tailEnd type="triangle"/>
          </a:ln>
        </p:spPr>
        <p:style>
          <a:lnRef idx="3">
            <a:schemeClr val="dk1"/>
          </a:lnRef>
          <a:fillRef idx="0">
            <a:schemeClr val="dk1"/>
          </a:fillRef>
          <a:effectRef idx="2">
            <a:schemeClr val="dk1"/>
          </a:effectRef>
          <a:fontRef idx="minor">
            <a:schemeClr val="tx1"/>
          </a:fontRef>
        </p:style>
      </p:cxnSp>
      <p:sp>
        <p:nvSpPr>
          <p:cNvPr id="22" name="CuadroTexto 21">
            <a:extLst>
              <a:ext uri="{FF2B5EF4-FFF2-40B4-BE49-F238E27FC236}">
                <a16:creationId xmlns:a16="http://schemas.microsoft.com/office/drawing/2014/main" id="{726BE8DC-6297-1CB7-11E3-486CCC223754}"/>
              </a:ext>
            </a:extLst>
          </p:cNvPr>
          <p:cNvSpPr txBox="1"/>
          <p:nvPr/>
        </p:nvSpPr>
        <p:spPr>
          <a:xfrm>
            <a:off x="417114" y="3768008"/>
            <a:ext cx="4029892" cy="734394"/>
          </a:xfrm>
          <a:prstGeom prst="rect">
            <a:avLst/>
          </a:prstGeom>
          <a:noFill/>
          <a:ln>
            <a:solidFill>
              <a:schemeClr val="accent1"/>
            </a:solidFill>
          </a:ln>
        </p:spPr>
        <p:txBody>
          <a:bodyPr wrap="square">
            <a:spAutoFit/>
          </a:bodyPr>
          <a:lstStyle/>
          <a:p>
            <a:pPr algn="ctr"/>
            <a:r>
              <a:rPr lang="es-MX" dirty="0">
                <a:latin typeface="ADLaM Display" panose="02010000000000000000" pitchFamily="2" charset="0"/>
                <a:ea typeface="ADLaM Display" panose="02010000000000000000" pitchFamily="2" charset="0"/>
                <a:cs typeface="ADLaM Display" panose="02010000000000000000" pitchFamily="2" charset="0"/>
              </a:rPr>
              <a:t>C</a:t>
            </a:r>
            <a:r>
              <a:rPr lang="es-MX" b="0" i="0" dirty="0">
                <a:effectLst/>
                <a:latin typeface="ADLaM Display" panose="02010000000000000000" pitchFamily="2" charset="0"/>
                <a:ea typeface="ADLaM Display" panose="02010000000000000000" pitchFamily="2" charset="0"/>
                <a:cs typeface="ADLaM Display" panose="02010000000000000000" pitchFamily="2" charset="0"/>
              </a:rPr>
              <a:t>rear múltiples objetos (instancias) basados en esa clase</a:t>
            </a:r>
            <a:endParaRPr lang="es-MX"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24" name="Conector recto de flecha 23">
            <a:extLst>
              <a:ext uri="{FF2B5EF4-FFF2-40B4-BE49-F238E27FC236}">
                <a16:creationId xmlns:a16="http://schemas.microsoft.com/office/drawing/2014/main" id="{37759BE1-2EA2-38B1-2F15-F64EDF761E41}"/>
              </a:ext>
            </a:extLst>
          </p:cNvPr>
          <p:cNvCxnSpPr>
            <a:cxnSpLocks/>
            <a:stCxn id="5" idx="2"/>
            <a:endCxn id="22" idx="0"/>
          </p:cNvCxnSpPr>
          <p:nvPr/>
        </p:nvCxnSpPr>
        <p:spPr>
          <a:xfrm flipH="1">
            <a:off x="2432061" y="3229100"/>
            <a:ext cx="1" cy="5389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 name="CuadroTexto 29">
            <a:extLst>
              <a:ext uri="{FF2B5EF4-FFF2-40B4-BE49-F238E27FC236}">
                <a16:creationId xmlns:a16="http://schemas.microsoft.com/office/drawing/2014/main" id="{D50BBBE5-CA00-B309-8140-54C276350275}"/>
              </a:ext>
            </a:extLst>
          </p:cNvPr>
          <p:cNvSpPr txBox="1"/>
          <p:nvPr/>
        </p:nvSpPr>
        <p:spPr>
          <a:xfrm>
            <a:off x="417114" y="5153326"/>
            <a:ext cx="4029892" cy="734394"/>
          </a:xfrm>
          <a:prstGeom prst="rect">
            <a:avLst/>
          </a:prstGeom>
          <a:noFill/>
          <a:ln>
            <a:solidFill>
              <a:schemeClr val="accent1"/>
            </a:solidFill>
          </a:ln>
        </p:spPr>
        <p:txBody>
          <a:bodyPr wrap="square">
            <a:spAutoFit/>
          </a:bodyPr>
          <a:lstStyle/>
          <a:p>
            <a:pPr algn="ctr"/>
            <a:r>
              <a:rPr lang="es-MX" dirty="0">
                <a:latin typeface="ADLaM Display" panose="02010000000000000000" pitchFamily="2" charset="0"/>
                <a:ea typeface="ADLaM Display" panose="02010000000000000000" pitchFamily="2" charset="0"/>
                <a:cs typeface="ADLaM Display" panose="02010000000000000000" pitchFamily="2" charset="0"/>
              </a:rPr>
              <a:t>Cada objeto tendrá sus propios valores de atributos</a:t>
            </a:r>
          </a:p>
        </p:txBody>
      </p:sp>
      <p:sp>
        <p:nvSpPr>
          <p:cNvPr id="31" name="CuadroTexto 30">
            <a:extLst>
              <a:ext uri="{FF2B5EF4-FFF2-40B4-BE49-F238E27FC236}">
                <a16:creationId xmlns:a16="http://schemas.microsoft.com/office/drawing/2014/main" id="{EAF00417-0BF2-FBAA-2588-CF0DC7154ADE}"/>
              </a:ext>
            </a:extLst>
          </p:cNvPr>
          <p:cNvSpPr txBox="1"/>
          <p:nvPr/>
        </p:nvSpPr>
        <p:spPr>
          <a:xfrm>
            <a:off x="6237459" y="5143496"/>
            <a:ext cx="2481915" cy="734394"/>
          </a:xfrm>
          <a:prstGeom prst="rect">
            <a:avLst/>
          </a:prstGeom>
          <a:noFill/>
          <a:ln>
            <a:solidFill>
              <a:schemeClr val="accent1"/>
            </a:solidFill>
          </a:ln>
        </p:spPr>
        <p:txBody>
          <a:bodyPr wrap="square" rtlCol="0">
            <a:spAutoFit/>
          </a:bodyPr>
          <a:lstStyle/>
          <a:p>
            <a:pPr algn="ctr"/>
            <a:r>
              <a:rPr lang="es-MX" b="1" dirty="0">
                <a:latin typeface="ADLaM Display" panose="02010000000000000000" pitchFamily="2" charset="0"/>
                <a:ea typeface="ADLaM Display" panose="02010000000000000000" pitchFamily="2" charset="0"/>
                <a:cs typeface="ADLaM Display" panose="02010000000000000000" pitchFamily="2" charset="0"/>
              </a:rPr>
              <a:t>Comparten la misma estructura</a:t>
            </a:r>
          </a:p>
        </p:txBody>
      </p:sp>
      <p:cxnSp>
        <p:nvCxnSpPr>
          <p:cNvPr id="33" name="Conector recto de flecha 32">
            <a:extLst>
              <a:ext uri="{FF2B5EF4-FFF2-40B4-BE49-F238E27FC236}">
                <a16:creationId xmlns:a16="http://schemas.microsoft.com/office/drawing/2014/main" id="{E77595E8-AE65-7762-95DA-CFB1E8824AEF}"/>
              </a:ext>
            </a:extLst>
          </p:cNvPr>
          <p:cNvCxnSpPr>
            <a:stCxn id="30" idx="3"/>
            <a:endCxn id="31" idx="1"/>
          </p:cNvCxnSpPr>
          <p:nvPr/>
        </p:nvCxnSpPr>
        <p:spPr>
          <a:xfrm flipV="1">
            <a:off x="4447007" y="5510694"/>
            <a:ext cx="1790452" cy="983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Conector recto de flecha 34">
            <a:extLst>
              <a:ext uri="{FF2B5EF4-FFF2-40B4-BE49-F238E27FC236}">
                <a16:creationId xmlns:a16="http://schemas.microsoft.com/office/drawing/2014/main" id="{3515BA35-841F-68D4-52BC-AC527F9206A6}"/>
              </a:ext>
            </a:extLst>
          </p:cNvPr>
          <p:cNvCxnSpPr>
            <a:cxnSpLocks/>
            <a:stCxn id="31" idx="0"/>
          </p:cNvCxnSpPr>
          <p:nvPr/>
        </p:nvCxnSpPr>
        <p:spPr>
          <a:xfrm flipV="1">
            <a:off x="7478416" y="3768008"/>
            <a:ext cx="0" cy="137548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6" name="Cerrar llave 35">
            <a:extLst>
              <a:ext uri="{FF2B5EF4-FFF2-40B4-BE49-F238E27FC236}">
                <a16:creationId xmlns:a16="http://schemas.microsoft.com/office/drawing/2014/main" id="{FE86323B-1839-E8B9-9616-F3D2708BD9A5}"/>
              </a:ext>
            </a:extLst>
          </p:cNvPr>
          <p:cNvSpPr/>
          <p:nvPr/>
        </p:nvSpPr>
        <p:spPr>
          <a:xfrm rot="5400000">
            <a:off x="7406951" y="975857"/>
            <a:ext cx="142930" cy="5217620"/>
          </a:xfrm>
          <a:prstGeom prst="rightBrace">
            <a:avLst>
              <a:gd name="adj1" fmla="val 8333"/>
              <a:gd name="adj2" fmla="val 50101"/>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cxnSp>
        <p:nvCxnSpPr>
          <p:cNvPr id="41" name="Conector recto de flecha 40">
            <a:extLst>
              <a:ext uri="{FF2B5EF4-FFF2-40B4-BE49-F238E27FC236}">
                <a16:creationId xmlns:a16="http://schemas.microsoft.com/office/drawing/2014/main" id="{CF15FA0C-8BD7-DCC1-052B-855769D12996}"/>
              </a:ext>
            </a:extLst>
          </p:cNvPr>
          <p:cNvCxnSpPr>
            <a:stCxn id="22" idx="2"/>
            <a:endCxn id="30" idx="0"/>
          </p:cNvCxnSpPr>
          <p:nvPr/>
        </p:nvCxnSpPr>
        <p:spPr>
          <a:xfrm>
            <a:off x="2432061" y="4502402"/>
            <a:ext cx="0" cy="6509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030" name="Picture 6" descr="Hitori Bocchi (2)">
            <a:extLst>
              <a:ext uri="{FF2B5EF4-FFF2-40B4-BE49-F238E27FC236}">
                <a16:creationId xmlns:a16="http://schemas.microsoft.com/office/drawing/2014/main" id="{C8588237-4A36-9128-B77B-5674FA7A285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401" t="36087" r="17567" b="35177"/>
          <a:stretch/>
        </p:blipFill>
        <p:spPr bwMode="auto">
          <a:xfrm>
            <a:off x="0" y="5974081"/>
            <a:ext cx="1908179" cy="883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770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889AC6-29EB-9134-D859-CDF16671A235}"/>
              </a:ext>
            </a:extLst>
          </p:cNvPr>
          <p:cNvSpPr>
            <a:spLocks noGrp="1"/>
          </p:cNvSpPr>
          <p:nvPr>
            <p:ph type="title"/>
          </p:nvPr>
        </p:nvSpPr>
        <p:spPr>
          <a:xfrm>
            <a:off x="215392" y="182880"/>
            <a:ext cx="9692640" cy="827722"/>
          </a:xfrm>
        </p:spPr>
        <p:txBody>
          <a:bodyPr/>
          <a:lstStyle/>
          <a:p>
            <a:r>
              <a:rPr lang="es-MX" dirty="0">
                <a:latin typeface="ADLaM Display" panose="02010000000000000000" pitchFamily="2" charset="0"/>
                <a:ea typeface="ADLaM Display" panose="02010000000000000000" pitchFamily="2" charset="0"/>
                <a:cs typeface="ADLaM Display" panose="02010000000000000000" pitchFamily="2" charset="0"/>
              </a:rPr>
              <a:t>Ejemplo de clases</a:t>
            </a:r>
          </a:p>
        </p:txBody>
      </p:sp>
      <p:pic>
        <p:nvPicPr>
          <p:cNvPr id="3078" name="Picture 6" descr="Generador de diagramas de clase UML con JavaScript - Parzibyte's blog">
            <a:extLst>
              <a:ext uri="{FF2B5EF4-FFF2-40B4-BE49-F238E27FC236}">
                <a16:creationId xmlns:a16="http://schemas.microsoft.com/office/drawing/2014/main" id="{25070A51-D0CC-1B1C-5D89-2C644172A2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5" y="1374457"/>
            <a:ext cx="4644390" cy="261633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erro blanco, perro cachorro de dibujos animados, perros, blanco, gato como  mamífero, animales png | Klipartz">
            <a:extLst>
              <a:ext uri="{FF2B5EF4-FFF2-40B4-BE49-F238E27FC236}">
                <a16:creationId xmlns:a16="http://schemas.microsoft.com/office/drawing/2014/main" id="{814FE7B6-55C1-E9C3-24F2-AAADA515932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4003" b="94556" l="7416" r="95056">
                        <a14:foregroundMark x1="64607" y1="13291" x2="50674" y2="63331"/>
                        <a14:foregroundMark x1="50674" y1="63331" x2="50337" y2="63811"/>
                        <a14:foregroundMark x1="52697" y1="30504" x2="33708" y2="80384"/>
                        <a14:foregroundMark x1="73596" y1="38911" x2="56292" y2="81185"/>
                        <a14:foregroundMark x1="56292" y1="81185" x2="56292" y2="83667"/>
                        <a14:foregroundMark x1="78090" y1="94556" x2="20112" y2="87670"/>
                        <a14:foregroundMark x1="7640" y1="75741" x2="7640" y2="75741"/>
                        <a14:foregroundMark x1="80674" y1="88871" x2="66067" y2="83507"/>
                        <a14:foregroundMark x1="67303" y1="67494" x2="67303" y2="69896"/>
                        <a14:foregroundMark x1="89101" y1="26181" x2="74719" y2="35709"/>
                        <a14:foregroundMark x1="76180" y1="11289" x2="32809" y2="19376"/>
                        <a14:foregroundMark x1="20112" y1="18094" x2="29775" y2="21377"/>
                        <a14:foregroundMark x1="29775" y1="21377" x2="39551" y2="27382"/>
                        <a14:foregroundMark x1="70337" y1="4163" x2="80337" y2="15933"/>
                        <a14:foregroundMark x1="90225" y1="30264" x2="89663" y2="38831"/>
                        <a14:foregroundMark x1="89663" y1="38831" x2="91798" y2="39392"/>
                        <a14:foregroundMark x1="73371" y1="25941" x2="69551" y2="17854"/>
                        <a14:foregroundMark x1="95056" y1="30184" x2="95056" y2="29223"/>
                      </a14:backgroundRemoval>
                    </a14:imgEffect>
                  </a14:imgLayer>
                </a14:imgProps>
              </a:ext>
              <a:ext uri="{28A0092B-C50C-407E-A947-70E740481C1C}">
                <a14:useLocalDpi xmlns:a14="http://schemas.microsoft.com/office/drawing/2010/main" val="0"/>
              </a:ext>
            </a:extLst>
          </a:blip>
          <a:srcRect/>
          <a:stretch>
            <a:fillRect/>
          </a:stretch>
        </p:blipFill>
        <p:spPr bwMode="auto">
          <a:xfrm>
            <a:off x="2123759" y="4354653"/>
            <a:ext cx="1488122" cy="2088592"/>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B436A155-14D0-2A62-0377-D8BE04F4BB35}"/>
              </a:ext>
            </a:extLst>
          </p:cNvPr>
          <p:cNvSpPr/>
          <p:nvPr/>
        </p:nvSpPr>
        <p:spPr>
          <a:xfrm>
            <a:off x="571500" y="1466850"/>
            <a:ext cx="2259330" cy="4381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dirty="0">
                <a:solidFill>
                  <a:schemeClr val="tx1"/>
                </a:solidFill>
                <a:latin typeface="Abadi" panose="020B0604020104020204" pitchFamily="34" charset="0"/>
                <a:cs typeface="Aharoni" panose="02010803020104030203" pitchFamily="2" charset="-79"/>
              </a:rPr>
              <a:t>PERRO	</a:t>
            </a:r>
            <a:endParaRPr lang="es-MX" dirty="0">
              <a:solidFill>
                <a:schemeClr val="tx1"/>
              </a:solidFill>
              <a:latin typeface="Abadi" panose="020B0604020104020204" pitchFamily="34" charset="0"/>
              <a:cs typeface="Aharoni" panose="02010803020104030203" pitchFamily="2" charset="-79"/>
            </a:endParaRPr>
          </a:p>
        </p:txBody>
      </p:sp>
      <p:pic>
        <p:nvPicPr>
          <p:cNvPr id="3082" name="Picture 10" descr="Relaciones en Diagramas de clases UML">
            <a:extLst>
              <a:ext uri="{FF2B5EF4-FFF2-40B4-BE49-F238E27FC236}">
                <a16:creationId xmlns:a16="http://schemas.microsoft.com/office/drawing/2014/main" id="{2B6CDFCF-C5E4-2DA2-99F9-EB5AD9DF50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5890" y="899929"/>
            <a:ext cx="5621782" cy="3565393"/>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Persona - Iconos gratis de usuario">
            <a:extLst>
              <a:ext uri="{FF2B5EF4-FFF2-40B4-BE49-F238E27FC236}">
                <a16:creationId xmlns:a16="http://schemas.microsoft.com/office/drawing/2014/main" id="{155DEE69-7ED2-9151-B8B8-ED543C5C77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8998" y="4299030"/>
            <a:ext cx="2291787" cy="2291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513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5E6F8F-3FA3-FAF7-C383-CD459501612A}"/>
              </a:ext>
            </a:extLst>
          </p:cNvPr>
          <p:cNvSpPr txBox="1"/>
          <p:nvPr/>
        </p:nvSpPr>
        <p:spPr>
          <a:xfrm>
            <a:off x="334433" y="855134"/>
            <a:ext cx="4055534" cy="369332"/>
          </a:xfrm>
          <a:prstGeom prst="rect">
            <a:avLst/>
          </a:prstGeom>
          <a:noFill/>
        </p:spPr>
        <p:txBody>
          <a:bodyPr wrap="square" rtlCol="0">
            <a:spAutoFit/>
          </a:bodyPr>
          <a:lstStyle/>
          <a:p>
            <a:r>
              <a:rPr lang="es-MX" b="1" dirty="0"/>
              <a:t>MIEMBROS DE UNA CLASE</a:t>
            </a:r>
            <a:r>
              <a:rPr lang="es-MX" dirty="0"/>
              <a:t> </a:t>
            </a:r>
          </a:p>
        </p:txBody>
      </p:sp>
      <p:sp>
        <p:nvSpPr>
          <p:cNvPr id="6" name="CuadroTexto 5">
            <a:extLst>
              <a:ext uri="{FF2B5EF4-FFF2-40B4-BE49-F238E27FC236}">
                <a16:creationId xmlns:a16="http://schemas.microsoft.com/office/drawing/2014/main" id="{64DD0F28-EE5C-DB8B-687F-BF1B81F04FF4}"/>
              </a:ext>
            </a:extLst>
          </p:cNvPr>
          <p:cNvSpPr txBox="1"/>
          <p:nvPr/>
        </p:nvSpPr>
        <p:spPr>
          <a:xfrm>
            <a:off x="334433" y="1265766"/>
            <a:ext cx="6002867" cy="2585323"/>
          </a:xfrm>
          <a:prstGeom prst="rect">
            <a:avLst/>
          </a:prstGeom>
          <a:noFill/>
        </p:spPr>
        <p:txBody>
          <a:bodyPr wrap="square" rtlCol="0">
            <a:spAutoFit/>
          </a:bodyPr>
          <a:lstStyle/>
          <a:p>
            <a:pPr marL="342900" indent="-342900">
              <a:buFont typeface="+mj-lt"/>
              <a:buAutoNum type="alphaLcParenR"/>
            </a:pPr>
            <a:r>
              <a:rPr lang="es-MX" dirty="0"/>
              <a:t>Pueden incluir variables( para almacenar datos)</a:t>
            </a:r>
          </a:p>
          <a:p>
            <a:pPr marL="742950" lvl="1" indent="-285750">
              <a:buFont typeface="Arial" panose="020B0604020202020204" pitchFamily="34" charset="0"/>
              <a:buChar char="•"/>
            </a:pPr>
            <a:r>
              <a:rPr lang="es-MX" dirty="0"/>
              <a:t>Declaradas como siempre </a:t>
            </a:r>
          </a:p>
          <a:p>
            <a:pPr marL="742950" lvl="1" indent="-285750">
              <a:buFont typeface="Arial" panose="020B0604020202020204" pitchFamily="34" charset="0"/>
              <a:buChar char="•"/>
            </a:pPr>
            <a:r>
              <a:rPr lang="es-MX" u="sng" dirty="0">
                <a:solidFill>
                  <a:srgbClr val="FF0000"/>
                </a:solidFill>
              </a:rPr>
              <a:t>No se pueden inicializar</a:t>
            </a:r>
          </a:p>
          <a:p>
            <a:pPr marL="342900" indent="-342900">
              <a:buFont typeface="+mj-lt"/>
              <a:buAutoNum type="alphaLcParenR"/>
            </a:pPr>
            <a:r>
              <a:rPr lang="es-MX" dirty="0"/>
              <a:t>Pueden incluir funciones</a:t>
            </a:r>
          </a:p>
          <a:p>
            <a:pPr marL="742950" lvl="1" indent="-285750">
              <a:buFont typeface="Arial" panose="020B0604020202020204" pitchFamily="34" charset="0"/>
              <a:buChar char="•"/>
            </a:pPr>
            <a:r>
              <a:rPr lang="es-MX" dirty="0"/>
              <a:t>Por lo general es el prototipo </a:t>
            </a:r>
          </a:p>
          <a:p>
            <a:pPr marL="742950" lvl="1" indent="-285750">
              <a:buFont typeface="Arial" panose="020B0604020202020204" pitchFamily="34" charset="0"/>
              <a:buChar char="•"/>
            </a:pPr>
            <a:r>
              <a:rPr lang="es-MX" dirty="0"/>
              <a:t>Acceso a todos los miembros dentro de la clase bajo ciertas condiciones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p:txBody>
      </p:sp>
      <p:pic>
        <p:nvPicPr>
          <p:cNvPr id="11" name="Imagen 10">
            <a:extLst>
              <a:ext uri="{FF2B5EF4-FFF2-40B4-BE49-F238E27FC236}">
                <a16:creationId xmlns:a16="http://schemas.microsoft.com/office/drawing/2014/main" id="{52453119-F3CE-5B0A-DF8E-B8DFF02638F6}"/>
              </a:ext>
            </a:extLst>
          </p:cNvPr>
          <p:cNvPicPr>
            <a:picLocks noChangeAspect="1"/>
          </p:cNvPicPr>
          <p:nvPr/>
        </p:nvPicPr>
        <p:blipFill rotWithShape="1">
          <a:blip r:embed="rId2"/>
          <a:srcRect l="15278" t="15618" r="58750" b="31420"/>
          <a:stretch/>
        </p:blipFill>
        <p:spPr>
          <a:xfrm>
            <a:off x="6637867" y="228600"/>
            <a:ext cx="3166533" cy="3632201"/>
          </a:xfrm>
          <a:prstGeom prst="rect">
            <a:avLst/>
          </a:prstGeom>
        </p:spPr>
      </p:pic>
      <p:pic>
        <p:nvPicPr>
          <p:cNvPr id="13" name="Imagen 12">
            <a:extLst>
              <a:ext uri="{FF2B5EF4-FFF2-40B4-BE49-F238E27FC236}">
                <a16:creationId xmlns:a16="http://schemas.microsoft.com/office/drawing/2014/main" id="{2405ADF9-7DF0-1411-05E9-06B7E0B6CB34}"/>
              </a:ext>
            </a:extLst>
          </p:cNvPr>
          <p:cNvPicPr>
            <a:picLocks noChangeAspect="1"/>
          </p:cNvPicPr>
          <p:nvPr/>
        </p:nvPicPr>
        <p:blipFill>
          <a:blip r:embed="rId3"/>
          <a:stretch>
            <a:fillRect/>
          </a:stretch>
        </p:blipFill>
        <p:spPr>
          <a:xfrm>
            <a:off x="122767" y="5384799"/>
            <a:ext cx="1363133" cy="1363133"/>
          </a:xfrm>
          <a:prstGeom prst="rect">
            <a:avLst/>
          </a:prstGeom>
        </p:spPr>
      </p:pic>
      <p:sp>
        <p:nvSpPr>
          <p:cNvPr id="15" name="Nube 14">
            <a:extLst>
              <a:ext uri="{FF2B5EF4-FFF2-40B4-BE49-F238E27FC236}">
                <a16:creationId xmlns:a16="http://schemas.microsoft.com/office/drawing/2014/main" id="{39473E84-B091-8530-9C98-B29DB05C120B}"/>
              </a:ext>
            </a:extLst>
          </p:cNvPr>
          <p:cNvSpPr/>
          <p:nvPr/>
        </p:nvSpPr>
        <p:spPr>
          <a:xfrm>
            <a:off x="967741" y="4043678"/>
            <a:ext cx="2280073" cy="1320801"/>
          </a:xfrm>
          <a:prstGeom prst="cloud">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¿Qué otras características tienen las clases?</a:t>
            </a:r>
          </a:p>
        </p:txBody>
      </p:sp>
      <p:pic>
        <p:nvPicPr>
          <p:cNvPr id="1028" name="Picture 4" descr="pilas estructura de datos | Teoría de Algoritmos">
            <a:extLst>
              <a:ext uri="{FF2B5EF4-FFF2-40B4-BE49-F238E27FC236}">
                <a16:creationId xmlns:a16="http://schemas.microsoft.com/office/drawing/2014/main" id="{DFE765DC-A2C3-652E-101B-CB54A89D628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824" t="40443" r="19743" b="3368"/>
          <a:stretch/>
        </p:blipFill>
        <p:spPr bwMode="auto">
          <a:xfrm>
            <a:off x="9152467" y="4089398"/>
            <a:ext cx="1591734" cy="2065867"/>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n 15">
            <a:extLst>
              <a:ext uri="{FF2B5EF4-FFF2-40B4-BE49-F238E27FC236}">
                <a16:creationId xmlns:a16="http://schemas.microsoft.com/office/drawing/2014/main" id="{7D2BB596-7051-967E-FCD0-7520078A04C2}"/>
              </a:ext>
            </a:extLst>
          </p:cNvPr>
          <p:cNvPicPr>
            <a:picLocks noChangeAspect="1"/>
          </p:cNvPicPr>
          <p:nvPr/>
        </p:nvPicPr>
        <p:blipFill rotWithShape="1">
          <a:blip r:embed="rId2"/>
          <a:srcRect l="18889" t="40988" r="64028" b="55308"/>
          <a:stretch/>
        </p:blipFill>
        <p:spPr>
          <a:xfrm>
            <a:off x="6460067" y="5414430"/>
            <a:ext cx="2082802" cy="254001"/>
          </a:xfrm>
          <a:prstGeom prst="rect">
            <a:avLst/>
          </a:prstGeom>
        </p:spPr>
      </p:pic>
      <p:cxnSp>
        <p:nvCxnSpPr>
          <p:cNvPr id="18" name="Conector: curvado 17">
            <a:extLst>
              <a:ext uri="{FF2B5EF4-FFF2-40B4-BE49-F238E27FC236}">
                <a16:creationId xmlns:a16="http://schemas.microsoft.com/office/drawing/2014/main" id="{273A4F19-C36D-63A0-8253-C0C0C1B8223C}"/>
              </a:ext>
            </a:extLst>
          </p:cNvPr>
          <p:cNvCxnSpPr>
            <a:stCxn id="16" idx="0"/>
          </p:cNvCxnSpPr>
          <p:nvPr/>
        </p:nvCxnSpPr>
        <p:spPr>
          <a:xfrm rot="5400000" flipH="1" flipV="1">
            <a:off x="7871885" y="4197349"/>
            <a:ext cx="846664" cy="158749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7EAF5354-9E25-2946-DBA8-2ACAC7A8789C}"/>
              </a:ext>
            </a:extLst>
          </p:cNvPr>
          <p:cNvSpPr txBox="1"/>
          <p:nvPr/>
        </p:nvSpPr>
        <p:spPr>
          <a:xfrm>
            <a:off x="9215967" y="6101601"/>
            <a:ext cx="1591734" cy="646331"/>
          </a:xfrm>
          <a:prstGeom prst="rect">
            <a:avLst/>
          </a:prstGeom>
          <a:noFill/>
        </p:spPr>
        <p:txBody>
          <a:bodyPr wrap="square" rtlCol="0">
            <a:spAutoFit/>
          </a:bodyPr>
          <a:lstStyle/>
          <a:p>
            <a:pPr algn="ctr"/>
            <a:r>
              <a:rPr lang="es-MX" dirty="0"/>
              <a:t>Stack</a:t>
            </a:r>
          </a:p>
          <a:p>
            <a:pPr algn="ctr"/>
            <a:r>
              <a:rPr lang="es-MX" dirty="0"/>
              <a:t>Memoria</a:t>
            </a:r>
          </a:p>
        </p:txBody>
      </p:sp>
      <p:cxnSp>
        <p:nvCxnSpPr>
          <p:cNvPr id="21" name="Conector: curvado 20">
            <a:extLst>
              <a:ext uri="{FF2B5EF4-FFF2-40B4-BE49-F238E27FC236}">
                <a16:creationId xmlns:a16="http://schemas.microsoft.com/office/drawing/2014/main" id="{D0AF2CBD-8245-CC84-58D7-D97A9CC858B3}"/>
              </a:ext>
            </a:extLst>
          </p:cNvPr>
          <p:cNvCxnSpPr>
            <a:stCxn id="11" idx="2"/>
          </p:cNvCxnSpPr>
          <p:nvPr/>
        </p:nvCxnSpPr>
        <p:spPr>
          <a:xfrm rot="16200000" flipH="1">
            <a:off x="8343901" y="3738033"/>
            <a:ext cx="584199" cy="8297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Art 45 CFF Copias certificadas contabilidad">
            <a:extLst>
              <a:ext uri="{FF2B5EF4-FFF2-40B4-BE49-F238E27FC236}">
                <a16:creationId xmlns:a16="http://schemas.microsoft.com/office/drawing/2014/main" id="{C6E79C0F-7B2A-75E2-C8BD-0C72679CD8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V="1">
            <a:off x="8369302" y="4152899"/>
            <a:ext cx="173567" cy="173567"/>
          </a:xfrm>
          <a:prstGeom prst="rect">
            <a:avLst/>
          </a:prstGeom>
          <a:noFill/>
          <a:extLst>
            <a:ext uri="{909E8E84-426E-40DD-AFC4-6F175D3DCCD1}">
              <a14:hiddenFill xmlns:a14="http://schemas.microsoft.com/office/drawing/2010/main">
                <a:solidFill>
                  <a:srgbClr val="FFFFFF"/>
                </a:solidFill>
              </a14:hiddenFill>
            </a:ext>
          </a:extLst>
        </p:spPr>
      </p:pic>
      <p:sp>
        <p:nvSpPr>
          <p:cNvPr id="23" name="CuadroTexto 22">
            <a:extLst>
              <a:ext uri="{FF2B5EF4-FFF2-40B4-BE49-F238E27FC236}">
                <a16:creationId xmlns:a16="http://schemas.microsoft.com/office/drawing/2014/main" id="{F03C6F41-0D88-9525-3BDF-454E5FEE768D}"/>
              </a:ext>
            </a:extLst>
          </p:cNvPr>
          <p:cNvSpPr txBox="1"/>
          <p:nvPr/>
        </p:nvSpPr>
        <p:spPr>
          <a:xfrm>
            <a:off x="4140200" y="4162113"/>
            <a:ext cx="2840567" cy="1477328"/>
          </a:xfrm>
          <a:prstGeom prst="rect">
            <a:avLst/>
          </a:prstGeom>
          <a:noFill/>
        </p:spPr>
        <p:txBody>
          <a:bodyPr wrap="square" rtlCol="0">
            <a:spAutoFit/>
          </a:bodyPr>
          <a:lstStyle/>
          <a:p>
            <a:pPr marL="285750" indent="-285750" algn="ctr">
              <a:buFont typeface="Arial" panose="020B0604020202020204" pitchFamily="34" charset="0"/>
              <a:buChar char="•"/>
            </a:pPr>
            <a:r>
              <a:rPr lang="es-MX" b="1" u="sng" dirty="0"/>
              <a:t>Identificador de tipo de datos</a:t>
            </a:r>
          </a:p>
          <a:p>
            <a:pPr marL="285750" indent="-285750" algn="ctr">
              <a:buFont typeface="Arial" panose="020B0604020202020204" pitchFamily="34" charset="0"/>
              <a:buChar char="•"/>
            </a:pPr>
            <a:r>
              <a:rPr lang="es-MX" b="1" u="sng" dirty="0"/>
              <a:t>Plantilla</a:t>
            </a:r>
          </a:p>
          <a:p>
            <a:pPr marL="285750" indent="-285750" algn="ctr">
              <a:buFont typeface="Arial" panose="020B0604020202020204" pitchFamily="34" charset="0"/>
              <a:buChar char="•"/>
            </a:pPr>
            <a:r>
              <a:rPr lang="es-MX" b="1" u="sng" dirty="0"/>
              <a:t>Sin memoria asignada</a:t>
            </a:r>
          </a:p>
        </p:txBody>
      </p:sp>
      <p:sp>
        <p:nvSpPr>
          <p:cNvPr id="24" name="Diagrama de flujo: conector 23">
            <a:extLst>
              <a:ext uri="{FF2B5EF4-FFF2-40B4-BE49-F238E27FC236}">
                <a16:creationId xmlns:a16="http://schemas.microsoft.com/office/drawing/2014/main" id="{B175E4DC-2C82-547D-B553-509BD81D198A}"/>
              </a:ext>
            </a:extLst>
          </p:cNvPr>
          <p:cNvSpPr/>
          <p:nvPr/>
        </p:nvSpPr>
        <p:spPr>
          <a:xfrm>
            <a:off x="6565903" y="3399366"/>
            <a:ext cx="381000" cy="465667"/>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errar llave 1">
            <a:extLst>
              <a:ext uri="{FF2B5EF4-FFF2-40B4-BE49-F238E27FC236}">
                <a16:creationId xmlns:a16="http://schemas.microsoft.com/office/drawing/2014/main" id="{720CFF84-675A-2EE5-D22B-4EEE52A95CC0}"/>
              </a:ext>
            </a:extLst>
          </p:cNvPr>
          <p:cNvSpPr/>
          <p:nvPr/>
        </p:nvSpPr>
        <p:spPr>
          <a:xfrm>
            <a:off x="9738360" y="1163320"/>
            <a:ext cx="254000" cy="129032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0" name="Cerrar llave 9">
            <a:extLst>
              <a:ext uri="{FF2B5EF4-FFF2-40B4-BE49-F238E27FC236}">
                <a16:creationId xmlns:a16="http://schemas.microsoft.com/office/drawing/2014/main" id="{CFF12C64-8581-CDE7-39C1-AB3821FB56AD}"/>
              </a:ext>
            </a:extLst>
          </p:cNvPr>
          <p:cNvSpPr/>
          <p:nvPr/>
        </p:nvSpPr>
        <p:spPr>
          <a:xfrm>
            <a:off x="9738360" y="2499361"/>
            <a:ext cx="213360" cy="104648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2" name="CuadroTexto 11">
            <a:extLst>
              <a:ext uri="{FF2B5EF4-FFF2-40B4-BE49-F238E27FC236}">
                <a16:creationId xmlns:a16="http://schemas.microsoft.com/office/drawing/2014/main" id="{F3260508-2375-F89D-9947-D5FDA4BE44F5}"/>
              </a:ext>
            </a:extLst>
          </p:cNvPr>
          <p:cNvSpPr txBox="1"/>
          <p:nvPr/>
        </p:nvSpPr>
        <p:spPr>
          <a:xfrm>
            <a:off x="10104967" y="1576583"/>
            <a:ext cx="1264920" cy="523220"/>
          </a:xfrm>
          <a:prstGeom prst="rect">
            <a:avLst/>
          </a:prstGeom>
          <a:noFill/>
        </p:spPr>
        <p:txBody>
          <a:bodyPr wrap="square" rtlCol="0">
            <a:spAutoFit/>
          </a:bodyPr>
          <a:lstStyle/>
          <a:p>
            <a:r>
              <a:rPr lang="es-MX" sz="1400" dirty="0">
                <a:latin typeface="ADLaM Display" panose="02010000000000000000" pitchFamily="2" charset="0"/>
                <a:ea typeface="ADLaM Display" panose="02010000000000000000" pitchFamily="2" charset="0"/>
                <a:cs typeface="ADLaM Display" panose="02010000000000000000" pitchFamily="2" charset="0"/>
              </a:rPr>
              <a:t>Atributos/</a:t>
            </a:r>
          </a:p>
          <a:p>
            <a:r>
              <a:rPr lang="es-MX" sz="1400" dirty="0">
                <a:latin typeface="ADLaM Display" panose="02010000000000000000" pitchFamily="2" charset="0"/>
                <a:ea typeface="ADLaM Display" panose="02010000000000000000" pitchFamily="2" charset="0"/>
                <a:cs typeface="ADLaM Display" panose="02010000000000000000" pitchFamily="2" charset="0"/>
              </a:rPr>
              <a:t>Propiedades</a:t>
            </a:r>
          </a:p>
        </p:txBody>
      </p:sp>
      <p:sp>
        <p:nvSpPr>
          <p:cNvPr id="14" name="CuadroTexto 13">
            <a:extLst>
              <a:ext uri="{FF2B5EF4-FFF2-40B4-BE49-F238E27FC236}">
                <a16:creationId xmlns:a16="http://schemas.microsoft.com/office/drawing/2014/main" id="{49CA36B6-2C5E-E216-4136-331FEFF8F892}"/>
              </a:ext>
            </a:extLst>
          </p:cNvPr>
          <p:cNvSpPr txBox="1"/>
          <p:nvPr/>
        </p:nvSpPr>
        <p:spPr>
          <a:xfrm>
            <a:off x="10064327" y="2832990"/>
            <a:ext cx="1264920" cy="369332"/>
          </a:xfrm>
          <a:prstGeom prst="rect">
            <a:avLst/>
          </a:prstGeom>
          <a:noFill/>
        </p:spPr>
        <p:txBody>
          <a:bodyPr wrap="square" rtlCol="0">
            <a:spAutoFit/>
          </a:bodyPr>
          <a:lstStyle/>
          <a:p>
            <a:r>
              <a:rPr lang="es-MX" dirty="0">
                <a:latin typeface="ADLaM Display" panose="02010000000000000000" pitchFamily="2" charset="0"/>
                <a:ea typeface="ADLaM Display" panose="02010000000000000000" pitchFamily="2" charset="0"/>
                <a:cs typeface="ADLaM Display" panose="02010000000000000000" pitchFamily="2" charset="0"/>
              </a:rPr>
              <a:t>Métodos</a:t>
            </a:r>
          </a:p>
        </p:txBody>
      </p:sp>
    </p:spTree>
    <p:extLst>
      <p:ext uri="{BB962C8B-B14F-4D97-AF65-F5344CB8AC3E}">
        <p14:creationId xmlns:p14="http://schemas.microsoft.com/office/powerpoint/2010/main" val="1907946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135D69-D90E-A881-AEC5-EBAE0F79DF23}"/>
              </a:ext>
            </a:extLst>
          </p:cNvPr>
          <p:cNvSpPr>
            <a:spLocks noGrp="1"/>
          </p:cNvSpPr>
          <p:nvPr>
            <p:ph type="title"/>
          </p:nvPr>
        </p:nvSpPr>
        <p:spPr>
          <a:xfrm>
            <a:off x="267039" y="192193"/>
            <a:ext cx="9692640" cy="884767"/>
          </a:xfrm>
        </p:spPr>
        <p:txBody>
          <a:bodyPr/>
          <a:lstStyle/>
          <a:p>
            <a:r>
              <a:rPr lang="es-MX" dirty="0"/>
              <a:t>Especificadores de acceso </a:t>
            </a:r>
          </a:p>
        </p:txBody>
      </p:sp>
      <p:sp>
        <p:nvSpPr>
          <p:cNvPr id="4" name="CuadroTexto 3">
            <a:extLst>
              <a:ext uri="{FF2B5EF4-FFF2-40B4-BE49-F238E27FC236}">
                <a16:creationId xmlns:a16="http://schemas.microsoft.com/office/drawing/2014/main" id="{423D3143-CF90-0F1C-7EAB-AE22102F6613}"/>
              </a:ext>
            </a:extLst>
          </p:cNvPr>
          <p:cNvSpPr txBox="1"/>
          <p:nvPr/>
        </p:nvSpPr>
        <p:spPr>
          <a:xfrm>
            <a:off x="362712" y="1858432"/>
            <a:ext cx="1216321" cy="369332"/>
          </a:xfrm>
          <a:prstGeom prst="rect">
            <a:avLst/>
          </a:prstGeom>
          <a:noFill/>
        </p:spPr>
        <p:txBody>
          <a:bodyPr wrap="square" rtlCol="0">
            <a:spAutoFit/>
          </a:bodyPr>
          <a:lstStyle/>
          <a:p>
            <a:r>
              <a:rPr lang="es-MX" b="1" u="sng" dirty="0"/>
              <a:t>private</a:t>
            </a:r>
          </a:p>
        </p:txBody>
      </p:sp>
      <p:sp>
        <p:nvSpPr>
          <p:cNvPr id="5" name="CuadroTexto 4">
            <a:extLst>
              <a:ext uri="{FF2B5EF4-FFF2-40B4-BE49-F238E27FC236}">
                <a16:creationId xmlns:a16="http://schemas.microsoft.com/office/drawing/2014/main" id="{CE5C2057-7CDF-EAD6-3085-2CB7C9D3065A}"/>
              </a:ext>
            </a:extLst>
          </p:cNvPr>
          <p:cNvSpPr txBox="1"/>
          <p:nvPr/>
        </p:nvSpPr>
        <p:spPr>
          <a:xfrm>
            <a:off x="4515613" y="1858432"/>
            <a:ext cx="1127420" cy="369332"/>
          </a:xfrm>
          <a:prstGeom prst="rect">
            <a:avLst/>
          </a:prstGeom>
          <a:noFill/>
        </p:spPr>
        <p:txBody>
          <a:bodyPr wrap="square" rtlCol="0">
            <a:spAutoFit/>
          </a:bodyPr>
          <a:lstStyle/>
          <a:p>
            <a:r>
              <a:rPr lang="es-MX" b="1" u="sng" dirty="0"/>
              <a:t>public</a:t>
            </a:r>
          </a:p>
        </p:txBody>
      </p:sp>
      <p:sp>
        <p:nvSpPr>
          <p:cNvPr id="6" name="CuadroTexto 5">
            <a:extLst>
              <a:ext uri="{FF2B5EF4-FFF2-40B4-BE49-F238E27FC236}">
                <a16:creationId xmlns:a16="http://schemas.microsoft.com/office/drawing/2014/main" id="{3F898E95-6DCE-62F1-2FAC-1EA99029BD2C}"/>
              </a:ext>
            </a:extLst>
          </p:cNvPr>
          <p:cNvSpPr txBox="1"/>
          <p:nvPr/>
        </p:nvSpPr>
        <p:spPr>
          <a:xfrm>
            <a:off x="8541513" y="1858433"/>
            <a:ext cx="1449154" cy="369332"/>
          </a:xfrm>
          <a:prstGeom prst="rect">
            <a:avLst/>
          </a:prstGeom>
          <a:noFill/>
        </p:spPr>
        <p:txBody>
          <a:bodyPr wrap="square" rtlCol="0">
            <a:spAutoFit/>
          </a:bodyPr>
          <a:lstStyle/>
          <a:p>
            <a:r>
              <a:rPr lang="es-MX" b="1" u="sng" dirty="0"/>
              <a:t>protected</a:t>
            </a:r>
          </a:p>
        </p:txBody>
      </p:sp>
      <p:sp>
        <p:nvSpPr>
          <p:cNvPr id="7" name="CuadroTexto 6">
            <a:extLst>
              <a:ext uri="{FF2B5EF4-FFF2-40B4-BE49-F238E27FC236}">
                <a16:creationId xmlns:a16="http://schemas.microsoft.com/office/drawing/2014/main" id="{5C4676E6-0E4D-9679-6DA7-537CFB821ADC}"/>
              </a:ext>
            </a:extLst>
          </p:cNvPr>
          <p:cNvSpPr txBox="1"/>
          <p:nvPr/>
        </p:nvSpPr>
        <p:spPr>
          <a:xfrm>
            <a:off x="362712" y="2658533"/>
            <a:ext cx="10584688" cy="1200329"/>
          </a:xfrm>
          <a:prstGeom prst="rect">
            <a:avLst/>
          </a:prstGeom>
          <a:noFill/>
        </p:spPr>
        <p:txBody>
          <a:bodyPr wrap="square" rtlCol="0">
            <a:spAutoFit/>
          </a:bodyPr>
          <a:lstStyle/>
          <a:p>
            <a:pPr marL="342900" indent="-342900">
              <a:buFont typeface="+mj-lt"/>
              <a:buAutoNum type="alphaLcParenR"/>
            </a:pPr>
            <a:r>
              <a:rPr lang="es-MX" dirty="0"/>
              <a:t>Por defecto todos son private</a:t>
            </a:r>
          </a:p>
          <a:p>
            <a:pPr marL="342900" indent="-342900">
              <a:buFont typeface="+mj-lt"/>
              <a:buAutoNum type="alphaLcParenR"/>
            </a:pPr>
            <a:r>
              <a:rPr lang="es-MX" dirty="0"/>
              <a:t>Ser private implica no ser accesible desde fuera</a:t>
            </a:r>
          </a:p>
          <a:p>
            <a:pPr marL="342900" indent="-342900">
              <a:buFont typeface="+mj-lt"/>
              <a:buAutoNum type="alphaLcParenR"/>
            </a:pPr>
            <a:r>
              <a:rPr lang="es-MX" dirty="0"/>
              <a:t>Ser public implica ser accesible fuera de la clase </a:t>
            </a:r>
          </a:p>
          <a:p>
            <a:pPr marL="342900" indent="-342900">
              <a:buFont typeface="+mj-lt"/>
              <a:buAutoNum type="alphaLcParenR"/>
            </a:pPr>
            <a:r>
              <a:rPr lang="es-MX" dirty="0"/>
              <a:t>private, public y protected son </a:t>
            </a:r>
            <a:r>
              <a:rPr lang="es-MX" dirty="0">
                <a:solidFill>
                  <a:srgbClr val="FF0000"/>
                </a:solidFill>
              </a:rPr>
              <a:t>palabras reservadas</a:t>
            </a:r>
            <a:endParaRPr lang="es-MX" dirty="0"/>
          </a:p>
        </p:txBody>
      </p:sp>
      <p:pic>
        <p:nvPicPr>
          <p:cNvPr id="9" name="Imagen 8">
            <a:extLst>
              <a:ext uri="{FF2B5EF4-FFF2-40B4-BE49-F238E27FC236}">
                <a16:creationId xmlns:a16="http://schemas.microsoft.com/office/drawing/2014/main" id="{711E0CBF-9B46-525B-6534-1E58FF804629}"/>
              </a:ext>
            </a:extLst>
          </p:cNvPr>
          <p:cNvPicPr>
            <a:picLocks noChangeAspect="1"/>
          </p:cNvPicPr>
          <p:nvPr/>
        </p:nvPicPr>
        <p:blipFill rotWithShape="1">
          <a:blip r:embed="rId2"/>
          <a:srcRect l="15486" t="15556" r="58472" b="51358"/>
          <a:stretch/>
        </p:blipFill>
        <p:spPr>
          <a:xfrm>
            <a:off x="267039" y="4396740"/>
            <a:ext cx="3175000" cy="2269067"/>
          </a:xfrm>
          <a:prstGeom prst="rect">
            <a:avLst/>
          </a:prstGeom>
        </p:spPr>
      </p:pic>
      <p:pic>
        <p:nvPicPr>
          <p:cNvPr id="13" name="Imagen 12">
            <a:extLst>
              <a:ext uri="{FF2B5EF4-FFF2-40B4-BE49-F238E27FC236}">
                <a16:creationId xmlns:a16="http://schemas.microsoft.com/office/drawing/2014/main" id="{D50FB8A5-789F-7486-21AC-2EA422A9B34A}"/>
              </a:ext>
            </a:extLst>
          </p:cNvPr>
          <p:cNvPicPr>
            <a:picLocks noChangeAspect="1"/>
          </p:cNvPicPr>
          <p:nvPr/>
        </p:nvPicPr>
        <p:blipFill>
          <a:blip r:embed="rId3"/>
          <a:stretch>
            <a:fillRect/>
          </a:stretch>
        </p:blipFill>
        <p:spPr>
          <a:xfrm>
            <a:off x="3442039" y="4054051"/>
            <a:ext cx="3487871" cy="2452582"/>
          </a:xfrm>
          <a:prstGeom prst="rect">
            <a:avLst/>
          </a:prstGeom>
        </p:spPr>
      </p:pic>
      <p:pic>
        <p:nvPicPr>
          <p:cNvPr id="15" name="Imagen 14">
            <a:extLst>
              <a:ext uri="{FF2B5EF4-FFF2-40B4-BE49-F238E27FC236}">
                <a16:creationId xmlns:a16="http://schemas.microsoft.com/office/drawing/2014/main" id="{B17E6C80-D3E9-5F37-9537-36F7AEDF79F6}"/>
              </a:ext>
            </a:extLst>
          </p:cNvPr>
          <p:cNvPicPr>
            <a:picLocks noChangeAspect="1"/>
          </p:cNvPicPr>
          <p:nvPr/>
        </p:nvPicPr>
        <p:blipFill rotWithShape="1">
          <a:blip r:embed="rId4"/>
          <a:srcRect l="14097" t="15494" r="62674" b="52840"/>
          <a:stretch/>
        </p:blipFill>
        <p:spPr>
          <a:xfrm>
            <a:off x="7484533" y="4194492"/>
            <a:ext cx="2832100" cy="2171700"/>
          </a:xfrm>
          <a:prstGeom prst="rect">
            <a:avLst/>
          </a:prstGeom>
        </p:spPr>
      </p:pic>
    </p:spTree>
    <p:extLst>
      <p:ext uri="{BB962C8B-B14F-4D97-AF65-F5344CB8AC3E}">
        <p14:creationId xmlns:p14="http://schemas.microsoft.com/office/powerpoint/2010/main" val="3529117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CC6466-2A72-AFF0-6F2B-20C7166F9E0F}"/>
              </a:ext>
            </a:extLst>
          </p:cNvPr>
          <p:cNvSpPr>
            <a:spLocks noGrp="1"/>
          </p:cNvSpPr>
          <p:nvPr>
            <p:ph type="title"/>
          </p:nvPr>
        </p:nvSpPr>
        <p:spPr>
          <a:xfrm>
            <a:off x="51139" y="126998"/>
            <a:ext cx="7065094" cy="836189"/>
          </a:xfrm>
        </p:spPr>
        <p:txBody>
          <a:bodyPr>
            <a:normAutofit fontScale="90000"/>
          </a:bodyPr>
          <a:lstStyle/>
          <a:p>
            <a:r>
              <a:rPr lang="es-MX" dirty="0">
                <a:latin typeface="ADLaM Display" panose="02010000000000000000" pitchFamily="2" charset="0"/>
                <a:ea typeface="ADLaM Display" panose="02010000000000000000" pitchFamily="2" charset="0"/>
                <a:cs typeface="ADLaM Display" panose="02010000000000000000" pitchFamily="2" charset="0"/>
              </a:rPr>
              <a:t>Ejemplo:clockType_version1</a:t>
            </a:r>
          </a:p>
        </p:txBody>
      </p:sp>
      <p:sp>
        <p:nvSpPr>
          <p:cNvPr id="8" name="CuadroTexto 7">
            <a:extLst>
              <a:ext uri="{FF2B5EF4-FFF2-40B4-BE49-F238E27FC236}">
                <a16:creationId xmlns:a16="http://schemas.microsoft.com/office/drawing/2014/main" id="{F298B95A-2654-84D0-D3F3-3A8C5DAE88F8}"/>
              </a:ext>
            </a:extLst>
          </p:cNvPr>
          <p:cNvSpPr txBox="1"/>
          <p:nvPr/>
        </p:nvSpPr>
        <p:spPr>
          <a:xfrm>
            <a:off x="6793627" y="2482721"/>
            <a:ext cx="3629319" cy="369332"/>
          </a:xfrm>
          <a:prstGeom prst="rect">
            <a:avLst/>
          </a:prstGeom>
          <a:noFill/>
        </p:spPr>
        <p:txBody>
          <a:bodyPr wrap="square" rtlCol="0">
            <a:spAutoFit/>
          </a:bodyPr>
          <a:lstStyle/>
          <a:p>
            <a:r>
              <a:rPr lang="es-MX" dirty="0"/>
              <a:t>Atributos/miembros </a:t>
            </a:r>
            <a:r>
              <a:rPr lang="es-MX" dirty="0">
                <a:solidFill>
                  <a:srgbClr val="FF0000"/>
                </a:solidFill>
              </a:rPr>
              <a:t>privados</a:t>
            </a:r>
          </a:p>
        </p:txBody>
      </p:sp>
      <p:sp>
        <p:nvSpPr>
          <p:cNvPr id="9" name="CuadroTexto 8">
            <a:extLst>
              <a:ext uri="{FF2B5EF4-FFF2-40B4-BE49-F238E27FC236}">
                <a16:creationId xmlns:a16="http://schemas.microsoft.com/office/drawing/2014/main" id="{B7F002D2-B554-2CB1-BC31-FFBC2BBAC495}"/>
              </a:ext>
            </a:extLst>
          </p:cNvPr>
          <p:cNvSpPr txBox="1"/>
          <p:nvPr/>
        </p:nvSpPr>
        <p:spPr>
          <a:xfrm>
            <a:off x="6890993" y="4350033"/>
            <a:ext cx="3629319" cy="369332"/>
          </a:xfrm>
          <a:prstGeom prst="rect">
            <a:avLst/>
          </a:prstGeom>
          <a:noFill/>
        </p:spPr>
        <p:txBody>
          <a:bodyPr wrap="square" rtlCol="0">
            <a:spAutoFit/>
          </a:bodyPr>
          <a:lstStyle/>
          <a:p>
            <a:r>
              <a:rPr lang="es-MX" dirty="0"/>
              <a:t>Métodos/miembros </a:t>
            </a:r>
            <a:r>
              <a:rPr lang="es-MX" dirty="0" err="1">
                <a:solidFill>
                  <a:srgbClr val="FF0000"/>
                </a:solidFill>
              </a:rPr>
              <a:t>publicos</a:t>
            </a:r>
            <a:endParaRPr lang="es-MX" dirty="0">
              <a:solidFill>
                <a:srgbClr val="FF0000"/>
              </a:solidFill>
            </a:endParaRPr>
          </a:p>
        </p:txBody>
      </p:sp>
      <p:sp>
        <p:nvSpPr>
          <p:cNvPr id="10" name="Flecha: a la derecha 9">
            <a:extLst>
              <a:ext uri="{FF2B5EF4-FFF2-40B4-BE49-F238E27FC236}">
                <a16:creationId xmlns:a16="http://schemas.microsoft.com/office/drawing/2014/main" id="{5B7473FB-4EC9-3CEF-6124-ED254DB1F3C1}"/>
              </a:ext>
            </a:extLst>
          </p:cNvPr>
          <p:cNvSpPr/>
          <p:nvPr/>
        </p:nvSpPr>
        <p:spPr>
          <a:xfrm>
            <a:off x="5524500" y="2494232"/>
            <a:ext cx="1147233"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Flecha: a la derecha 10">
            <a:extLst>
              <a:ext uri="{FF2B5EF4-FFF2-40B4-BE49-F238E27FC236}">
                <a16:creationId xmlns:a16="http://schemas.microsoft.com/office/drawing/2014/main" id="{91C98CBE-0DEB-8B3C-7FA7-04E6B2B7C308}"/>
              </a:ext>
            </a:extLst>
          </p:cNvPr>
          <p:cNvSpPr/>
          <p:nvPr/>
        </p:nvSpPr>
        <p:spPr>
          <a:xfrm>
            <a:off x="5524500" y="4350033"/>
            <a:ext cx="1147233"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3" name="Imagen 12">
            <a:extLst>
              <a:ext uri="{FF2B5EF4-FFF2-40B4-BE49-F238E27FC236}">
                <a16:creationId xmlns:a16="http://schemas.microsoft.com/office/drawing/2014/main" id="{BA47F8FD-4F7C-E97C-36AA-10D8CB2FE220}"/>
              </a:ext>
            </a:extLst>
          </p:cNvPr>
          <p:cNvPicPr>
            <a:picLocks noChangeAspect="1"/>
          </p:cNvPicPr>
          <p:nvPr/>
        </p:nvPicPr>
        <p:blipFill>
          <a:blip r:embed="rId2"/>
          <a:stretch>
            <a:fillRect/>
          </a:stretch>
        </p:blipFill>
        <p:spPr>
          <a:xfrm>
            <a:off x="697442" y="1615651"/>
            <a:ext cx="4560672" cy="4209415"/>
          </a:xfrm>
          <a:prstGeom prst="rect">
            <a:avLst/>
          </a:prstGeom>
        </p:spPr>
      </p:pic>
      <p:pic>
        <p:nvPicPr>
          <p:cNvPr id="3" name="Picture 2" descr="What time is it? Digamos la hora en inglés">
            <a:extLst>
              <a:ext uri="{FF2B5EF4-FFF2-40B4-BE49-F238E27FC236}">
                <a16:creationId xmlns:a16="http://schemas.microsoft.com/office/drawing/2014/main" id="{D55F5B94-BFFC-0CB8-CA2D-D729C1285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5038" y="107778"/>
            <a:ext cx="916962" cy="916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283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0B56D5-98C6-5BAC-DFA5-B05668C5CFDD}"/>
              </a:ext>
            </a:extLst>
          </p:cNvPr>
          <p:cNvSpPr>
            <a:spLocks noGrp="1"/>
          </p:cNvSpPr>
          <p:nvPr>
            <p:ph type="title"/>
          </p:nvPr>
        </p:nvSpPr>
        <p:spPr>
          <a:xfrm>
            <a:off x="351705" y="192193"/>
            <a:ext cx="4626695" cy="701041"/>
          </a:xfrm>
        </p:spPr>
        <p:txBody>
          <a:bodyPr/>
          <a:lstStyle/>
          <a:p>
            <a:r>
              <a:rPr lang="es-MX" dirty="0"/>
              <a:t>Codificación</a:t>
            </a:r>
          </a:p>
        </p:txBody>
      </p:sp>
      <p:pic>
        <p:nvPicPr>
          <p:cNvPr id="5" name="Imagen 4">
            <a:extLst>
              <a:ext uri="{FF2B5EF4-FFF2-40B4-BE49-F238E27FC236}">
                <a16:creationId xmlns:a16="http://schemas.microsoft.com/office/drawing/2014/main" id="{9DDA98E2-BD44-77DE-D039-AB934F7332D6}"/>
              </a:ext>
            </a:extLst>
          </p:cNvPr>
          <p:cNvPicPr>
            <a:picLocks noChangeAspect="1"/>
          </p:cNvPicPr>
          <p:nvPr/>
        </p:nvPicPr>
        <p:blipFill rotWithShape="1">
          <a:blip r:embed="rId2"/>
          <a:srcRect l="12719" t="15602" r="41933" b="45223"/>
          <a:stretch/>
        </p:blipFill>
        <p:spPr>
          <a:xfrm>
            <a:off x="310341" y="976809"/>
            <a:ext cx="10465065" cy="5085324"/>
          </a:xfrm>
          <a:prstGeom prst="rect">
            <a:avLst/>
          </a:prstGeom>
        </p:spPr>
      </p:pic>
    </p:spTree>
    <p:extLst>
      <p:ext uri="{BB962C8B-B14F-4D97-AF65-F5344CB8AC3E}">
        <p14:creationId xmlns:p14="http://schemas.microsoft.com/office/powerpoint/2010/main" val="3091376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F0F256-B361-BFDD-2A1B-B26526C9BDBC}"/>
              </a:ext>
            </a:extLst>
          </p:cNvPr>
          <p:cNvSpPr>
            <a:spLocks noGrp="1"/>
          </p:cNvSpPr>
          <p:nvPr>
            <p:ph type="title"/>
          </p:nvPr>
        </p:nvSpPr>
        <p:spPr>
          <a:xfrm>
            <a:off x="118872" y="120227"/>
            <a:ext cx="7958328" cy="891540"/>
          </a:xfrm>
        </p:spPr>
        <p:txBody>
          <a:bodyPr/>
          <a:lstStyle/>
          <a:p>
            <a:r>
              <a:rPr lang="es-MX" dirty="0"/>
              <a:t>¿Qué vemos en lo anterior?</a:t>
            </a:r>
          </a:p>
        </p:txBody>
      </p:sp>
      <p:sp>
        <p:nvSpPr>
          <p:cNvPr id="4" name="CuadroTexto 3">
            <a:extLst>
              <a:ext uri="{FF2B5EF4-FFF2-40B4-BE49-F238E27FC236}">
                <a16:creationId xmlns:a16="http://schemas.microsoft.com/office/drawing/2014/main" id="{BECA4098-8A6E-35F4-EECB-96B73E5949C2}"/>
              </a:ext>
            </a:extLst>
          </p:cNvPr>
          <p:cNvSpPr txBox="1"/>
          <p:nvPr/>
        </p:nvSpPr>
        <p:spPr>
          <a:xfrm>
            <a:off x="215900" y="1270000"/>
            <a:ext cx="10418233" cy="4524315"/>
          </a:xfrm>
          <a:prstGeom prst="rect">
            <a:avLst/>
          </a:prstGeom>
          <a:noFill/>
        </p:spPr>
        <p:txBody>
          <a:bodyPr wrap="square" rtlCol="0">
            <a:spAutoFit/>
          </a:bodyPr>
          <a:lstStyle/>
          <a:p>
            <a:pPr marL="285750" indent="-285750">
              <a:buFont typeface="Arial" panose="020B0604020202020204" pitchFamily="34" charset="0"/>
              <a:buChar char="•"/>
            </a:pPr>
            <a:r>
              <a:rPr lang="es-MX" sz="3600" dirty="0"/>
              <a:t>Tenemos 7 métodos/miembros y 3 atributos/métodos</a:t>
            </a:r>
          </a:p>
          <a:p>
            <a:pPr marL="285750" indent="-285750">
              <a:buFont typeface="Arial" panose="020B0604020202020204" pitchFamily="34" charset="0"/>
              <a:buChar char="•"/>
            </a:pPr>
            <a:r>
              <a:rPr lang="es-MX" sz="3600" dirty="0"/>
              <a:t>3 de los miembros son privados </a:t>
            </a:r>
          </a:p>
          <a:p>
            <a:pPr marL="285750" indent="-285750">
              <a:buFont typeface="Arial" panose="020B0604020202020204" pitchFamily="34" charset="0"/>
              <a:buChar char="•"/>
            </a:pPr>
            <a:r>
              <a:rPr lang="es-MX" sz="3600" dirty="0"/>
              <a:t>Podemos acceder a los 3 miembros a partir de los 7 métodos/miembros</a:t>
            </a:r>
          </a:p>
          <a:p>
            <a:pPr marL="285750" indent="-285750">
              <a:buFont typeface="Arial" panose="020B0604020202020204" pitchFamily="34" charset="0"/>
              <a:buChar char="•"/>
            </a:pPr>
            <a:r>
              <a:rPr lang="es-MX" sz="3600" dirty="0"/>
              <a:t>Tenemos un parámetro de referencia constante </a:t>
            </a:r>
          </a:p>
          <a:p>
            <a:pPr marL="285750" indent="-285750">
              <a:buFont typeface="Arial" panose="020B0604020202020204" pitchFamily="34" charset="0"/>
              <a:buChar char="•"/>
            </a:pPr>
            <a:r>
              <a:rPr lang="es-MX" sz="3600" dirty="0"/>
              <a:t>La palabra </a:t>
            </a:r>
            <a:r>
              <a:rPr lang="es-MX" sz="3600" dirty="0" err="1"/>
              <a:t>const</a:t>
            </a:r>
            <a:r>
              <a:rPr lang="es-MX" sz="3600" dirty="0"/>
              <a:t> en las funciones </a:t>
            </a:r>
          </a:p>
        </p:txBody>
      </p:sp>
    </p:spTree>
    <p:extLst>
      <p:ext uri="{BB962C8B-B14F-4D97-AF65-F5344CB8AC3E}">
        <p14:creationId xmlns:p14="http://schemas.microsoft.com/office/powerpoint/2010/main" val="2483590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897430-5348-32E2-55CF-5374D03BC9EB}"/>
              </a:ext>
            </a:extLst>
          </p:cNvPr>
          <p:cNvPicPr>
            <a:picLocks noChangeAspect="1"/>
          </p:cNvPicPr>
          <p:nvPr/>
        </p:nvPicPr>
        <p:blipFill>
          <a:blip r:embed="rId2"/>
          <a:stretch>
            <a:fillRect/>
          </a:stretch>
        </p:blipFill>
        <p:spPr>
          <a:xfrm>
            <a:off x="6695440" y="617783"/>
            <a:ext cx="1447800" cy="1447800"/>
          </a:xfrm>
          <a:prstGeom prst="rect">
            <a:avLst/>
          </a:prstGeom>
        </p:spPr>
      </p:pic>
      <p:sp>
        <p:nvSpPr>
          <p:cNvPr id="7" name="CuadroTexto 6">
            <a:extLst>
              <a:ext uri="{FF2B5EF4-FFF2-40B4-BE49-F238E27FC236}">
                <a16:creationId xmlns:a16="http://schemas.microsoft.com/office/drawing/2014/main" id="{4758A13B-AD77-60E7-2D62-3199F54ED0BC}"/>
              </a:ext>
            </a:extLst>
          </p:cNvPr>
          <p:cNvSpPr txBox="1"/>
          <p:nvPr/>
        </p:nvSpPr>
        <p:spPr>
          <a:xfrm>
            <a:off x="101600" y="418353"/>
            <a:ext cx="7107768" cy="923330"/>
          </a:xfrm>
          <a:prstGeom prst="rect">
            <a:avLst/>
          </a:prstGeom>
          <a:noFill/>
        </p:spPr>
        <p:txBody>
          <a:bodyPr wrap="square" rtlCol="0">
            <a:spAutoFit/>
          </a:bodyPr>
          <a:lstStyle/>
          <a:p>
            <a:r>
              <a:rPr lang="es-MX" dirty="0"/>
              <a:t>No inicializamos las variables dentro de la clase </a:t>
            </a:r>
          </a:p>
          <a:p>
            <a:r>
              <a:rPr lang="es-MX" dirty="0"/>
              <a:t>C++ no las inicializa de forma automática cuando se instancien objetos pertenecientes a dicha clase</a:t>
            </a:r>
          </a:p>
        </p:txBody>
      </p:sp>
      <p:sp>
        <p:nvSpPr>
          <p:cNvPr id="2" name="Bocadillo nube: nube 1">
            <a:extLst>
              <a:ext uri="{FF2B5EF4-FFF2-40B4-BE49-F238E27FC236}">
                <a16:creationId xmlns:a16="http://schemas.microsoft.com/office/drawing/2014/main" id="{412DC945-1C33-F5F0-26F1-753A7D249737}"/>
              </a:ext>
            </a:extLst>
          </p:cNvPr>
          <p:cNvSpPr/>
          <p:nvPr/>
        </p:nvSpPr>
        <p:spPr>
          <a:xfrm>
            <a:off x="8453120" y="147320"/>
            <a:ext cx="2545078" cy="2331720"/>
          </a:xfrm>
          <a:prstGeom prst="cloudCallout">
            <a:avLst>
              <a:gd name="adj1" fmla="val -75754"/>
              <a:gd name="adj2" fmla="val -280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dirty="0">
                <a:latin typeface="ADLaM Display" panose="02010000000000000000" pitchFamily="2" charset="0"/>
                <a:ea typeface="ADLaM Display" panose="02010000000000000000" pitchFamily="2" charset="0"/>
                <a:cs typeface="ADLaM Display" panose="02010000000000000000" pitchFamily="2" charset="0"/>
              </a:rPr>
              <a:t>Pero…¿Qué pasaría si no inicializamos?</a:t>
            </a:r>
          </a:p>
        </p:txBody>
      </p:sp>
      <p:sp>
        <p:nvSpPr>
          <p:cNvPr id="3" name="CuadroTexto 2">
            <a:extLst>
              <a:ext uri="{FF2B5EF4-FFF2-40B4-BE49-F238E27FC236}">
                <a16:creationId xmlns:a16="http://schemas.microsoft.com/office/drawing/2014/main" id="{A1E0B296-3B82-2D58-5C6A-E0BBE54F5F41}"/>
              </a:ext>
            </a:extLst>
          </p:cNvPr>
          <p:cNvSpPr txBox="1"/>
          <p:nvPr/>
        </p:nvSpPr>
        <p:spPr>
          <a:xfrm>
            <a:off x="3054270" y="3186817"/>
            <a:ext cx="4884420" cy="707886"/>
          </a:xfrm>
          <a:prstGeom prst="rect">
            <a:avLst/>
          </a:prstGeom>
          <a:noFill/>
        </p:spPr>
        <p:txBody>
          <a:bodyPr wrap="square" rtlCol="0">
            <a:spAutoFit/>
          </a:bodyPr>
          <a:lstStyle/>
          <a:p>
            <a:pPr algn="ctr"/>
            <a:r>
              <a:rPr lang="es-MX" sz="4000" b="1" dirty="0">
                <a:latin typeface="ADLaM Display" panose="02010000000000000000" pitchFamily="2" charset="0"/>
                <a:ea typeface="ADLaM Display" panose="02010000000000000000" pitchFamily="2" charset="0"/>
                <a:cs typeface="ADLaM Display" panose="02010000000000000000" pitchFamily="2" charset="0"/>
              </a:rPr>
              <a:t>CONSTRUCTORES</a:t>
            </a:r>
            <a:endParaRPr lang="es-MX"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4" name="CuadroTexto 3">
            <a:extLst>
              <a:ext uri="{FF2B5EF4-FFF2-40B4-BE49-F238E27FC236}">
                <a16:creationId xmlns:a16="http://schemas.microsoft.com/office/drawing/2014/main" id="{215D973A-2344-66D6-2C6F-8C65B6B64084}"/>
              </a:ext>
            </a:extLst>
          </p:cNvPr>
          <p:cNvSpPr txBox="1"/>
          <p:nvPr/>
        </p:nvSpPr>
        <p:spPr>
          <a:xfrm>
            <a:off x="-266700" y="5609977"/>
            <a:ext cx="4884420" cy="584775"/>
          </a:xfrm>
          <a:prstGeom prst="rect">
            <a:avLst/>
          </a:prstGeom>
          <a:noFill/>
        </p:spPr>
        <p:txBody>
          <a:bodyPr wrap="square" rtlCol="0">
            <a:spAutoFit/>
          </a:bodyPr>
          <a:lstStyle/>
          <a:p>
            <a:pPr algn="ctr"/>
            <a:r>
              <a:rPr lang="es-MX" sz="3200" b="1" dirty="0">
                <a:latin typeface="ADLaM Display" panose="02010000000000000000" pitchFamily="2" charset="0"/>
                <a:ea typeface="ADLaM Display" panose="02010000000000000000" pitchFamily="2" charset="0"/>
                <a:cs typeface="ADLaM Display" panose="02010000000000000000" pitchFamily="2" charset="0"/>
              </a:rPr>
              <a:t>Con parámetros</a:t>
            </a:r>
            <a:endParaRPr lang="es-MX" sz="14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CuadroTexto 5">
            <a:extLst>
              <a:ext uri="{FF2B5EF4-FFF2-40B4-BE49-F238E27FC236}">
                <a16:creationId xmlns:a16="http://schemas.microsoft.com/office/drawing/2014/main" id="{5AD12C7B-29F3-FABB-C68A-3ED3F9E26D2E}"/>
              </a:ext>
            </a:extLst>
          </p:cNvPr>
          <p:cNvSpPr txBox="1"/>
          <p:nvPr/>
        </p:nvSpPr>
        <p:spPr>
          <a:xfrm>
            <a:off x="6596380" y="5400040"/>
            <a:ext cx="4884420" cy="1077218"/>
          </a:xfrm>
          <a:prstGeom prst="rect">
            <a:avLst/>
          </a:prstGeom>
          <a:noFill/>
        </p:spPr>
        <p:txBody>
          <a:bodyPr wrap="square" rtlCol="0">
            <a:spAutoFit/>
          </a:bodyPr>
          <a:lstStyle/>
          <a:p>
            <a:pPr algn="ctr"/>
            <a:r>
              <a:rPr lang="es-MX" sz="3200" b="1" dirty="0">
                <a:latin typeface="ADLaM Display" panose="02010000000000000000" pitchFamily="2" charset="0"/>
                <a:ea typeface="ADLaM Display" panose="02010000000000000000" pitchFamily="2" charset="0"/>
                <a:cs typeface="ADLaM Display" panose="02010000000000000000" pitchFamily="2" charset="0"/>
              </a:rPr>
              <a:t>Sin parámetros</a:t>
            </a:r>
          </a:p>
          <a:p>
            <a:pPr algn="ctr"/>
            <a:r>
              <a:rPr lang="es-MX" sz="3200" b="1" dirty="0">
                <a:latin typeface="ADLaM Display" panose="02010000000000000000" pitchFamily="2" charset="0"/>
                <a:ea typeface="ADLaM Display" panose="02010000000000000000" pitchFamily="2" charset="0"/>
                <a:cs typeface="ADLaM Display" panose="02010000000000000000" pitchFamily="2" charset="0"/>
              </a:rPr>
              <a:t>(predeterminado)</a:t>
            </a:r>
            <a:endParaRPr lang="es-MX" sz="1400" b="1"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9" name="Conector: angular 8">
            <a:extLst>
              <a:ext uri="{FF2B5EF4-FFF2-40B4-BE49-F238E27FC236}">
                <a16:creationId xmlns:a16="http://schemas.microsoft.com/office/drawing/2014/main" id="{A5F6D2AC-D2CD-C927-8978-CD1B93BC668A}"/>
              </a:ext>
            </a:extLst>
          </p:cNvPr>
          <p:cNvCxnSpPr>
            <a:stCxn id="3" idx="1"/>
            <a:endCxn id="4" idx="0"/>
          </p:cNvCxnSpPr>
          <p:nvPr/>
        </p:nvCxnSpPr>
        <p:spPr>
          <a:xfrm rot="10800000" flipV="1">
            <a:off x="2175510" y="3540759"/>
            <a:ext cx="878760" cy="206921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1" name="Conector: angular 10">
            <a:extLst>
              <a:ext uri="{FF2B5EF4-FFF2-40B4-BE49-F238E27FC236}">
                <a16:creationId xmlns:a16="http://schemas.microsoft.com/office/drawing/2014/main" id="{52D160C2-8411-20B8-4DE2-05B667FE110A}"/>
              </a:ext>
            </a:extLst>
          </p:cNvPr>
          <p:cNvCxnSpPr>
            <a:stCxn id="3" idx="3"/>
            <a:endCxn id="6" idx="0"/>
          </p:cNvCxnSpPr>
          <p:nvPr/>
        </p:nvCxnSpPr>
        <p:spPr>
          <a:xfrm>
            <a:off x="7938690" y="3540760"/>
            <a:ext cx="1099900" cy="1859280"/>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02932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AAE286-CC1F-3821-EC71-5BE5F9B8976D}"/>
              </a:ext>
            </a:extLst>
          </p:cNvPr>
          <p:cNvSpPr>
            <a:spLocks noGrp="1"/>
          </p:cNvSpPr>
          <p:nvPr>
            <p:ph type="title"/>
          </p:nvPr>
        </p:nvSpPr>
        <p:spPr>
          <a:xfrm>
            <a:off x="139128" y="128479"/>
            <a:ext cx="9692640" cy="1063713"/>
          </a:xfrm>
        </p:spPr>
        <p:txBody>
          <a:bodyPr/>
          <a:lstStyle/>
          <a:p>
            <a:r>
              <a:rPr lang="es-MX" dirty="0">
                <a:latin typeface="ADLaM Display" panose="02010000000000000000" pitchFamily="2" charset="0"/>
                <a:ea typeface="ADLaM Display" panose="02010000000000000000" pitchFamily="2" charset="0"/>
                <a:cs typeface="ADLaM Display" panose="02010000000000000000" pitchFamily="2" charset="0"/>
              </a:rPr>
              <a:t>Propiedades de los constructores</a:t>
            </a:r>
          </a:p>
        </p:txBody>
      </p:sp>
      <p:sp>
        <p:nvSpPr>
          <p:cNvPr id="4" name="CuadroTexto 3">
            <a:extLst>
              <a:ext uri="{FF2B5EF4-FFF2-40B4-BE49-F238E27FC236}">
                <a16:creationId xmlns:a16="http://schemas.microsoft.com/office/drawing/2014/main" id="{E30B5A90-76EB-0698-0EA4-5AAF7511DFEA}"/>
              </a:ext>
            </a:extLst>
          </p:cNvPr>
          <p:cNvSpPr txBox="1"/>
          <p:nvPr/>
        </p:nvSpPr>
        <p:spPr>
          <a:xfrm>
            <a:off x="329879" y="1452623"/>
            <a:ext cx="9982522" cy="2585323"/>
          </a:xfrm>
          <a:prstGeom prst="rect">
            <a:avLst/>
          </a:prstGeom>
          <a:noFill/>
        </p:spPr>
        <p:txBody>
          <a:bodyPr wrap="square" rtlCol="0">
            <a:spAutoFit/>
          </a:bodyPr>
          <a:lstStyle/>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Mismo nombre que el de la clase</a:t>
            </a:r>
          </a:p>
          <a:p>
            <a:pPr marL="285750" indent="-285750">
              <a:buFont typeface="Arial" panose="020B0604020202020204" pitchFamily="34" charset="0"/>
              <a:buChar char="•"/>
            </a:pPr>
            <a:r>
              <a:rPr lang="es-MX"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Son publicas</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Aun cuando es una función, no tiene tipo</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Podemos tener más de un constructor</a:t>
            </a:r>
          </a:p>
          <a:p>
            <a:pPr marL="742950" lvl="1"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constructores deben tener lista de parámetros formales diferentes	</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constructores se ejecutan de manera automática</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La decisión de cuál constructor se ejecuta depende de los tipos de valores pasados a la clase </a:t>
            </a:r>
            <a:r>
              <a:rPr lang="es-MX" dirty="0" err="1">
                <a:latin typeface="ADLaM Display" panose="02010000000000000000" pitchFamily="2" charset="0"/>
                <a:ea typeface="ADLaM Display" panose="02010000000000000000" pitchFamily="2" charset="0"/>
                <a:cs typeface="ADLaM Display" panose="02010000000000000000" pitchFamily="2" charset="0"/>
              </a:rPr>
              <a:t>object</a:t>
            </a:r>
            <a:r>
              <a:rPr lang="es-MX" dirty="0">
                <a:latin typeface="ADLaM Display" panose="02010000000000000000" pitchFamily="2" charset="0"/>
                <a:ea typeface="ADLaM Display" panose="02010000000000000000" pitchFamily="2" charset="0"/>
                <a:cs typeface="ADLaM Display" panose="02010000000000000000" pitchFamily="2" charset="0"/>
              </a:rPr>
              <a:t> cuando se declara la clase </a:t>
            </a:r>
            <a:r>
              <a:rPr lang="es-MX" dirty="0" err="1">
                <a:latin typeface="ADLaM Display" panose="02010000000000000000" pitchFamily="2" charset="0"/>
                <a:ea typeface="ADLaM Display" panose="02010000000000000000" pitchFamily="2" charset="0"/>
                <a:cs typeface="ADLaM Display" panose="02010000000000000000" pitchFamily="2" charset="0"/>
              </a:rPr>
              <a:t>object</a:t>
            </a:r>
            <a:endParaRPr lang="es-MX" dirty="0">
              <a:latin typeface="ADLaM Display" panose="02010000000000000000" pitchFamily="2" charset="0"/>
              <a:ea typeface="ADLaM Display" panose="02010000000000000000" pitchFamily="2" charset="0"/>
              <a:cs typeface="ADLaM Display" panose="02010000000000000000" pitchFamily="2" charset="0"/>
            </a:endParaRPr>
          </a:p>
          <a:p>
            <a:pPr marL="285750" indent="-285750">
              <a:buFont typeface="Arial" panose="020B0604020202020204" pitchFamily="34" charset="0"/>
              <a:buChar char="•"/>
            </a:pPr>
            <a:endParaRPr lang="es-MX"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Imagen 11">
            <a:extLst>
              <a:ext uri="{FF2B5EF4-FFF2-40B4-BE49-F238E27FC236}">
                <a16:creationId xmlns:a16="http://schemas.microsoft.com/office/drawing/2014/main" id="{4A2E4BCE-022E-FC95-3038-F02DD542067A}"/>
              </a:ext>
            </a:extLst>
          </p:cNvPr>
          <p:cNvPicPr>
            <a:picLocks noChangeAspect="1"/>
          </p:cNvPicPr>
          <p:nvPr/>
        </p:nvPicPr>
        <p:blipFill rotWithShape="1">
          <a:blip r:embed="rId2"/>
          <a:srcRect l="16146" t="49197" r="47396" b="21182"/>
          <a:stretch/>
        </p:blipFill>
        <p:spPr>
          <a:xfrm>
            <a:off x="2497667" y="3787354"/>
            <a:ext cx="6437856" cy="2942167"/>
          </a:xfrm>
          <a:prstGeom prst="rect">
            <a:avLst/>
          </a:prstGeom>
        </p:spPr>
      </p:pic>
      <p:pic>
        <p:nvPicPr>
          <p:cNvPr id="5" name="Imagen 4">
            <a:extLst>
              <a:ext uri="{FF2B5EF4-FFF2-40B4-BE49-F238E27FC236}">
                <a16:creationId xmlns:a16="http://schemas.microsoft.com/office/drawing/2014/main" id="{7A08C5D4-812A-E2B6-A8FF-FED5F2A08328}"/>
              </a:ext>
            </a:extLst>
          </p:cNvPr>
          <p:cNvPicPr>
            <a:picLocks noChangeAspect="1"/>
          </p:cNvPicPr>
          <p:nvPr/>
        </p:nvPicPr>
        <p:blipFill>
          <a:blip r:embed="rId3"/>
          <a:stretch>
            <a:fillRect/>
          </a:stretch>
        </p:blipFill>
        <p:spPr>
          <a:xfrm>
            <a:off x="9770535" y="4694765"/>
            <a:ext cx="2298700" cy="2298700"/>
          </a:xfrm>
          <a:prstGeom prst="rect">
            <a:avLst/>
          </a:prstGeom>
        </p:spPr>
      </p:pic>
    </p:spTree>
    <p:extLst>
      <p:ext uri="{BB962C8B-B14F-4D97-AF65-F5344CB8AC3E}">
        <p14:creationId xmlns:p14="http://schemas.microsoft.com/office/powerpoint/2010/main" val="4075891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8C6D03E-D421-A0F0-2ACE-E6DC994379A0}"/>
              </a:ext>
            </a:extLst>
          </p:cNvPr>
          <p:cNvSpPr>
            <a:spLocks noGrp="1"/>
          </p:cNvSpPr>
          <p:nvPr>
            <p:ph type="title"/>
          </p:nvPr>
        </p:nvSpPr>
        <p:spPr>
          <a:xfrm>
            <a:off x="165438" y="148165"/>
            <a:ext cx="7632361" cy="836189"/>
          </a:xfrm>
        </p:spPr>
        <p:txBody>
          <a:bodyPr>
            <a:normAutofit fontScale="90000"/>
          </a:bodyPr>
          <a:lstStyle/>
          <a:p>
            <a:r>
              <a:rPr lang="es-MX" dirty="0">
                <a:latin typeface="ADLaM Display" panose="02010000000000000000" pitchFamily="2" charset="0"/>
                <a:ea typeface="ADLaM Display" panose="02010000000000000000" pitchFamily="2" charset="0"/>
                <a:cs typeface="ADLaM Display" panose="02010000000000000000" pitchFamily="2" charset="0"/>
              </a:rPr>
              <a:t>Ejemplo:clockType_version1.1</a:t>
            </a:r>
          </a:p>
        </p:txBody>
      </p:sp>
      <p:pic>
        <p:nvPicPr>
          <p:cNvPr id="6" name="Imagen 5">
            <a:extLst>
              <a:ext uri="{FF2B5EF4-FFF2-40B4-BE49-F238E27FC236}">
                <a16:creationId xmlns:a16="http://schemas.microsoft.com/office/drawing/2014/main" id="{77FB9A03-2EFA-4453-22D7-0139E08291A3}"/>
              </a:ext>
            </a:extLst>
          </p:cNvPr>
          <p:cNvPicPr>
            <a:picLocks noChangeAspect="1"/>
          </p:cNvPicPr>
          <p:nvPr/>
        </p:nvPicPr>
        <p:blipFill>
          <a:blip r:embed="rId2"/>
          <a:stretch>
            <a:fillRect/>
          </a:stretch>
        </p:blipFill>
        <p:spPr>
          <a:xfrm>
            <a:off x="257861" y="1044587"/>
            <a:ext cx="3880505" cy="5438867"/>
          </a:xfrm>
          <a:prstGeom prst="rect">
            <a:avLst/>
          </a:prstGeom>
        </p:spPr>
      </p:pic>
      <p:pic>
        <p:nvPicPr>
          <p:cNvPr id="4098" name="Picture 2" descr="What time is it? Digamos la hora en inglés">
            <a:extLst>
              <a:ext uri="{FF2B5EF4-FFF2-40B4-BE49-F238E27FC236}">
                <a16:creationId xmlns:a16="http://schemas.microsoft.com/office/drawing/2014/main" id="{CE70C7B7-1D2B-C92B-CE2D-6E609AD121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5038" y="107778"/>
            <a:ext cx="916962" cy="91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21A408D5-EDE0-C036-6687-735D3530FE2A}"/>
              </a:ext>
            </a:extLst>
          </p:cNvPr>
          <p:cNvPicPr>
            <a:picLocks noChangeAspect="1"/>
          </p:cNvPicPr>
          <p:nvPr/>
        </p:nvPicPr>
        <p:blipFill rotWithShape="1">
          <a:blip r:embed="rId4"/>
          <a:srcRect l="13148" t="16625" r="43466" b="27089"/>
          <a:stretch/>
        </p:blipFill>
        <p:spPr>
          <a:xfrm>
            <a:off x="4294207" y="1124992"/>
            <a:ext cx="6672805" cy="5278056"/>
          </a:xfrm>
          <a:prstGeom prst="rect">
            <a:avLst/>
          </a:prstGeom>
        </p:spPr>
      </p:pic>
    </p:spTree>
    <p:extLst>
      <p:ext uri="{BB962C8B-B14F-4D97-AF65-F5344CB8AC3E}">
        <p14:creationId xmlns:p14="http://schemas.microsoft.com/office/powerpoint/2010/main" val="4191031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9961DC9-239C-E8C4-7EE3-CFA0C2D5EA60}"/>
              </a:ext>
            </a:extLst>
          </p:cNvPr>
          <p:cNvSpPr>
            <a:spLocks noGrp="1"/>
          </p:cNvSpPr>
          <p:nvPr>
            <p:ph type="title"/>
          </p:nvPr>
        </p:nvSpPr>
        <p:spPr>
          <a:xfrm>
            <a:off x="101939" y="165099"/>
            <a:ext cx="2808902" cy="836189"/>
          </a:xfrm>
        </p:spPr>
        <p:txBody>
          <a:bodyPr>
            <a:normAutofit/>
          </a:bodyPr>
          <a:lstStyle/>
          <a:p>
            <a:r>
              <a:rPr lang="es-MX" sz="5400" dirty="0">
                <a:latin typeface="ADLaM Display" panose="02010000000000000000" pitchFamily="2" charset="0"/>
                <a:ea typeface="ADLaM Display" panose="02010000000000000000" pitchFamily="2" charset="0"/>
                <a:cs typeface="ADLaM Display" panose="02010000000000000000" pitchFamily="2" charset="0"/>
              </a:rPr>
              <a:t>Objetos</a:t>
            </a:r>
          </a:p>
        </p:txBody>
      </p:sp>
      <p:sp>
        <p:nvSpPr>
          <p:cNvPr id="5" name="Título 1">
            <a:extLst>
              <a:ext uri="{FF2B5EF4-FFF2-40B4-BE49-F238E27FC236}">
                <a16:creationId xmlns:a16="http://schemas.microsoft.com/office/drawing/2014/main" id="{9AB366A9-29A6-3D02-68D5-E49A4703C85A}"/>
              </a:ext>
            </a:extLst>
          </p:cNvPr>
          <p:cNvSpPr txBox="1">
            <a:spLocks/>
          </p:cNvSpPr>
          <p:nvPr/>
        </p:nvSpPr>
        <p:spPr>
          <a:xfrm>
            <a:off x="3125384" y="294320"/>
            <a:ext cx="2721695" cy="706968"/>
          </a:xfrm>
          <a:prstGeom prst="rect">
            <a:avLst/>
          </a:prstGeom>
          <a:ln w="38100">
            <a:solidFill>
              <a:schemeClr val="tx1"/>
            </a:solidFill>
          </a:ln>
        </p:spPr>
        <p:txBody>
          <a:bodyPr vert="horz" lIns="91440" tIns="45720" rIns="91440" bIns="45720" rtlCol="0" anchor="b">
            <a:normAutofit fontScale="475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s-MX" dirty="0">
                <a:latin typeface="ADLaM Display" panose="02010000000000000000" pitchFamily="2" charset="0"/>
                <a:ea typeface="ADLaM Display" panose="02010000000000000000" pitchFamily="2" charset="0"/>
                <a:cs typeface="ADLaM Display" panose="02010000000000000000" pitchFamily="2" charset="0"/>
              </a:rPr>
              <a:t>Variable de clase o instancia de clase</a:t>
            </a:r>
          </a:p>
        </p:txBody>
      </p:sp>
      <p:pic>
        <p:nvPicPr>
          <p:cNvPr id="7" name="Imagen 6">
            <a:extLst>
              <a:ext uri="{FF2B5EF4-FFF2-40B4-BE49-F238E27FC236}">
                <a16:creationId xmlns:a16="http://schemas.microsoft.com/office/drawing/2014/main" id="{14DBCB9E-40BB-0AFF-EB9B-9034AA85447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641" b="99219" l="6445" r="89844">
                        <a14:foregroundMark x1="66406" y1="13281" x2="41797" y2="6641"/>
                        <a14:foregroundMark x1="41797" y1="6641" x2="27344" y2="7031"/>
                        <a14:foregroundMark x1="6836" y1="86523" x2="39648" y2="73438"/>
                        <a14:foregroundMark x1="39648" y1="73438" x2="60547" y2="73242"/>
                        <a14:foregroundMark x1="60547" y1="73242" x2="69727" y2="78516"/>
                        <a14:foregroundMark x1="69727" y1="78516" x2="54492" y2="92383"/>
                        <a14:foregroundMark x1="54492" y1="92383" x2="13281" y2="95898"/>
                        <a14:foregroundMark x1="5469" y1="83203" x2="16016" y2="96484"/>
                        <a14:foregroundMark x1="16016" y1="96484" x2="40430" y2="96875"/>
                        <a14:foregroundMark x1="40430" y1="96875" x2="71875" y2="95313"/>
                        <a14:foregroundMark x1="4688" y1="84180" x2="6445" y2="99219"/>
                        <a14:foregroundMark x1="6445" y1="99219" x2="6445" y2="99219"/>
                      </a14:backgroundRemoval>
                    </a14:imgEffect>
                  </a14:imgLayer>
                </a14:imgProps>
              </a:ext>
            </a:extLst>
          </a:blip>
          <a:stretch>
            <a:fillRect/>
          </a:stretch>
        </p:blipFill>
        <p:spPr>
          <a:xfrm>
            <a:off x="5969000" y="165099"/>
            <a:ext cx="988061" cy="988061"/>
          </a:xfrm>
          <a:prstGeom prst="rect">
            <a:avLst/>
          </a:prstGeom>
        </p:spPr>
      </p:pic>
      <p:sp>
        <p:nvSpPr>
          <p:cNvPr id="9" name="Título 1">
            <a:extLst>
              <a:ext uri="{FF2B5EF4-FFF2-40B4-BE49-F238E27FC236}">
                <a16:creationId xmlns:a16="http://schemas.microsoft.com/office/drawing/2014/main" id="{A1D1E638-C14C-5C14-77CE-C8A5B2B78A75}"/>
              </a:ext>
            </a:extLst>
          </p:cNvPr>
          <p:cNvSpPr txBox="1">
            <a:spLocks/>
          </p:cNvSpPr>
          <p:nvPr/>
        </p:nvSpPr>
        <p:spPr>
          <a:xfrm>
            <a:off x="7078983" y="294320"/>
            <a:ext cx="2684778" cy="589600"/>
          </a:xfrm>
          <a:prstGeom prst="rect">
            <a:avLst/>
          </a:prstGeom>
          <a:ln w="38100">
            <a:solidFill>
              <a:schemeClr val="bg1"/>
            </a:solidFill>
          </a:ln>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s-MX" sz="2000" dirty="0">
                <a:latin typeface="ADLaM Display" panose="02010000000000000000" pitchFamily="2" charset="0"/>
                <a:ea typeface="ADLaM Display" panose="02010000000000000000" pitchFamily="2" charset="0"/>
                <a:cs typeface="ADLaM Display" panose="02010000000000000000" pitchFamily="2" charset="0"/>
              </a:rPr>
              <a:t>¿Como declaramos objetos?</a:t>
            </a:r>
          </a:p>
        </p:txBody>
      </p:sp>
      <p:pic>
        <p:nvPicPr>
          <p:cNvPr id="17" name="Imagen 16">
            <a:extLst>
              <a:ext uri="{FF2B5EF4-FFF2-40B4-BE49-F238E27FC236}">
                <a16:creationId xmlns:a16="http://schemas.microsoft.com/office/drawing/2014/main" id="{2DAA88BE-CC25-12C3-AD05-D8B15CD10722}"/>
              </a:ext>
            </a:extLst>
          </p:cNvPr>
          <p:cNvPicPr>
            <a:picLocks noChangeAspect="1"/>
          </p:cNvPicPr>
          <p:nvPr/>
        </p:nvPicPr>
        <p:blipFill rotWithShape="1">
          <a:blip r:embed="rId4"/>
          <a:srcRect l="15208" t="44815" r="55958" b="35259"/>
          <a:stretch/>
        </p:blipFill>
        <p:spPr>
          <a:xfrm>
            <a:off x="572387" y="1930720"/>
            <a:ext cx="5187273" cy="2016440"/>
          </a:xfrm>
          <a:prstGeom prst="rect">
            <a:avLst/>
          </a:prstGeom>
        </p:spPr>
      </p:pic>
      <p:sp>
        <p:nvSpPr>
          <p:cNvPr id="18" name="Título 1">
            <a:extLst>
              <a:ext uri="{FF2B5EF4-FFF2-40B4-BE49-F238E27FC236}">
                <a16:creationId xmlns:a16="http://schemas.microsoft.com/office/drawing/2014/main" id="{464C57C0-8150-ADB1-DA06-349FE99D8346}"/>
              </a:ext>
            </a:extLst>
          </p:cNvPr>
          <p:cNvSpPr txBox="1">
            <a:spLocks/>
          </p:cNvSpPr>
          <p:nvPr/>
        </p:nvSpPr>
        <p:spPr>
          <a:xfrm>
            <a:off x="572386" y="1341120"/>
            <a:ext cx="4502533" cy="589600"/>
          </a:xfrm>
          <a:prstGeom prst="rect">
            <a:avLst/>
          </a:prstGeom>
          <a:ln w="38100">
            <a:solidFill>
              <a:schemeClr val="bg1"/>
            </a:solidFill>
          </a:ln>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s-MX" sz="2000" dirty="0">
                <a:latin typeface="ADLaM Display" panose="02010000000000000000" pitchFamily="2" charset="0"/>
                <a:ea typeface="ADLaM Display" panose="02010000000000000000" pitchFamily="2" charset="0"/>
                <a:cs typeface="ADLaM Display" panose="02010000000000000000" pitchFamily="2" charset="0"/>
              </a:rPr>
              <a:t>-&gt;Sintaxis general para un objeto que utilizara un constructor predeterminado</a:t>
            </a:r>
          </a:p>
        </p:txBody>
      </p:sp>
      <p:pic>
        <p:nvPicPr>
          <p:cNvPr id="20" name="Imagen 19">
            <a:extLst>
              <a:ext uri="{FF2B5EF4-FFF2-40B4-BE49-F238E27FC236}">
                <a16:creationId xmlns:a16="http://schemas.microsoft.com/office/drawing/2014/main" id="{B4C18715-5585-FB5E-B39D-569B9AE9CDBA}"/>
              </a:ext>
            </a:extLst>
          </p:cNvPr>
          <p:cNvPicPr>
            <a:picLocks noChangeAspect="1"/>
          </p:cNvPicPr>
          <p:nvPr/>
        </p:nvPicPr>
        <p:blipFill rotWithShape="1">
          <a:blip r:embed="rId5"/>
          <a:srcRect l="15083" t="43778" r="27125" b="50000"/>
          <a:stretch/>
        </p:blipFill>
        <p:spPr>
          <a:xfrm>
            <a:off x="572384" y="4411855"/>
            <a:ext cx="9735419" cy="589600"/>
          </a:xfrm>
          <a:prstGeom prst="rect">
            <a:avLst/>
          </a:prstGeom>
        </p:spPr>
      </p:pic>
      <p:sp>
        <p:nvSpPr>
          <p:cNvPr id="21" name="Título 1">
            <a:extLst>
              <a:ext uri="{FF2B5EF4-FFF2-40B4-BE49-F238E27FC236}">
                <a16:creationId xmlns:a16="http://schemas.microsoft.com/office/drawing/2014/main" id="{F8350868-2F60-23A5-EAC3-3D4F1AFE8C49}"/>
              </a:ext>
            </a:extLst>
          </p:cNvPr>
          <p:cNvSpPr txBox="1">
            <a:spLocks/>
          </p:cNvSpPr>
          <p:nvPr/>
        </p:nvSpPr>
        <p:spPr>
          <a:xfrm>
            <a:off x="572386" y="3847996"/>
            <a:ext cx="4502533" cy="589600"/>
          </a:xfrm>
          <a:prstGeom prst="rect">
            <a:avLst/>
          </a:prstGeom>
          <a:ln w="38100">
            <a:solidFill>
              <a:schemeClr val="bg1"/>
            </a:solidFill>
          </a:ln>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s-MX" sz="2000" dirty="0">
                <a:latin typeface="ADLaM Display" panose="02010000000000000000" pitchFamily="2" charset="0"/>
                <a:ea typeface="ADLaM Display" panose="02010000000000000000" pitchFamily="2" charset="0"/>
                <a:cs typeface="ADLaM Display" panose="02010000000000000000" pitchFamily="2" charset="0"/>
              </a:rPr>
              <a:t>-&gt;Sintaxis general para un objeto que utilizara un constructor con parámetros</a:t>
            </a:r>
          </a:p>
        </p:txBody>
      </p:sp>
      <p:sp>
        <p:nvSpPr>
          <p:cNvPr id="22" name="CuadroTexto 21">
            <a:extLst>
              <a:ext uri="{FF2B5EF4-FFF2-40B4-BE49-F238E27FC236}">
                <a16:creationId xmlns:a16="http://schemas.microsoft.com/office/drawing/2014/main" id="{07A051AD-7EF5-D206-BDEC-A20D626DF638}"/>
              </a:ext>
            </a:extLst>
          </p:cNvPr>
          <p:cNvSpPr txBox="1"/>
          <p:nvPr/>
        </p:nvSpPr>
        <p:spPr>
          <a:xfrm>
            <a:off x="5654040" y="2006600"/>
            <a:ext cx="4947920" cy="923330"/>
          </a:xfrm>
          <a:prstGeom prst="rect">
            <a:avLst/>
          </a:prstGeom>
          <a:noFill/>
          <a:ln>
            <a:solidFill>
              <a:srgbClr val="FF0000"/>
            </a:solidFill>
          </a:ln>
        </p:spPr>
        <p:txBody>
          <a:bodyPr wrap="square" rtlCol="0">
            <a:spAutoFit/>
          </a:bodyPr>
          <a:lstStyle/>
          <a:p>
            <a:r>
              <a:rPr lang="es-MX" dirty="0">
                <a:solidFill>
                  <a:srgbClr val="FF0000"/>
                </a:solidFill>
              </a:rPr>
              <a:t>Aun que nos den ganas de hacer </a:t>
            </a:r>
          </a:p>
          <a:p>
            <a:r>
              <a:rPr lang="es-MX" dirty="0"/>
              <a:t>nombreClase nombreObjeto();</a:t>
            </a:r>
          </a:p>
          <a:p>
            <a:r>
              <a:rPr lang="es-MX" dirty="0">
                <a:solidFill>
                  <a:srgbClr val="FF0000"/>
                </a:solidFill>
              </a:rPr>
              <a:t>esto es ilegal en C++</a:t>
            </a:r>
          </a:p>
        </p:txBody>
      </p:sp>
      <p:sp>
        <p:nvSpPr>
          <p:cNvPr id="23" name="Título 1">
            <a:extLst>
              <a:ext uri="{FF2B5EF4-FFF2-40B4-BE49-F238E27FC236}">
                <a16:creationId xmlns:a16="http://schemas.microsoft.com/office/drawing/2014/main" id="{076894D7-981F-0814-CC99-90DB5E748330}"/>
              </a:ext>
            </a:extLst>
          </p:cNvPr>
          <p:cNvSpPr txBox="1">
            <a:spLocks/>
          </p:cNvSpPr>
          <p:nvPr/>
        </p:nvSpPr>
        <p:spPr>
          <a:xfrm>
            <a:off x="572384" y="5038520"/>
            <a:ext cx="7200016" cy="1733120"/>
          </a:xfrm>
          <a:prstGeom prst="rect">
            <a:avLst/>
          </a:prstGeom>
          <a:ln w="38100">
            <a:solidFill>
              <a:schemeClr val="bg1"/>
            </a:solidFill>
          </a:ln>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s-MX" sz="2000" dirty="0">
                <a:latin typeface="ADLaM Display" panose="02010000000000000000" pitchFamily="2" charset="0"/>
                <a:ea typeface="ADLaM Display" panose="02010000000000000000" pitchFamily="2" charset="0"/>
                <a:cs typeface="ADLaM Display" panose="02010000000000000000" pitchFamily="2" charset="0"/>
              </a:rPr>
              <a:t>Puntos a considerar para esta sintaxis</a:t>
            </a:r>
          </a:p>
          <a:p>
            <a:pPr marL="342900" indent="-342900">
              <a:buFont typeface="Arial" panose="020B0604020202020204" pitchFamily="34" charset="0"/>
              <a:buChar char="•"/>
            </a:pPr>
            <a:r>
              <a:rPr lang="es-MX" sz="2000" dirty="0">
                <a:latin typeface="ADLaM Display" panose="02010000000000000000" pitchFamily="2" charset="0"/>
                <a:ea typeface="ADLaM Display" panose="02010000000000000000" pitchFamily="2" charset="0"/>
                <a:cs typeface="ADLaM Display" panose="02010000000000000000" pitchFamily="2" charset="0"/>
              </a:rPr>
              <a:t>Parámetros reales coinciden con los parámetros formales</a:t>
            </a:r>
          </a:p>
          <a:p>
            <a:pPr marL="342900" indent="-342900">
              <a:buFont typeface="Arial" panose="020B0604020202020204" pitchFamily="34" charset="0"/>
              <a:buChar char="•"/>
            </a:pPr>
            <a:r>
              <a:rPr lang="es-MX" sz="2000" dirty="0">
                <a:latin typeface="ADLaM Display" panose="02010000000000000000" pitchFamily="2" charset="0"/>
                <a:ea typeface="ADLaM Display" panose="02010000000000000000" pitchFamily="2" charset="0"/>
                <a:cs typeface="ADLaM Display" panose="02010000000000000000" pitchFamily="2" charset="0"/>
              </a:rPr>
              <a:t>En caso de que no coincidan los tipos de parámetros formales con los reales se intentara una conversión de tipos</a:t>
            </a:r>
          </a:p>
          <a:p>
            <a:pPr marL="800100" lvl="1" indent="-342900">
              <a:buFont typeface="Arial" panose="020B0604020202020204" pitchFamily="34" charset="0"/>
              <a:buChar char="•"/>
            </a:pPr>
            <a:r>
              <a:rPr lang="es-MX" sz="2000" dirty="0">
                <a:latin typeface="ADLaM Display" panose="02010000000000000000" pitchFamily="2" charset="0"/>
                <a:ea typeface="ADLaM Display" panose="02010000000000000000" pitchFamily="2" charset="0"/>
                <a:cs typeface="ADLaM Display" panose="02010000000000000000" pitchFamily="2" charset="0"/>
              </a:rPr>
              <a:t>En caso de fallar se produciría un error en tiempo de compilación</a:t>
            </a:r>
          </a:p>
          <a:p>
            <a:pPr marL="800100" lvl="1" indent="-342900">
              <a:buFont typeface="Arial" panose="020B0604020202020204" pitchFamily="34" charset="0"/>
              <a:buChar char="•"/>
            </a:pPr>
            <a:endParaRPr lang="es-MX" sz="1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990094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CA411C3-164B-708E-F158-2C506ADAEAF3}"/>
              </a:ext>
            </a:extLst>
          </p:cNvPr>
          <p:cNvPicPr>
            <a:picLocks noChangeAspect="1"/>
          </p:cNvPicPr>
          <p:nvPr/>
        </p:nvPicPr>
        <p:blipFill rotWithShape="1">
          <a:blip r:embed="rId2"/>
          <a:srcRect l="19126" t="51333" r="37458" b="26000"/>
          <a:stretch/>
        </p:blipFill>
        <p:spPr>
          <a:xfrm>
            <a:off x="2714135" y="949202"/>
            <a:ext cx="5293360" cy="1554480"/>
          </a:xfrm>
          <a:prstGeom prst="rect">
            <a:avLst/>
          </a:prstGeom>
        </p:spPr>
      </p:pic>
      <p:sp>
        <p:nvSpPr>
          <p:cNvPr id="6" name="Título 1">
            <a:extLst>
              <a:ext uri="{FF2B5EF4-FFF2-40B4-BE49-F238E27FC236}">
                <a16:creationId xmlns:a16="http://schemas.microsoft.com/office/drawing/2014/main" id="{8951CEC8-F444-4132-AB09-CDEA0147F1DF}"/>
              </a:ext>
            </a:extLst>
          </p:cNvPr>
          <p:cNvSpPr>
            <a:spLocks noGrp="1"/>
          </p:cNvSpPr>
          <p:nvPr>
            <p:ph type="title"/>
          </p:nvPr>
        </p:nvSpPr>
        <p:spPr>
          <a:xfrm>
            <a:off x="101938" y="165099"/>
            <a:ext cx="6629061" cy="836189"/>
          </a:xfrm>
        </p:spPr>
        <p:txBody>
          <a:bodyPr>
            <a:normAutofit/>
          </a:body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Ejemplo de instancia</a:t>
            </a:r>
          </a:p>
        </p:txBody>
      </p:sp>
      <p:sp>
        <p:nvSpPr>
          <p:cNvPr id="8" name="Título 1">
            <a:extLst>
              <a:ext uri="{FF2B5EF4-FFF2-40B4-BE49-F238E27FC236}">
                <a16:creationId xmlns:a16="http://schemas.microsoft.com/office/drawing/2014/main" id="{4617A304-5668-FD64-2BA2-BAAE6483DADB}"/>
              </a:ext>
            </a:extLst>
          </p:cNvPr>
          <p:cNvSpPr txBox="1">
            <a:spLocks/>
          </p:cNvSpPr>
          <p:nvPr/>
        </p:nvSpPr>
        <p:spPr>
          <a:xfrm>
            <a:off x="1988603" y="2660018"/>
            <a:ext cx="6629061" cy="836189"/>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algn="ctr"/>
            <a:r>
              <a:rPr lang="es-MX" sz="4000" dirty="0">
                <a:latin typeface="ADLaM Display" panose="02010000000000000000" pitchFamily="2" charset="0"/>
                <a:ea typeface="ADLaM Display" panose="02010000000000000000" pitchFamily="2" charset="0"/>
                <a:cs typeface="ADLaM Display" panose="02010000000000000000" pitchFamily="2" charset="0"/>
              </a:rPr>
              <a:t>¿Cómo acceder a los miembros de clase?</a:t>
            </a:r>
          </a:p>
        </p:txBody>
      </p:sp>
      <p:pic>
        <p:nvPicPr>
          <p:cNvPr id="12" name="Imagen 11">
            <a:extLst>
              <a:ext uri="{FF2B5EF4-FFF2-40B4-BE49-F238E27FC236}">
                <a16:creationId xmlns:a16="http://schemas.microsoft.com/office/drawing/2014/main" id="{A6E6EFEC-80B5-4EAE-7D15-09BD8456C945}"/>
              </a:ext>
            </a:extLst>
          </p:cNvPr>
          <p:cNvPicPr>
            <a:picLocks noChangeAspect="1"/>
          </p:cNvPicPr>
          <p:nvPr/>
        </p:nvPicPr>
        <p:blipFill rotWithShape="1">
          <a:blip r:embed="rId3"/>
          <a:srcRect l="22262" t="50980" r="32120" b="38650"/>
          <a:stretch/>
        </p:blipFill>
        <p:spPr>
          <a:xfrm>
            <a:off x="337660" y="4395570"/>
            <a:ext cx="5561764" cy="711191"/>
          </a:xfrm>
          <a:prstGeom prst="rect">
            <a:avLst/>
          </a:prstGeom>
        </p:spPr>
      </p:pic>
      <p:pic>
        <p:nvPicPr>
          <p:cNvPr id="14" name="Imagen 13">
            <a:extLst>
              <a:ext uri="{FF2B5EF4-FFF2-40B4-BE49-F238E27FC236}">
                <a16:creationId xmlns:a16="http://schemas.microsoft.com/office/drawing/2014/main" id="{E210427D-CB13-36A7-9BC7-60F17F1BCE5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49023" y1="33398" x2="44727" y2="69531"/>
                        <a14:foregroundMark x1="44727" y1="69531" x2="36719" y2="83789"/>
                        <a14:backgroundMark x1="27930" y1="27148" x2="23633" y2="65820"/>
                        <a14:backgroundMark x1="75586" y1="38672" x2="75000" y2="71484"/>
                        <a14:backgroundMark x1="72266" y1="23242" x2="83398" y2="71875"/>
                        <a14:backgroundMark x1="83398" y1="71875" x2="62891" y2="85352"/>
                        <a14:backgroundMark x1="32031" y1="22266" x2="15430" y2="71484"/>
                        <a14:backgroundMark x1="15430" y1="71484" x2="16016" y2="82227"/>
                        <a14:backgroundMark x1="16016" y1="82227" x2="16797" y2="82813"/>
                        <a14:backgroundMark x1="70508" y1="47852" x2="72852" y2="34180"/>
                        <a14:backgroundMark x1="72852" y1="34180" x2="68750" y2="22852"/>
                        <a14:backgroundMark x1="68750" y1="22852" x2="22656" y2="24023"/>
                        <a14:backgroundMark x1="79688" y1="25781" x2="48438" y2="17969"/>
                        <a14:backgroundMark x1="48438" y1="17969" x2="28125" y2="21484"/>
                        <a14:backgroundMark x1="28125" y1="21484" x2="13867" y2="40039"/>
                        <a14:backgroundMark x1="13867" y1="40039" x2="13281" y2="43945"/>
                        <a14:backgroundMark x1="25000" y1="82422" x2="12695" y2="81445"/>
                      </a14:backgroundRemoval>
                    </a14:imgEffect>
                  </a14:imgLayer>
                </a14:imgProps>
              </a:ext>
            </a:extLst>
          </a:blip>
          <a:stretch>
            <a:fillRect/>
          </a:stretch>
        </p:blipFill>
        <p:spPr>
          <a:xfrm>
            <a:off x="9872980" y="2077720"/>
            <a:ext cx="1653540" cy="1653540"/>
          </a:xfrm>
          <a:prstGeom prst="rect">
            <a:avLst/>
          </a:prstGeom>
        </p:spPr>
      </p:pic>
      <p:pic>
        <p:nvPicPr>
          <p:cNvPr id="16" name="Imagen 15">
            <a:extLst>
              <a:ext uri="{FF2B5EF4-FFF2-40B4-BE49-F238E27FC236}">
                <a16:creationId xmlns:a16="http://schemas.microsoft.com/office/drawing/2014/main" id="{97DBA876-21A7-798E-49E2-1474AC561416}"/>
              </a:ext>
            </a:extLst>
          </p:cNvPr>
          <p:cNvPicPr>
            <a:picLocks noChangeAspect="1"/>
          </p:cNvPicPr>
          <p:nvPr/>
        </p:nvPicPr>
        <p:blipFill rotWithShape="1">
          <a:blip r:embed="rId6"/>
          <a:srcRect l="17333" t="5555" r="44417" b="24519"/>
          <a:stretch/>
        </p:blipFill>
        <p:spPr>
          <a:xfrm>
            <a:off x="7555017" y="3355522"/>
            <a:ext cx="3406011" cy="3502478"/>
          </a:xfrm>
          <a:prstGeom prst="rect">
            <a:avLst/>
          </a:prstGeom>
        </p:spPr>
      </p:pic>
    </p:spTree>
    <p:extLst>
      <p:ext uri="{BB962C8B-B14F-4D97-AF65-F5344CB8AC3E}">
        <p14:creationId xmlns:p14="http://schemas.microsoft.com/office/powerpoint/2010/main" val="3626213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1BC09B3-1317-53C6-B471-8C3F6CF0A311}"/>
              </a:ext>
            </a:extLst>
          </p:cNvPr>
          <p:cNvSpPr>
            <a:spLocks noGrp="1"/>
          </p:cNvSpPr>
          <p:nvPr>
            <p:ph type="title"/>
          </p:nvPr>
        </p:nvSpPr>
        <p:spPr>
          <a:xfrm>
            <a:off x="1229032" y="365760"/>
            <a:ext cx="5997678" cy="1325562"/>
          </a:xfrm>
        </p:spPr>
        <p:txBody>
          <a:bodyPr vert="horz" lIns="91440" tIns="45720" rIns="91440" bIns="45720" rtlCol="0" anchor="b">
            <a:normAutofit/>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Implementation de funciones miembro</a:t>
            </a:r>
          </a:p>
        </p:txBody>
      </p:sp>
      <p:sp>
        <p:nvSpPr>
          <p:cNvPr id="12" name="Rectangle 11">
            <a:extLst>
              <a:ext uri="{FF2B5EF4-FFF2-40B4-BE49-F238E27FC236}">
                <a16:creationId xmlns:a16="http://schemas.microsoft.com/office/drawing/2014/main" id="{60C2BF78-EE5B-49C7-ADD9-58CDBD13E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5" name="Título 1">
            <a:extLst>
              <a:ext uri="{FF2B5EF4-FFF2-40B4-BE49-F238E27FC236}">
                <a16:creationId xmlns:a16="http://schemas.microsoft.com/office/drawing/2014/main" id="{77863B06-F6C3-B25F-6FE5-46A1FBF7254C}"/>
              </a:ext>
            </a:extLst>
          </p:cNvPr>
          <p:cNvSpPr txBox="1">
            <a:spLocks/>
          </p:cNvSpPr>
          <p:nvPr/>
        </p:nvSpPr>
        <p:spPr>
          <a:xfrm>
            <a:off x="1211139" y="2005739"/>
            <a:ext cx="7790621" cy="4174398"/>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pPr indent="-182880">
              <a:spcAft>
                <a:spcPts val="600"/>
              </a:spcAft>
              <a:buClr>
                <a:schemeClr val="accent1"/>
              </a:buClr>
            </a:pPr>
            <a:r>
              <a:rPr lang="en-US" sz="2400" dirty="0">
                <a:latin typeface="ADLaM Display" panose="02010000000000000000" pitchFamily="2" charset="0"/>
                <a:ea typeface="ADLaM Display" panose="02010000000000000000" pitchFamily="2" charset="0"/>
                <a:cs typeface="ADLaM Display" panose="02010000000000000000" pitchFamily="2" charset="0"/>
              </a:rPr>
              <a:t>Usaremos </a:t>
            </a:r>
            <a:r>
              <a:rPr lang="en-US" sz="2400" dirty="0" err="1">
                <a:latin typeface="ADLaM Display" panose="02010000000000000000" pitchFamily="2" charset="0"/>
                <a:ea typeface="ADLaM Display" panose="02010000000000000000" pitchFamily="2" charset="0"/>
                <a:cs typeface="ADLaM Display" panose="02010000000000000000" pitchFamily="2" charset="0"/>
              </a:rPr>
              <a:t>el</a:t>
            </a:r>
            <a:r>
              <a:rPr lang="en-US" sz="2400" dirty="0">
                <a:latin typeface="ADLaM Display" panose="02010000000000000000" pitchFamily="2" charset="0"/>
                <a:ea typeface="ADLaM Display" panose="02010000000000000000" pitchFamily="2" charset="0"/>
                <a:cs typeface="ADLaM Display" panose="02010000000000000000" pitchFamily="2" charset="0"/>
              </a:rPr>
              <a:t> operador de resolución de ámbito [::] para acceder a los miembros desde fuera de </a:t>
            </a:r>
            <a:r>
              <a:rPr lang="en-US" sz="2400" dirty="0" err="1">
                <a:latin typeface="ADLaM Display" panose="02010000000000000000" pitchFamily="2" charset="0"/>
                <a:ea typeface="ADLaM Display" panose="02010000000000000000" pitchFamily="2" charset="0"/>
                <a:cs typeface="ADLaM Display" panose="02010000000000000000" pitchFamily="2" charset="0"/>
              </a:rPr>
              <a:t>clase</a:t>
            </a:r>
            <a:r>
              <a:rPr lang="en-US" sz="2400" dirty="0">
                <a:latin typeface="ADLaM Display" panose="02010000000000000000" pitchFamily="2" charset="0"/>
                <a:ea typeface="ADLaM Display" panose="02010000000000000000" pitchFamily="2" charset="0"/>
                <a:cs typeface="ADLaM Display" panose="02010000000000000000" pitchFamily="2" charset="0"/>
              </a:rPr>
              <a:t> </a:t>
            </a:r>
          </a:p>
          <a:p>
            <a:pPr indent="-182880">
              <a:spcAft>
                <a:spcPts val="600"/>
              </a:spcAft>
              <a:buClr>
                <a:schemeClr val="accent1"/>
              </a:buClr>
            </a:pPr>
            <a:r>
              <a:rPr lang="en-US" sz="2400" dirty="0">
                <a:latin typeface="ADLaM Display" panose="02010000000000000000" pitchFamily="2" charset="0"/>
                <a:ea typeface="ADLaM Display" panose="02010000000000000000" pitchFamily="2" charset="0"/>
                <a:cs typeface="ADLaM Display" panose="02010000000000000000" pitchFamily="2" charset="0"/>
              </a:rPr>
              <a:t>Sintaxis general</a:t>
            </a:r>
          </a:p>
          <a:p>
            <a:pPr indent="-182880">
              <a:spcAft>
                <a:spcPts val="600"/>
              </a:spcAft>
              <a:buClr>
                <a:schemeClr val="accent1"/>
              </a:buClr>
            </a:pP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a:p>
            <a:pPr indent="-182880">
              <a:spcAft>
                <a:spcPts val="600"/>
              </a:spcAft>
              <a:buClr>
                <a:schemeClr val="accent1"/>
              </a:buClr>
            </a:pPr>
            <a:r>
              <a:rPr lang="en-US" sz="24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tipoRetorno</a:t>
            </a:r>
            <a:r>
              <a:rPr lang="en-US" sz="2400" dirty="0">
                <a:latin typeface="ADLaM Display" panose="02010000000000000000" pitchFamily="2" charset="0"/>
                <a:ea typeface="ADLaM Display" panose="02010000000000000000" pitchFamily="2" charset="0"/>
                <a:cs typeface="ADLaM Display" panose="02010000000000000000" pitchFamily="2" charset="0"/>
              </a:rPr>
              <a:t> </a:t>
            </a:r>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nombreClase</a:t>
            </a:r>
            <a:r>
              <a:rPr lang="en-US" sz="2400" dirty="0">
                <a:latin typeface="ADLaM Display" panose="02010000000000000000" pitchFamily="2" charset="0"/>
                <a:ea typeface="ADLaM Display" panose="02010000000000000000" pitchFamily="2" charset="0"/>
                <a:cs typeface="ADLaM Display" panose="02010000000000000000" pitchFamily="2" charset="0"/>
              </a:rPr>
              <a:t>::</a:t>
            </a:r>
            <a:r>
              <a:rPr lang="en-US" sz="24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Método</a:t>
            </a:r>
            <a:r>
              <a:rPr lang="en-US" sz="2400" dirty="0">
                <a:latin typeface="ADLaM Display" panose="02010000000000000000" pitchFamily="2" charset="0"/>
                <a:ea typeface="ADLaM Display" panose="02010000000000000000" pitchFamily="2" charset="0"/>
                <a:cs typeface="ADLaM Display" panose="02010000000000000000" pitchFamily="2" charset="0"/>
              </a:rPr>
              <a:t>(</a:t>
            </a:r>
            <a:r>
              <a:rPr lang="en-US" sz="2400" dirty="0">
                <a:solidFill>
                  <a:srgbClr val="7030A0"/>
                </a:solidFill>
                <a:latin typeface="ADLaM Display" panose="02010000000000000000" pitchFamily="2" charset="0"/>
                <a:ea typeface="ADLaM Display" panose="02010000000000000000" pitchFamily="2" charset="0"/>
                <a:cs typeface="ADLaM Display" panose="02010000000000000000" pitchFamily="2" charset="0"/>
              </a:rPr>
              <a:t>parametros</a:t>
            </a:r>
            <a:r>
              <a:rPr lang="en-US" sz="2400" dirty="0">
                <a:latin typeface="ADLaM Display" panose="02010000000000000000" pitchFamily="2" charset="0"/>
                <a:ea typeface="ADLaM Display" panose="02010000000000000000" pitchFamily="2" charset="0"/>
                <a:cs typeface="ADLaM Display" panose="02010000000000000000" pitchFamily="2" charset="0"/>
              </a:rPr>
              <a:t>)</a:t>
            </a:r>
            <a:r>
              <a:rPr lang="en-US" sz="24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____</a:t>
            </a:r>
            <a:r>
              <a:rPr lang="en-US" sz="2400" dirty="0">
                <a:latin typeface="ADLaM Display" panose="02010000000000000000" pitchFamily="2" charset="0"/>
                <a:ea typeface="ADLaM Display" panose="02010000000000000000" pitchFamily="2" charset="0"/>
                <a:cs typeface="ADLaM Display" panose="02010000000000000000" pitchFamily="2" charset="0"/>
              </a:rPr>
              <a:t>{</a:t>
            </a:r>
          </a:p>
          <a:p>
            <a:pPr indent="-182880">
              <a:spcAft>
                <a:spcPts val="600"/>
              </a:spcAft>
              <a:buClr>
                <a:schemeClr val="accent1"/>
              </a:buClr>
            </a:pPr>
            <a:r>
              <a:rPr lang="en-US" sz="2400" dirty="0">
                <a:latin typeface="ADLaM Display" panose="02010000000000000000" pitchFamily="2" charset="0"/>
                <a:ea typeface="ADLaM Display" panose="02010000000000000000" pitchFamily="2" charset="0"/>
                <a:cs typeface="ADLaM Display" panose="02010000000000000000" pitchFamily="2" charset="0"/>
              </a:rPr>
              <a:t>	//Implementacion</a:t>
            </a:r>
          </a:p>
          <a:p>
            <a:pPr indent="-182880">
              <a:spcAft>
                <a:spcPts val="600"/>
              </a:spcAft>
              <a:buClr>
                <a:schemeClr val="accent1"/>
              </a:buClr>
            </a:pPr>
            <a:r>
              <a:rPr lang="en-US" sz="2400" dirty="0">
                <a:latin typeface="ADLaM Display" panose="02010000000000000000" pitchFamily="2" charset="0"/>
                <a:ea typeface="ADLaM Display" panose="02010000000000000000" pitchFamily="2" charset="0"/>
                <a:cs typeface="ADLaM Display" panose="02010000000000000000" pitchFamily="2" charset="0"/>
              </a:rPr>
              <a:t>}</a:t>
            </a:r>
          </a:p>
          <a:p>
            <a:pPr indent="-182880">
              <a:spcAft>
                <a:spcPts val="600"/>
              </a:spcAft>
              <a:buClr>
                <a:schemeClr val="accent1"/>
              </a:buClr>
            </a:pPr>
            <a:endParaRPr lang="en-US" sz="2400" dirty="0">
              <a:latin typeface="+mn-lt"/>
              <a:ea typeface="+mn-ea"/>
              <a:cs typeface="+mn-cs"/>
            </a:endParaRPr>
          </a:p>
        </p:txBody>
      </p:sp>
      <p:pic>
        <p:nvPicPr>
          <p:cNvPr id="7" name="Imagen 6">
            <a:extLst>
              <a:ext uri="{FF2B5EF4-FFF2-40B4-BE49-F238E27FC236}">
                <a16:creationId xmlns:a16="http://schemas.microsoft.com/office/drawing/2014/main" id="{0037D90D-F244-D873-A6E4-B7F951E25891}"/>
              </a:ext>
            </a:extLst>
          </p:cNvPr>
          <p:cNvPicPr>
            <a:picLocks noChangeAspect="1"/>
          </p:cNvPicPr>
          <p:nvPr/>
        </p:nvPicPr>
        <p:blipFill rotWithShape="1">
          <a:blip r:embed="rId2"/>
          <a:srcRect l="14788" r="17360"/>
          <a:stretch/>
        </p:blipFill>
        <p:spPr>
          <a:xfrm>
            <a:off x="9420691" y="2773680"/>
            <a:ext cx="2771309" cy="4084320"/>
          </a:xfrm>
          <a:prstGeom prst="rect">
            <a:avLst/>
          </a:prstGeom>
        </p:spPr>
      </p:pic>
      <p:sp>
        <p:nvSpPr>
          <p:cNvPr id="6" name="AutoShape 2">
            <a:extLst>
              <a:ext uri="{FF2B5EF4-FFF2-40B4-BE49-F238E27FC236}">
                <a16:creationId xmlns:a16="http://schemas.microsoft.com/office/drawing/2014/main" id="{176F1151-43B1-06F1-20DE-09CAAE7E7CF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1158605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8393BD9C-EF53-B799-EF8B-48BB07A4DDE1}"/>
              </a:ext>
            </a:extLst>
          </p:cNvPr>
          <p:cNvSpPr>
            <a:spLocks noGrp="1"/>
          </p:cNvSpPr>
          <p:nvPr>
            <p:ph type="title"/>
          </p:nvPr>
        </p:nvSpPr>
        <p:spPr>
          <a:xfrm>
            <a:off x="574378" y="170179"/>
            <a:ext cx="6629061" cy="836189"/>
          </a:xfrm>
        </p:spPr>
        <p:txBody>
          <a:bodyPr>
            <a:normAutofit/>
          </a:body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setTime</a:t>
            </a:r>
          </a:p>
        </p:txBody>
      </p:sp>
      <p:pic>
        <p:nvPicPr>
          <p:cNvPr id="6" name="Imagen 5">
            <a:extLst>
              <a:ext uri="{FF2B5EF4-FFF2-40B4-BE49-F238E27FC236}">
                <a16:creationId xmlns:a16="http://schemas.microsoft.com/office/drawing/2014/main" id="{D2097324-3E3F-86C6-B606-F526814CCDE8}"/>
              </a:ext>
            </a:extLst>
          </p:cNvPr>
          <p:cNvPicPr>
            <a:picLocks noChangeAspect="1"/>
          </p:cNvPicPr>
          <p:nvPr/>
        </p:nvPicPr>
        <p:blipFill rotWithShape="1">
          <a:blip r:embed="rId2"/>
          <a:srcRect l="15250" t="21704" r="16417" b="25259"/>
          <a:stretch/>
        </p:blipFill>
        <p:spPr>
          <a:xfrm>
            <a:off x="477519" y="1079500"/>
            <a:ext cx="10763073" cy="4699000"/>
          </a:xfrm>
          <a:prstGeom prst="rect">
            <a:avLst/>
          </a:prstGeom>
        </p:spPr>
      </p:pic>
    </p:spTree>
    <p:extLst>
      <p:ext uri="{BB962C8B-B14F-4D97-AF65-F5344CB8AC3E}">
        <p14:creationId xmlns:p14="http://schemas.microsoft.com/office/powerpoint/2010/main" val="3419256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E90A964-6E46-7AE8-3101-C6FCC8D8928D}"/>
              </a:ext>
            </a:extLst>
          </p:cNvPr>
          <p:cNvSpPr>
            <a:spLocks noGrp="1"/>
          </p:cNvSpPr>
          <p:nvPr>
            <p:ph type="title"/>
          </p:nvPr>
        </p:nvSpPr>
        <p:spPr>
          <a:xfrm>
            <a:off x="574378" y="170179"/>
            <a:ext cx="6629061" cy="836189"/>
          </a:xfrm>
        </p:spPr>
        <p:txBody>
          <a:bodyPr>
            <a:normAutofit/>
          </a:body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getTime</a:t>
            </a:r>
          </a:p>
        </p:txBody>
      </p:sp>
      <p:pic>
        <p:nvPicPr>
          <p:cNvPr id="6" name="Imagen 5">
            <a:extLst>
              <a:ext uri="{FF2B5EF4-FFF2-40B4-BE49-F238E27FC236}">
                <a16:creationId xmlns:a16="http://schemas.microsoft.com/office/drawing/2014/main" id="{732F4FD4-83F6-84C4-B5CD-2F9634817C41}"/>
              </a:ext>
            </a:extLst>
          </p:cNvPr>
          <p:cNvPicPr>
            <a:picLocks noChangeAspect="1"/>
          </p:cNvPicPr>
          <p:nvPr/>
        </p:nvPicPr>
        <p:blipFill rotWithShape="1">
          <a:blip r:embed="rId2"/>
          <a:srcRect l="15626" t="48815" r="4457" b="26000"/>
          <a:stretch/>
        </p:blipFill>
        <p:spPr>
          <a:xfrm>
            <a:off x="711200" y="970280"/>
            <a:ext cx="9743440" cy="1727200"/>
          </a:xfrm>
          <a:prstGeom prst="rect">
            <a:avLst/>
          </a:prstGeom>
        </p:spPr>
      </p:pic>
      <p:sp>
        <p:nvSpPr>
          <p:cNvPr id="9" name="Título 1">
            <a:extLst>
              <a:ext uri="{FF2B5EF4-FFF2-40B4-BE49-F238E27FC236}">
                <a16:creationId xmlns:a16="http://schemas.microsoft.com/office/drawing/2014/main" id="{A70FE536-5BD9-B6F1-7E85-67E4E7E64F86}"/>
              </a:ext>
            </a:extLst>
          </p:cNvPr>
          <p:cNvSpPr txBox="1">
            <a:spLocks/>
          </p:cNvSpPr>
          <p:nvPr/>
        </p:nvSpPr>
        <p:spPr>
          <a:xfrm>
            <a:off x="660400" y="2697480"/>
            <a:ext cx="6629061" cy="836189"/>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printTime</a:t>
            </a:r>
          </a:p>
        </p:txBody>
      </p:sp>
      <p:pic>
        <p:nvPicPr>
          <p:cNvPr id="13" name="Imagen 12">
            <a:extLst>
              <a:ext uri="{FF2B5EF4-FFF2-40B4-BE49-F238E27FC236}">
                <a16:creationId xmlns:a16="http://schemas.microsoft.com/office/drawing/2014/main" id="{113EDE41-14E6-D9C4-2312-D4F171445911}"/>
              </a:ext>
            </a:extLst>
          </p:cNvPr>
          <p:cNvPicPr>
            <a:picLocks noChangeAspect="1"/>
          </p:cNvPicPr>
          <p:nvPr/>
        </p:nvPicPr>
        <p:blipFill rotWithShape="1">
          <a:blip r:embed="rId3"/>
          <a:srcRect l="13500" t="27630" r="54000" b="37185"/>
          <a:stretch/>
        </p:blipFill>
        <p:spPr>
          <a:xfrm>
            <a:off x="711200" y="3596640"/>
            <a:ext cx="4771564" cy="2905760"/>
          </a:xfrm>
          <a:prstGeom prst="rect">
            <a:avLst/>
          </a:prstGeom>
        </p:spPr>
      </p:pic>
    </p:spTree>
    <p:extLst>
      <p:ext uri="{BB962C8B-B14F-4D97-AF65-F5344CB8AC3E}">
        <p14:creationId xmlns:p14="http://schemas.microsoft.com/office/powerpoint/2010/main" val="3402486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0B48405-C7EF-B21C-9CA5-095234F31C9D}"/>
              </a:ext>
            </a:extLst>
          </p:cNvPr>
          <p:cNvSpPr>
            <a:spLocks noGrp="1"/>
          </p:cNvSpPr>
          <p:nvPr>
            <p:ph type="title"/>
          </p:nvPr>
        </p:nvSpPr>
        <p:spPr>
          <a:xfrm>
            <a:off x="574378" y="170179"/>
            <a:ext cx="6629061" cy="836189"/>
          </a:xfrm>
        </p:spPr>
        <p:txBody>
          <a:bodyPr>
            <a:normAutofit/>
          </a:body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increments</a:t>
            </a:r>
          </a:p>
        </p:txBody>
      </p:sp>
      <p:pic>
        <p:nvPicPr>
          <p:cNvPr id="8" name="Imagen 7">
            <a:extLst>
              <a:ext uri="{FF2B5EF4-FFF2-40B4-BE49-F238E27FC236}">
                <a16:creationId xmlns:a16="http://schemas.microsoft.com/office/drawing/2014/main" id="{2843080A-FF17-3DBE-D62F-30CCC3A192CA}"/>
              </a:ext>
            </a:extLst>
          </p:cNvPr>
          <p:cNvPicPr>
            <a:picLocks noChangeAspect="1"/>
          </p:cNvPicPr>
          <p:nvPr/>
        </p:nvPicPr>
        <p:blipFill rotWithShape="1">
          <a:blip r:embed="rId2"/>
          <a:srcRect l="12666" t="20666" r="47835" b="24963"/>
          <a:stretch/>
        </p:blipFill>
        <p:spPr>
          <a:xfrm>
            <a:off x="721360" y="1122679"/>
            <a:ext cx="6934200" cy="5368885"/>
          </a:xfrm>
          <a:prstGeom prst="rect">
            <a:avLst/>
          </a:prstGeom>
        </p:spPr>
      </p:pic>
    </p:spTree>
    <p:extLst>
      <p:ext uri="{BB962C8B-B14F-4D97-AF65-F5344CB8AC3E}">
        <p14:creationId xmlns:p14="http://schemas.microsoft.com/office/powerpoint/2010/main" val="931527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9E74C29-59E0-210E-DEBA-131F5664A202}"/>
              </a:ext>
            </a:extLst>
          </p:cNvPr>
          <p:cNvPicPr>
            <a:picLocks noChangeAspect="1"/>
          </p:cNvPicPr>
          <p:nvPr/>
        </p:nvPicPr>
        <p:blipFill rotWithShape="1">
          <a:blip r:embed="rId2"/>
          <a:srcRect l="12666" t="25481" r="35292" b="58334"/>
          <a:stretch/>
        </p:blipFill>
        <p:spPr>
          <a:xfrm>
            <a:off x="680720" y="1082040"/>
            <a:ext cx="9554086" cy="1671320"/>
          </a:xfrm>
          <a:prstGeom prst="rect">
            <a:avLst/>
          </a:prstGeom>
        </p:spPr>
      </p:pic>
      <p:pic>
        <p:nvPicPr>
          <p:cNvPr id="6" name="Imagen 5">
            <a:extLst>
              <a:ext uri="{FF2B5EF4-FFF2-40B4-BE49-F238E27FC236}">
                <a16:creationId xmlns:a16="http://schemas.microsoft.com/office/drawing/2014/main" id="{330EA0B6-89F3-CAD3-D0AA-FFBEE6CF6CB3}"/>
              </a:ext>
            </a:extLst>
          </p:cNvPr>
          <p:cNvPicPr>
            <a:picLocks noChangeAspect="1"/>
          </p:cNvPicPr>
          <p:nvPr/>
        </p:nvPicPr>
        <p:blipFill rotWithShape="1">
          <a:blip r:embed="rId2"/>
          <a:srcRect l="12362" t="43289" r="35596" b="30442"/>
          <a:stretch/>
        </p:blipFill>
        <p:spPr>
          <a:xfrm>
            <a:off x="680720" y="3672840"/>
            <a:ext cx="9554086" cy="2712720"/>
          </a:xfrm>
          <a:prstGeom prst="rect">
            <a:avLst/>
          </a:prstGeom>
        </p:spPr>
      </p:pic>
      <p:sp>
        <p:nvSpPr>
          <p:cNvPr id="7" name="Título 1">
            <a:extLst>
              <a:ext uri="{FF2B5EF4-FFF2-40B4-BE49-F238E27FC236}">
                <a16:creationId xmlns:a16="http://schemas.microsoft.com/office/drawing/2014/main" id="{3E02D099-3A69-B276-AB59-13830F5623A5}"/>
              </a:ext>
            </a:extLst>
          </p:cNvPr>
          <p:cNvSpPr>
            <a:spLocks noGrp="1"/>
          </p:cNvSpPr>
          <p:nvPr>
            <p:ph type="title"/>
          </p:nvPr>
        </p:nvSpPr>
        <p:spPr>
          <a:xfrm>
            <a:off x="680720" y="245851"/>
            <a:ext cx="6629061" cy="836189"/>
          </a:xfrm>
        </p:spPr>
        <p:txBody>
          <a:bodyPr>
            <a:normAutofit/>
          </a:body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equalTime</a:t>
            </a:r>
          </a:p>
        </p:txBody>
      </p:sp>
      <p:sp>
        <p:nvSpPr>
          <p:cNvPr id="8" name="Título 1">
            <a:extLst>
              <a:ext uri="{FF2B5EF4-FFF2-40B4-BE49-F238E27FC236}">
                <a16:creationId xmlns:a16="http://schemas.microsoft.com/office/drawing/2014/main" id="{6B538A21-CEE3-07C8-BE23-76CE246781F2}"/>
              </a:ext>
            </a:extLst>
          </p:cNvPr>
          <p:cNvSpPr txBox="1">
            <a:spLocks/>
          </p:cNvSpPr>
          <p:nvPr/>
        </p:nvSpPr>
        <p:spPr>
          <a:xfrm>
            <a:off x="680720" y="2658851"/>
            <a:ext cx="6629061" cy="836189"/>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Constructores</a:t>
            </a:r>
          </a:p>
        </p:txBody>
      </p:sp>
    </p:spTree>
    <p:extLst>
      <p:ext uri="{BB962C8B-B14F-4D97-AF65-F5344CB8AC3E}">
        <p14:creationId xmlns:p14="http://schemas.microsoft.com/office/powerpoint/2010/main" val="2753826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9BA4A8C-8F71-40E6-1D36-C1146D963050}"/>
              </a:ext>
            </a:extLst>
          </p:cNvPr>
          <p:cNvSpPr>
            <a:spLocks noGrp="1"/>
          </p:cNvSpPr>
          <p:nvPr>
            <p:ph type="title"/>
          </p:nvPr>
        </p:nvSpPr>
        <p:spPr>
          <a:xfrm>
            <a:off x="680720" y="245851"/>
            <a:ext cx="6629061" cy="836189"/>
          </a:xfrm>
        </p:spPr>
        <p:txBody>
          <a:bodyPr>
            <a:normAutofit/>
          </a:bodyPr>
          <a:lstStyle/>
          <a:p>
            <a:r>
              <a:rPr lang="es-MX" sz="4000" dirty="0">
                <a:latin typeface="ADLaM Display" panose="02010000000000000000" pitchFamily="2" charset="0"/>
                <a:ea typeface="ADLaM Display" panose="02010000000000000000" pitchFamily="2" charset="0"/>
                <a:cs typeface="ADLaM Display" panose="02010000000000000000" pitchFamily="2" charset="0"/>
              </a:rPr>
              <a:t>Operador de asignación</a:t>
            </a:r>
          </a:p>
        </p:txBody>
      </p:sp>
      <p:pic>
        <p:nvPicPr>
          <p:cNvPr id="6" name="Imagen 5">
            <a:extLst>
              <a:ext uri="{FF2B5EF4-FFF2-40B4-BE49-F238E27FC236}">
                <a16:creationId xmlns:a16="http://schemas.microsoft.com/office/drawing/2014/main" id="{1D22470C-84DD-43C7-7457-D8D2B13B00DC}"/>
              </a:ext>
            </a:extLst>
          </p:cNvPr>
          <p:cNvPicPr>
            <a:picLocks noChangeAspect="1"/>
          </p:cNvPicPr>
          <p:nvPr/>
        </p:nvPicPr>
        <p:blipFill rotWithShape="1">
          <a:blip r:embed="rId2"/>
          <a:srcRect l="19167" t="36815" r="37333" b="28666"/>
          <a:stretch/>
        </p:blipFill>
        <p:spPr>
          <a:xfrm>
            <a:off x="2799080" y="1252783"/>
            <a:ext cx="5303520" cy="2367280"/>
          </a:xfrm>
          <a:prstGeom prst="rect">
            <a:avLst/>
          </a:prstGeom>
        </p:spPr>
      </p:pic>
      <p:pic>
        <p:nvPicPr>
          <p:cNvPr id="7" name="Imagen 6">
            <a:extLst>
              <a:ext uri="{FF2B5EF4-FFF2-40B4-BE49-F238E27FC236}">
                <a16:creationId xmlns:a16="http://schemas.microsoft.com/office/drawing/2014/main" id="{76AFA267-2DBE-5BB5-0CDC-88F931548C40}"/>
              </a:ext>
            </a:extLst>
          </p:cNvPr>
          <p:cNvPicPr>
            <a:picLocks noChangeAspect="1"/>
          </p:cNvPicPr>
          <p:nvPr/>
        </p:nvPicPr>
        <p:blipFill>
          <a:blip r:embed="rId3"/>
          <a:stretch>
            <a:fillRect/>
          </a:stretch>
        </p:blipFill>
        <p:spPr>
          <a:xfrm>
            <a:off x="1183640" y="1981200"/>
            <a:ext cx="1447800" cy="1447800"/>
          </a:xfrm>
          <a:prstGeom prst="rect">
            <a:avLst/>
          </a:prstGeom>
        </p:spPr>
      </p:pic>
    </p:spTree>
    <p:extLst>
      <p:ext uri="{BB962C8B-B14F-4D97-AF65-F5344CB8AC3E}">
        <p14:creationId xmlns:p14="http://schemas.microsoft.com/office/powerpoint/2010/main" val="3278964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91B4E84-1E62-268B-7654-0303DF9A1D6C}"/>
              </a:ext>
            </a:extLst>
          </p:cNvPr>
          <p:cNvSpPr txBox="1"/>
          <p:nvPr/>
        </p:nvSpPr>
        <p:spPr>
          <a:xfrm>
            <a:off x="221365" y="761729"/>
            <a:ext cx="10641475" cy="5909310"/>
          </a:xfrm>
          <a:prstGeom prst="rect">
            <a:avLst/>
          </a:prstGeom>
          <a:noFill/>
        </p:spPr>
        <p:txBody>
          <a:bodyPr wrap="square">
            <a:spAutoFit/>
          </a:bodyPr>
          <a:lstStyle/>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Una clase es una colección de un número fijo de componentes.</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componentes de una clase se llaman miembros de la clase.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Se accede a los miembros de una clase por el nombre.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En C++, </a:t>
            </a:r>
            <a:r>
              <a:rPr lang="es-MX" dirty="0" err="1">
                <a:latin typeface="ADLaM Display" panose="02010000000000000000" pitchFamily="2" charset="0"/>
                <a:ea typeface="ADLaM Display" panose="02010000000000000000" pitchFamily="2" charset="0"/>
                <a:cs typeface="ADLaM Display" panose="02010000000000000000" pitchFamily="2" charset="0"/>
              </a:rPr>
              <a:t>class</a:t>
            </a:r>
            <a:r>
              <a:rPr lang="es-MX" dirty="0">
                <a:latin typeface="ADLaM Display" panose="02010000000000000000" pitchFamily="2" charset="0"/>
                <a:ea typeface="ADLaM Display" panose="02010000000000000000" pitchFamily="2" charset="0"/>
                <a:cs typeface="ADLaM Display" panose="02010000000000000000" pitchFamily="2" charset="0"/>
              </a:rPr>
              <a:t> es una palabra reservada.</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miembros de una clase se clasifican en una de tres categorías: private, protected y public.</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miembros private de una clase no son accesibles fuera de la clase.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miembros public de una clase son accesibles fuera de la clase.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Por defecto, todos los miembros de una clase son private.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miembros public se declaran utilizando el especificador de acceso a miembros public.</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miembros private se declaran utilizando el especificador de acceso a miembros private.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Un miembro de una clase puede ser una función o una variable (es decir, datos)</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Si algún miembro de una clase es una función, por lo general se utiliza la función prototipo para declararlo.</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Si algún miembro de una clase es una variable, se declara como cualquier otra variable.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En la definición de clases, no se puede inicializar una variable cuando ésta se declara.</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En C++, </a:t>
            </a:r>
            <a:r>
              <a:rPr lang="es-MX" dirty="0" err="1">
                <a:latin typeface="ADLaM Display" panose="02010000000000000000" pitchFamily="2" charset="0"/>
                <a:ea typeface="ADLaM Display" panose="02010000000000000000" pitchFamily="2" charset="0"/>
                <a:cs typeface="ADLaM Display" panose="02010000000000000000" pitchFamily="2" charset="0"/>
              </a:rPr>
              <a:t>class</a:t>
            </a:r>
            <a:r>
              <a:rPr lang="es-MX" dirty="0">
                <a:latin typeface="ADLaM Display" panose="02010000000000000000" pitchFamily="2" charset="0"/>
                <a:ea typeface="ADLaM Display" panose="02010000000000000000" pitchFamily="2" charset="0"/>
                <a:cs typeface="ADLaM Display" panose="02010000000000000000" pitchFamily="2" charset="0"/>
              </a:rPr>
              <a:t> es una definición. No tiene memoria asignada; la memoria se asigna para las variables de clase cuando usted las declara.</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En C++, las variables de clase se llaman objetos de clase o sencillamente objetos.</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Para tener acceso a un miembro de clase se utiliza el nombre de la variable de clase, seguido por el operador punto (“.”) y luego por el nombre del miembro.</a:t>
            </a:r>
          </a:p>
        </p:txBody>
      </p:sp>
      <p:sp>
        <p:nvSpPr>
          <p:cNvPr id="6" name="CuadroTexto 5">
            <a:extLst>
              <a:ext uri="{FF2B5EF4-FFF2-40B4-BE49-F238E27FC236}">
                <a16:creationId xmlns:a16="http://schemas.microsoft.com/office/drawing/2014/main" id="{E76DF766-530F-F358-78B9-B26093056506}"/>
              </a:ext>
            </a:extLst>
          </p:cNvPr>
          <p:cNvSpPr txBox="1"/>
          <p:nvPr/>
        </p:nvSpPr>
        <p:spPr>
          <a:xfrm>
            <a:off x="312516" y="248856"/>
            <a:ext cx="9057190" cy="461665"/>
          </a:xfrm>
          <a:prstGeom prst="rect">
            <a:avLst/>
          </a:prstGeom>
          <a:noFill/>
        </p:spPr>
        <p:txBody>
          <a:bodyPr wrap="square" rtlCol="0">
            <a:spAutoFit/>
          </a:bodyPr>
          <a:lstStyle/>
          <a:p>
            <a:r>
              <a:rPr lang="es-MX" sz="2400" u="sng" dirty="0">
                <a:latin typeface="ADLaM Display" panose="02010000000000000000" pitchFamily="2" charset="0"/>
                <a:ea typeface="ADLaM Display" panose="02010000000000000000" pitchFamily="2" charset="0"/>
                <a:cs typeface="ADLaM Display" panose="02010000000000000000" pitchFamily="2" charset="0"/>
              </a:rPr>
              <a:t>RESUMEN</a:t>
            </a:r>
          </a:p>
        </p:txBody>
      </p:sp>
    </p:spTree>
    <p:extLst>
      <p:ext uri="{BB962C8B-B14F-4D97-AF65-F5344CB8AC3E}">
        <p14:creationId xmlns:p14="http://schemas.microsoft.com/office/powerpoint/2010/main" val="2984566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BD6B31C-F52F-D3BD-DFC2-33E7770D9011}"/>
              </a:ext>
            </a:extLst>
          </p:cNvPr>
          <p:cNvSpPr txBox="1"/>
          <p:nvPr/>
        </p:nvSpPr>
        <p:spPr>
          <a:xfrm>
            <a:off x="221366" y="197346"/>
            <a:ext cx="10456280" cy="6463308"/>
          </a:xfrm>
          <a:prstGeom prst="rect">
            <a:avLst/>
          </a:prstGeom>
          <a:noFill/>
        </p:spPr>
        <p:txBody>
          <a:bodyPr wrap="square">
            <a:spAutoFit/>
          </a:bodyPr>
          <a:lstStyle/>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Las únicas operaciones integradas en las clases son la asignación y la selección de miembros. </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objetos de clase pueden pasarse como parámetros a las funciones y devolverse como valores de función.</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Como parámetros para las funciones, las clases se pueden pasar por valor o por referencia.</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constructores garantizan que los miembros de datos se inicialicen cuando se declare un objeto.</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El nombre de un constructor es el mismo que el nombre de la clase.</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Una clase puede tener más de un constructor.</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Un constructor sin parámetros se llama el constructor predeterminado.</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constructores predeterminados se ejecutan automáticamente cuando un objeto </a:t>
            </a:r>
            <a:r>
              <a:rPr lang="es-MX" dirty="0" err="1">
                <a:latin typeface="ADLaM Display" panose="02010000000000000000" pitchFamily="2" charset="0"/>
                <a:ea typeface="ADLaM Display" panose="02010000000000000000" pitchFamily="2" charset="0"/>
                <a:cs typeface="ADLaM Display" panose="02010000000000000000" pitchFamily="2" charset="0"/>
              </a:rPr>
              <a:t>class</a:t>
            </a:r>
            <a:r>
              <a:rPr lang="es-MX" dirty="0">
                <a:latin typeface="ADLaM Display" panose="02010000000000000000" pitchFamily="2" charset="0"/>
                <a:ea typeface="ADLaM Display" panose="02010000000000000000" pitchFamily="2" charset="0"/>
                <a:cs typeface="ADLaM Display" panose="02010000000000000000" pitchFamily="2" charset="0"/>
              </a:rPr>
              <a:t> entra en su ámbito.</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destructores se ejecutan en forma automática cuando un objeto </a:t>
            </a:r>
            <a:r>
              <a:rPr lang="es-MX" dirty="0" err="1">
                <a:latin typeface="ADLaM Display" panose="02010000000000000000" pitchFamily="2" charset="0"/>
                <a:ea typeface="ADLaM Display" panose="02010000000000000000" pitchFamily="2" charset="0"/>
                <a:cs typeface="ADLaM Display" panose="02010000000000000000" pitchFamily="2" charset="0"/>
              </a:rPr>
              <a:t>class</a:t>
            </a:r>
            <a:r>
              <a:rPr lang="es-MX" dirty="0">
                <a:latin typeface="ADLaM Display" panose="02010000000000000000" pitchFamily="2" charset="0"/>
                <a:ea typeface="ADLaM Display" panose="02010000000000000000" pitchFamily="2" charset="0"/>
                <a:cs typeface="ADLaM Display" panose="02010000000000000000" pitchFamily="2" charset="0"/>
              </a:rPr>
              <a:t> sale del ámbito.</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Una clase puede tener sólo un destructor sin parámetros.</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El nombre de un destructor es la tilde (“~”), seguida por el nombre de la clase (sin espacios intermedios).</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Los constructores y los destructores son funciones sin ningún tipo; es decir, no devuelven un valor ni son </a:t>
            </a:r>
            <a:r>
              <a:rPr lang="es-MX" dirty="0" err="1">
                <a:latin typeface="ADLaM Display" panose="02010000000000000000" pitchFamily="2" charset="0"/>
                <a:ea typeface="ADLaM Display" panose="02010000000000000000" pitchFamily="2" charset="0"/>
                <a:cs typeface="ADLaM Display" panose="02010000000000000000" pitchFamily="2" charset="0"/>
              </a:rPr>
              <a:t>void</a:t>
            </a:r>
            <a:r>
              <a:rPr lang="es-MX" dirty="0">
                <a:latin typeface="ADLaM Display" panose="02010000000000000000" pitchFamily="2" charset="0"/>
                <a:ea typeface="ADLaM Display" panose="02010000000000000000" pitchFamily="2" charset="0"/>
                <a:cs typeface="ADLaM Display" panose="02010000000000000000" pitchFamily="2" charset="0"/>
              </a:rPr>
              <a:t>. Como resultado, no pueden llamarse como las otras funciones.</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Un tipo de datos que especifica las propiedades lógicas sin los detalles de implementación se llama tipo de datos abstracto (ADT).</a:t>
            </a:r>
          </a:p>
          <a:p>
            <a:pPr marL="285750" indent="-285750">
              <a:buFont typeface="Arial" panose="020B0604020202020204" pitchFamily="34" charset="0"/>
              <a:buChar char="•"/>
            </a:pPr>
            <a:r>
              <a:rPr lang="es-MX" dirty="0">
                <a:latin typeface="ADLaM Display" panose="02010000000000000000" pitchFamily="2" charset="0"/>
                <a:ea typeface="ADLaM Display" panose="02010000000000000000" pitchFamily="2" charset="0"/>
                <a:cs typeface="ADLaM Display" panose="02010000000000000000" pitchFamily="2" charset="0"/>
              </a:rPr>
              <a:t>Una manera fácil de identificar las clases, objetos y las operaciones es describir el problema en palabras y luego identificar todos los sustantivos y los verbos. Elija sus clases (objetos) de la lista de nombres y las operaciones de la lista de verbos.</a:t>
            </a:r>
          </a:p>
        </p:txBody>
      </p:sp>
    </p:spTree>
    <p:extLst>
      <p:ext uri="{BB962C8B-B14F-4D97-AF65-F5344CB8AC3E}">
        <p14:creationId xmlns:p14="http://schemas.microsoft.com/office/powerpoint/2010/main" val="1836458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814D879-5377-D1E2-6211-7F5298E7D72B}"/>
              </a:ext>
            </a:extLst>
          </p:cNvPr>
          <p:cNvSpPr txBox="1"/>
          <p:nvPr/>
        </p:nvSpPr>
        <p:spPr>
          <a:xfrm>
            <a:off x="3346127" y="2653453"/>
            <a:ext cx="4891779" cy="1446550"/>
          </a:xfrm>
          <a:prstGeom prst="rect">
            <a:avLst/>
          </a:prstGeom>
          <a:noFill/>
        </p:spPr>
        <p:txBody>
          <a:bodyPr wrap="square" rtlCol="0">
            <a:spAutoFit/>
          </a:bodyPr>
          <a:lstStyle/>
          <a:p>
            <a:r>
              <a:rPr lang="es-MX" sz="8800" b="1" dirty="0">
                <a:latin typeface="ADLaM Display" panose="02010000000000000000" pitchFamily="2" charset="0"/>
                <a:ea typeface="ADLaM Display" panose="02010000000000000000" pitchFamily="2" charset="0"/>
                <a:cs typeface="ADLaM Display" panose="02010000000000000000" pitchFamily="2" charset="0"/>
              </a:rPr>
              <a:t>PARTE II</a:t>
            </a:r>
          </a:p>
        </p:txBody>
      </p:sp>
    </p:spTree>
    <p:extLst>
      <p:ext uri="{BB962C8B-B14F-4D97-AF65-F5344CB8AC3E}">
        <p14:creationId xmlns:p14="http://schemas.microsoft.com/office/powerpoint/2010/main" val="3828529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25CF1AC-E181-8870-088D-091BB769C747}"/>
              </a:ext>
            </a:extLst>
          </p:cNvPr>
          <p:cNvPicPr>
            <a:picLocks noChangeAspect="1"/>
          </p:cNvPicPr>
          <p:nvPr/>
        </p:nvPicPr>
        <p:blipFill>
          <a:blip r:embed="rId2"/>
          <a:stretch>
            <a:fillRect/>
          </a:stretch>
        </p:blipFill>
        <p:spPr>
          <a:xfrm>
            <a:off x="350520" y="604520"/>
            <a:ext cx="5914390" cy="5858062"/>
          </a:xfrm>
          <a:prstGeom prst="rect">
            <a:avLst/>
          </a:prstGeom>
        </p:spPr>
      </p:pic>
      <p:sp>
        <p:nvSpPr>
          <p:cNvPr id="6" name="CuadroTexto 5">
            <a:extLst>
              <a:ext uri="{FF2B5EF4-FFF2-40B4-BE49-F238E27FC236}">
                <a16:creationId xmlns:a16="http://schemas.microsoft.com/office/drawing/2014/main" id="{4E314AE6-C32E-9B70-B5D2-475F87E02037}"/>
              </a:ext>
            </a:extLst>
          </p:cNvPr>
          <p:cNvSpPr txBox="1"/>
          <p:nvPr/>
        </p:nvSpPr>
        <p:spPr>
          <a:xfrm>
            <a:off x="2298700" y="39701"/>
            <a:ext cx="6104466" cy="523220"/>
          </a:xfrm>
          <a:prstGeom prst="rect">
            <a:avLst/>
          </a:prstGeom>
          <a:noFill/>
        </p:spPr>
        <p:txBody>
          <a:bodyPr wrap="square">
            <a:spAutoFit/>
          </a:bodyPr>
          <a:lstStyle/>
          <a:p>
            <a:pPr algn="ctr"/>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EJERCICIO</a:t>
            </a:r>
          </a:p>
        </p:txBody>
      </p:sp>
    </p:spTree>
    <p:extLst>
      <p:ext uri="{BB962C8B-B14F-4D97-AF65-F5344CB8AC3E}">
        <p14:creationId xmlns:p14="http://schemas.microsoft.com/office/powerpoint/2010/main" val="6669982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8AB6067-7E34-4668-F17D-C859C9DEB750}"/>
              </a:ext>
            </a:extLst>
          </p:cNvPr>
          <p:cNvPicPr>
            <a:picLocks noChangeAspect="1"/>
          </p:cNvPicPr>
          <p:nvPr/>
        </p:nvPicPr>
        <p:blipFill rotWithShape="1">
          <a:blip r:embed="rId2"/>
          <a:srcRect l="9708" t="19037" r="42083" b="35408"/>
          <a:stretch/>
        </p:blipFill>
        <p:spPr>
          <a:xfrm>
            <a:off x="172720" y="833120"/>
            <a:ext cx="10732520" cy="5704840"/>
          </a:xfrm>
          <a:prstGeom prst="rect">
            <a:avLst/>
          </a:prstGeom>
        </p:spPr>
      </p:pic>
      <p:sp>
        <p:nvSpPr>
          <p:cNvPr id="6" name="CuadroTexto 5">
            <a:extLst>
              <a:ext uri="{FF2B5EF4-FFF2-40B4-BE49-F238E27FC236}">
                <a16:creationId xmlns:a16="http://schemas.microsoft.com/office/drawing/2014/main" id="{CC153C11-2BF2-713D-9669-3FD89B7F5C06}"/>
              </a:ext>
            </a:extLst>
          </p:cNvPr>
          <p:cNvSpPr txBox="1"/>
          <p:nvPr/>
        </p:nvSpPr>
        <p:spPr>
          <a:xfrm>
            <a:off x="2298700" y="39701"/>
            <a:ext cx="6104466" cy="523220"/>
          </a:xfrm>
          <a:prstGeom prst="rect">
            <a:avLst/>
          </a:prstGeom>
          <a:noFill/>
        </p:spPr>
        <p:txBody>
          <a:bodyPr wrap="square">
            <a:spAutoFit/>
          </a:bodyPr>
          <a:lstStyle/>
          <a:p>
            <a:pPr algn="ctr"/>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DECLARACION DE LA CLASE</a:t>
            </a:r>
          </a:p>
        </p:txBody>
      </p:sp>
      <p:pic>
        <p:nvPicPr>
          <p:cNvPr id="3074" name="Picture 2" descr="Icono de persona png imágenes | PNGWing">
            <a:extLst>
              <a:ext uri="{FF2B5EF4-FFF2-40B4-BE49-F238E27FC236}">
                <a16:creationId xmlns:a16="http://schemas.microsoft.com/office/drawing/2014/main" id="{10651770-4BB6-D25C-FA5E-BCFBB8E8D1A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6667" b="95278" l="4444" r="97500">
                        <a14:foregroundMark x1="47500" y1="6944" x2="47500" y2="6944"/>
                        <a14:foregroundMark x1="21389" y1="82222" x2="21389" y2="82222"/>
                        <a14:foregroundMark x1="90278" y1="92500" x2="90278" y2="92500"/>
                        <a14:foregroundMark x1="97500" y1="91667" x2="97500" y2="91667"/>
                        <a14:foregroundMark x1="77778" y1="79444" x2="77778" y2="79444"/>
                        <a14:foregroundMark x1="84722" y1="73333" x2="18056" y2="79167"/>
                        <a14:foregroundMark x1="11111" y1="85833" x2="4444" y2="95278"/>
                      </a14:backgroundRemoval>
                    </a14:imgEffect>
                  </a14:imgLayer>
                </a14:imgProps>
              </a:ext>
              <a:ext uri="{28A0092B-C50C-407E-A947-70E740481C1C}">
                <a14:useLocalDpi xmlns:a14="http://schemas.microsoft.com/office/drawing/2010/main" val="0"/>
              </a:ext>
            </a:extLst>
          </a:blip>
          <a:srcRect/>
          <a:stretch>
            <a:fillRect/>
          </a:stretch>
        </p:blipFill>
        <p:spPr bwMode="auto">
          <a:xfrm>
            <a:off x="8735060" y="4315460"/>
            <a:ext cx="2222500" cy="222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3364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D184EBA-160E-6732-372C-8B09B32923C9}"/>
              </a:ext>
            </a:extLst>
          </p:cNvPr>
          <p:cNvSpPr txBox="1"/>
          <p:nvPr/>
        </p:nvSpPr>
        <p:spPr>
          <a:xfrm>
            <a:off x="2298700" y="39701"/>
            <a:ext cx="6104466" cy="523220"/>
          </a:xfrm>
          <a:prstGeom prst="rect">
            <a:avLst/>
          </a:prstGeom>
          <a:noFill/>
        </p:spPr>
        <p:txBody>
          <a:bodyPr wrap="square">
            <a:spAutoFit/>
          </a:bodyPr>
          <a:lstStyle/>
          <a:p>
            <a:pPr algn="ctr"/>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DEFINICION DE METODOS</a:t>
            </a:r>
          </a:p>
        </p:txBody>
      </p:sp>
      <p:pic>
        <p:nvPicPr>
          <p:cNvPr id="6" name="Imagen 5">
            <a:extLst>
              <a:ext uri="{FF2B5EF4-FFF2-40B4-BE49-F238E27FC236}">
                <a16:creationId xmlns:a16="http://schemas.microsoft.com/office/drawing/2014/main" id="{7C9030E6-9678-FB41-B05A-10EEE2305BF2}"/>
              </a:ext>
            </a:extLst>
          </p:cNvPr>
          <p:cNvPicPr>
            <a:picLocks noChangeAspect="1"/>
          </p:cNvPicPr>
          <p:nvPr/>
        </p:nvPicPr>
        <p:blipFill rotWithShape="1">
          <a:blip r:embed="rId2"/>
          <a:srcRect l="9291" t="22519" r="41376" b="32370"/>
          <a:stretch/>
        </p:blipFill>
        <p:spPr>
          <a:xfrm>
            <a:off x="101599" y="675640"/>
            <a:ext cx="11150441" cy="5735320"/>
          </a:xfrm>
          <a:prstGeom prst="rect">
            <a:avLst/>
          </a:prstGeom>
        </p:spPr>
      </p:pic>
    </p:spTree>
    <p:extLst>
      <p:ext uri="{BB962C8B-B14F-4D97-AF65-F5344CB8AC3E}">
        <p14:creationId xmlns:p14="http://schemas.microsoft.com/office/powerpoint/2010/main" val="635967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5D3D805-4EFC-72E4-5BAE-7EEAE9C3F238}"/>
              </a:ext>
            </a:extLst>
          </p:cNvPr>
          <p:cNvPicPr>
            <a:picLocks noChangeAspect="1"/>
          </p:cNvPicPr>
          <p:nvPr/>
        </p:nvPicPr>
        <p:blipFill rotWithShape="1">
          <a:blip r:embed="rId2"/>
          <a:srcRect l="9625" t="21037" r="44042" b="28148"/>
          <a:stretch/>
        </p:blipFill>
        <p:spPr>
          <a:xfrm>
            <a:off x="111759" y="147320"/>
            <a:ext cx="10219183" cy="6304280"/>
          </a:xfrm>
          <a:prstGeom prst="rect">
            <a:avLst/>
          </a:prstGeom>
        </p:spPr>
      </p:pic>
    </p:spTree>
    <p:extLst>
      <p:ext uri="{BB962C8B-B14F-4D97-AF65-F5344CB8AC3E}">
        <p14:creationId xmlns:p14="http://schemas.microsoft.com/office/powerpoint/2010/main" val="626335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0D04458-FA97-4FF7-DE53-B04177BC35E7}"/>
              </a:ext>
            </a:extLst>
          </p:cNvPr>
          <p:cNvSpPr txBox="1"/>
          <p:nvPr/>
        </p:nvSpPr>
        <p:spPr>
          <a:xfrm>
            <a:off x="157090" y="148287"/>
            <a:ext cx="1880057"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Herencia</a:t>
            </a:r>
          </a:p>
        </p:txBody>
      </p:sp>
      <p:sp>
        <p:nvSpPr>
          <p:cNvPr id="6" name="Título 1">
            <a:extLst>
              <a:ext uri="{FF2B5EF4-FFF2-40B4-BE49-F238E27FC236}">
                <a16:creationId xmlns:a16="http://schemas.microsoft.com/office/drawing/2014/main" id="{5159A1FC-1C23-DA6E-AF38-3A036608CBFA}"/>
              </a:ext>
            </a:extLst>
          </p:cNvPr>
          <p:cNvSpPr txBox="1">
            <a:spLocks/>
          </p:cNvSpPr>
          <p:nvPr/>
        </p:nvSpPr>
        <p:spPr>
          <a:xfrm>
            <a:off x="157090" y="612626"/>
            <a:ext cx="7001854" cy="567994"/>
          </a:xfrm>
          <a:prstGeom prst="rect">
            <a:avLst/>
          </a:prstGeom>
          <a:ln w="38100">
            <a:noFill/>
          </a:ln>
        </p:spPr>
        <p:txBody>
          <a:bodyPr vert="horz" lIns="91440" tIns="45720" rIns="91440" bIns="45720" rtlCol="0" anchor="b">
            <a:normAutofit fontScale="47500" lnSpcReduction="2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s-MX" dirty="0">
                <a:latin typeface="ADLaM Display" panose="02010000000000000000" pitchFamily="2" charset="0"/>
                <a:ea typeface="ADLaM Display" panose="02010000000000000000" pitchFamily="2" charset="0"/>
                <a:cs typeface="ADLaM Display" panose="02010000000000000000" pitchFamily="2" charset="0"/>
              </a:rPr>
              <a:t>Creación de nuevas clases a partir de otra ya existentes</a:t>
            </a:r>
          </a:p>
        </p:txBody>
      </p:sp>
      <p:sp>
        <p:nvSpPr>
          <p:cNvPr id="7" name="Cerrar llave 6">
            <a:extLst>
              <a:ext uri="{FF2B5EF4-FFF2-40B4-BE49-F238E27FC236}">
                <a16:creationId xmlns:a16="http://schemas.microsoft.com/office/drawing/2014/main" id="{E260F658-85FB-EBE1-6B7C-EEBA8E65E0F6}"/>
              </a:ext>
            </a:extLst>
          </p:cNvPr>
          <p:cNvSpPr/>
          <p:nvPr/>
        </p:nvSpPr>
        <p:spPr>
          <a:xfrm rot="16200000">
            <a:off x="6029445" y="-111231"/>
            <a:ext cx="133109" cy="1565476"/>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8" name="Cerrar llave 7">
            <a:extLst>
              <a:ext uri="{FF2B5EF4-FFF2-40B4-BE49-F238E27FC236}">
                <a16:creationId xmlns:a16="http://schemas.microsoft.com/office/drawing/2014/main" id="{0E59257F-D831-B7C5-BC4F-EC9A6B8CB873}"/>
              </a:ext>
            </a:extLst>
          </p:cNvPr>
          <p:cNvSpPr/>
          <p:nvPr/>
        </p:nvSpPr>
        <p:spPr>
          <a:xfrm rot="16200000" flipH="1">
            <a:off x="2492523" y="493966"/>
            <a:ext cx="143503" cy="1565476"/>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0" name="CuadroTexto 9">
            <a:extLst>
              <a:ext uri="{FF2B5EF4-FFF2-40B4-BE49-F238E27FC236}">
                <a16:creationId xmlns:a16="http://schemas.microsoft.com/office/drawing/2014/main" id="{67C2826A-FABC-EEB2-63CF-E9055A6DDCEF}"/>
              </a:ext>
            </a:extLst>
          </p:cNvPr>
          <p:cNvSpPr txBox="1"/>
          <p:nvPr/>
        </p:nvSpPr>
        <p:spPr>
          <a:xfrm>
            <a:off x="5187320" y="118846"/>
            <a:ext cx="2139457" cy="523220"/>
          </a:xfrm>
          <a:prstGeom prst="rect">
            <a:avLst/>
          </a:prstGeom>
          <a:noFill/>
        </p:spPr>
        <p:txBody>
          <a:bodyPr wrap="square" rtlCol="0">
            <a:spAutoFit/>
          </a:bodyPr>
          <a:lstStyle/>
          <a:p>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Clase base</a:t>
            </a:r>
          </a:p>
        </p:txBody>
      </p:sp>
      <p:sp>
        <p:nvSpPr>
          <p:cNvPr id="11" name="CuadroTexto 10">
            <a:extLst>
              <a:ext uri="{FF2B5EF4-FFF2-40B4-BE49-F238E27FC236}">
                <a16:creationId xmlns:a16="http://schemas.microsoft.com/office/drawing/2014/main" id="{B35DB116-B305-FC1F-DBF1-47A684BC3375}"/>
              </a:ext>
            </a:extLst>
          </p:cNvPr>
          <p:cNvSpPr txBox="1"/>
          <p:nvPr/>
        </p:nvSpPr>
        <p:spPr>
          <a:xfrm>
            <a:off x="1253856" y="1412790"/>
            <a:ext cx="2756774" cy="523220"/>
          </a:xfrm>
          <a:prstGeom prst="rect">
            <a:avLst/>
          </a:prstGeom>
          <a:noFill/>
        </p:spPr>
        <p:txBody>
          <a:bodyPr wrap="square" rtlCol="0">
            <a:spAutoFit/>
          </a:bodyPr>
          <a:lstStyle/>
          <a:p>
            <a:r>
              <a:rPr lang="es-MX"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Clase derivada</a:t>
            </a:r>
          </a:p>
        </p:txBody>
      </p:sp>
      <p:pic>
        <p:nvPicPr>
          <p:cNvPr id="2050" name="Picture 2" descr="Qué es la herencia? - Platzi">
            <a:extLst>
              <a:ext uri="{FF2B5EF4-FFF2-40B4-BE49-F238E27FC236}">
                <a16:creationId xmlns:a16="http://schemas.microsoft.com/office/drawing/2014/main" id="{11A87EA3-AF12-CBC9-41F4-085E185894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342" y="1201410"/>
            <a:ext cx="6840708" cy="5021843"/>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1EB1B84C-4536-F4DD-E099-79C68EBEC2AB}"/>
              </a:ext>
            </a:extLst>
          </p:cNvPr>
          <p:cNvSpPr txBox="1"/>
          <p:nvPr/>
        </p:nvSpPr>
        <p:spPr>
          <a:xfrm>
            <a:off x="94805" y="2754798"/>
            <a:ext cx="3904248" cy="2677656"/>
          </a:xfrm>
          <a:prstGeom prst="rect">
            <a:avLst/>
          </a:prstGeom>
          <a:noFill/>
        </p:spPr>
        <p:txBody>
          <a:bodyPr wrap="square" rtlCol="0">
            <a:spAutoFit/>
          </a:bodyPr>
          <a:lstStyle/>
          <a:p>
            <a:pPr marL="457200" indent="-457200">
              <a:buFont typeface="Arial" panose="020B0604020202020204" pitchFamily="34" charset="0"/>
              <a:buChar char="•"/>
            </a:pPr>
            <a:r>
              <a:rPr lang="es-MX" sz="2800" b="1" dirty="0">
                <a:latin typeface="Abadi" panose="020B0604020104020204" pitchFamily="34" charset="0"/>
                <a:ea typeface="ADLaM Display" panose="02010000000000000000" pitchFamily="2" charset="0"/>
                <a:cs typeface="ADLaM Display" panose="02010000000000000000" pitchFamily="2" charset="0"/>
              </a:rPr>
              <a:t>Heredamos las propiedades de clases base </a:t>
            </a:r>
          </a:p>
          <a:p>
            <a:pPr marL="457200" indent="-457200">
              <a:buFont typeface="Arial" panose="020B0604020202020204" pitchFamily="34" charset="0"/>
              <a:buChar char="•"/>
            </a:pPr>
            <a:r>
              <a:rPr lang="es-MX" sz="2800" b="1" dirty="0">
                <a:latin typeface="Abadi" panose="020B0604020104020204" pitchFamily="34" charset="0"/>
                <a:ea typeface="ADLaM Display" panose="02010000000000000000" pitchFamily="2" charset="0"/>
                <a:cs typeface="ADLaM Display" panose="02010000000000000000" pitchFamily="2" charset="0"/>
              </a:rPr>
              <a:t>Categorías</a:t>
            </a:r>
          </a:p>
          <a:p>
            <a:pPr marL="914400" lvl="1" indent="-457200">
              <a:buFont typeface="Arial" panose="020B0604020202020204" pitchFamily="34" charset="0"/>
              <a:buChar char="•"/>
            </a:pPr>
            <a:r>
              <a:rPr lang="es-MX" sz="2800" b="1" dirty="0">
                <a:latin typeface="Abadi" panose="020B0604020104020204" pitchFamily="34" charset="0"/>
                <a:ea typeface="ADLaM Display" panose="02010000000000000000" pitchFamily="2" charset="0"/>
                <a:cs typeface="ADLaM Display" panose="02010000000000000000" pitchFamily="2" charset="0"/>
              </a:rPr>
              <a:t>Herencia simple</a:t>
            </a:r>
          </a:p>
          <a:p>
            <a:pPr marL="914400" lvl="1" indent="-457200">
              <a:buFont typeface="Arial" panose="020B0604020202020204" pitchFamily="34" charset="0"/>
              <a:buChar char="•"/>
            </a:pPr>
            <a:r>
              <a:rPr lang="es-MX" sz="2800" b="1" dirty="0">
                <a:latin typeface="Abadi" panose="020B0604020104020204" pitchFamily="34" charset="0"/>
                <a:ea typeface="ADLaM Display" panose="02010000000000000000" pitchFamily="2" charset="0"/>
                <a:cs typeface="ADLaM Display" panose="02010000000000000000" pitchFamily="2" charset="0"/>
              </a:rPr>
              <a:t>Herencia múltiple</a:t>
            </a:r>
          </a:p>
        </p:txBody>
      </p:sp>
      <p:pic>
        <p:nvPicPr>
          <p:cNvPr id="13" name="Imagen 12">
            <a:extLst>
              <a:ext uri="{FF2B5EF4-FFF2-40B4-BE49-F238E27FC236}">
                <a16:creationId xmlns:a16="http://schemas.microsoft.com/office/drawing/2014/main" id="{004A8D45-2D3F-B7A5-B342-3E6F80806187}"/>
              </a:ext>
            </a:extLst>
          </p:cNvPr>
          <p:cNvPicPr>
            <a:picLocks noChangeAspect="1"/>
          </p:cNvPicPr>
          <p:nvPr/>
        </p:nvPicPr>
        <p:blipFill>
          <a:blip r:embed="rId3"/>
          <a:stretch>
            <a:fillRect/>
          </a:stretch>
        </p:blipFill>
        <p:spPr>
          <a:xfrm>
            <a:off x="11035496" y="5701496"/>
            <a:ext cx="1156504" cy="1156504"/>
          </a:xfrm>
          <a:prstGeom prst="rect">
            <a:avLst/>
          </a:prstGeom>
        </p:spPr>
      </p:pic>
      <p:sp>
        <p:nvSpPr>
          <p:cNvPr id="14" name="Cerrar llave 13">
            <a:extLst>
              <a:ext uri="{FF2B5EF4-FFF2-40B4-BE49-F238E27FC236}">
                <a16:creationId xmlns:a16="http://schemas.microsoft.com/office/drawing/2014/main" id="{5CF609BA-3C71-D707-C768-6AADC1695BD2}"/>
              </a:ext>
            </a:extLst>
          </p:cNvPr>
          <p:cNvSpPr/>
          <p:nvPr/>
        </p:nvSpPr>
        <p:spPr>
          <a:xfrm>
            <a:off x="10721948" y="1276704"/>
            <a:ext cx="260431" cy="4780344"/>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5" name="CuadroTexto 14">
            <a:extLst>
              <a:ext uri="{FF2B5EF4-FFF2-40B4-BE49-F238E27FC236}">
                <a16:creationId xmlns:a16="http://schemas.microsoft.com/office/drawing/2014/main" id="{330A80AA-EEE5-73BA-F10A-B88640816626}"/>
              </a:ext>
            </a:extLst>
          </p:cNvPr>
          <p:cNvSpPr txBox="1"/>
          <p:nvPr/>
        </p:nvSpPr>
        <p:spPr>
          <a:xfrm>
            <a:off x="11256380" y="2743795"/>
            <a:ext cx="535981" cy="1846162"/>
          </a:xfrm>
          <a:prstGeom prst="rect">
            <a:avLst/>
          </a:prstGeom>
          <a:noFill/>
        </p:spPr>
        <p:txBody>
          <a:bodyPr vert="wordArtVert" wrap="square" rtlCol="0">
            <a:spAutoFit/>
          </a:bodyPr>
          <a:lstStyle/>
          <a:p>
            <a:r>
              <a:rPr lang="es-MX"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ARBOL</a:t>
            </a:r>
          </a:p>
        </p:txBody>
      </p:sp>
    </p:spTree>
    <p:extLst>
      <p:ext uri="{BB962C8B-B14F-4D97-AF65-F5344CB8AC3E}">
        <p14:creationId xmlns:p14="http://schemas.microsoft.com/office/powerpoint/2010/main" val="2282164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F12BF8C-5AB6-F635-F2BA-726B599AC767}"/>
              </a:ext>
            </a:extLst>
          </p:cNvPr>
          <p:cNvSpPr txBox="1"/>
          <p:nvPr/>
        </p:nvSpPr>
        <p:spPr>
          <a:xfrm>
            <a:off x="157090" y="148287"/>
            <a:ext cx="6278434"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Sintaxis general (herencia simple)</a:t>
            </a:r>
          </a:p>
        </p:txBody>
      </p:sp>
      <p:pic>
        <p:nvPicPr>
          <p:cNvPr id="6" name="Imagen 5">
            <a:extLst>
              <a:ext uri="{FF2B5EF4-FFF2-40B4-BE49-F238E27FC236}">
                <a16:creationId xmlns:a16="http://schemas.microsoft.com/office/drawing/2014/main" id="{6A556092-0F0E-92A6-D7D7-47604F415B34}"/>
              </a:ext>
            </a:extLst>
          </p:cNvPr>
          <p:cNvPicPr>
            <a:picLocks noChangeAspect="1"/>
          </p:cNvPicPr>
          <p:nvPr/>
        </p:nvPicPr>
        <p:blipFill rotWithShape="1">
          <a:blip r:embed="rId2"/>
          <a:srcRect l="14763" t="60759" r="19351" b="26667"/>
          <a:stretch/>
        </p:blipFill>
        <p:spPr>
          <a:xfrm>
            <a:off x="324090" y="671507"/>
            <a:ext cx="8032831" cy="862314"/>
          </a:xfrm>
          <a:prstGeom prst="rect">
            <a:avLst/>
          </a:prstGeom>
        </p:spPr>
      </p:pic>
      <p:pic>
        <p:nvPicPr>
          <p:cNvPr id="8" name="Imagen 7">
            <a:extLst>
              <a:ext uri="{FF2B5EF4-FFF2-40B4-BE49-F238E27FC236}">
                <a16:creationId xmlns:a16="http://schemas.microsoft.com/office/drawing/2014/main" id="{2B5E6852-B8B9-074E-B4FC-2AB2C71C012A}"/>
              </a:ext>
            </a:extLst>
          </p:cNvPr>
          <p:cNvPicPr>
            <a:picLocks noChangeAspect="1"/>
          </p:cNvPicPr>
          <p:nvPr/>
        </p:nvPicPr>
        <p:blipFill rotWithShape="1">
          <a:blip r:embed="rId3"/>
          <a:srcRect l="15000" t="15781" r="55427" b="40760"/>
          <a:stretch/>
        </p:blipFill>
        <p:spPr>
          <a:xfrm>
            <a:off x="324090" y="2197117"/>
            <a:ext cx="4984709" cy="4120587"/>
          </a:xfrm>
          <a:prstGeom prst="rect">
            <a:avLst/>
          </a:prstGeom>
        </p:spPr>
      </p:pic>
      <p:sp>
        <p:nvSpPr>
          <p:cNvPr id="9" name="CuadroTexto 8">
            <a:extLst>
              <a:ext uri="{FF2B5EF4-FFF2-40B4-BE49-F238E27FC236}">
                <a16:creationId xmlns:a16="http://schemas.microsoft.com/office/drawing/2014/main" id="{DE4D3FE1-C3A3-7BA2-1516-67A9D9818396}"/>
              </a:ext>
            </a:extLst>
          </p:cNvPr>
          <p:cNvSpPr txBox="1"/>
          <p:nvPr/>
        </p:nvSpPr>
        <p:spPr>
          <a:xfrm>
            <a:off x="219918" y="1673897"/>
            <a:ext cx="6278434"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Ejemplo</a:t>
            </a:r>
          </a:p>
        </p:txBody>
      </p:sp>
      <p:pic>
        <p:nvPicPr>
          <p:cNvPr id="11" name="Imagen 10">
            <a:extLst>
              <a:ext uri="{FF2B5EF4-FFF2-40B4-BE49-F238E27FC236}">
                <a16:creationId xmlns:a16="http://schemas.microsoft.com/office/drawing/2014/main" id="{C1E76309-4642-2CD8-3A21-D21AF3831D95}"/>
              </a:ext>
            </a:extLst>
          </p:cNvPr>
          <p:cNvPicPr>
            <a:picLocks noChangeAspect="1"/>
          </p:cNvPicPr>
          <p:nvPr/>
        </p:nvPicPr>
        <p:blipFill>
          <a:blip r:embed="rId4"/>
          <a:stretch>
            <a:fillRect/>
          </a:stretch>
        </p:blipFill>
        <p:spPr>
          <a:xfrm>
            <a:off x="5475572" y="1459774"/>
            <a:ext cx="4640701" cy="5178306"/>
          </a:xfrm>
          <a:prstGeom prst="rect">
            <a:avLst/>
          </a:prstGeom>
        </p:spPr>
      </p:pic>
    </p:spTree>
    <p:extLst>
      <p:ext uri="{BB962C8B-B14F-4D97-AF65-F5344CB8AC3E}">
        <p14:creationId xmlns:p14="http://schemas.microsoft.com/office/powerpoint/2010/main" val="1458189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BB73846-4876-D1D4-3FE4-60045909250A}"/>
              </a:ext>
            </a:extLst>
          </p:cNvPr>
          <p:cNvSpPr txBox="1"/>
          <p:nvPr/>
        </p:nvSpPr>
        <p:spPr>
          <a:xfrm>
            <a:off x="187056" y="163110"/>
            <a:ext cx="4801504" cy="523220"/>
          </a:xfrm>
          <a:prstGeom prst="rect">
            <a:avLst/>
          </a:prstGeom>
          <a:noFill/>
        </p:spPr>
        <p:txBody>
          <a:bodyPr wrap="square" rtlCol="0">
            <a:spAutoFit/>
          </a:bodyPr>
          <a:lstStyle/>
          <a:p>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Clase base </a:t>
            </a:r>
            <a:r>
              <a:rPr lang="es-MX" sz="2800" b="1" dirty="0">
                <a:latin typeface="ADLaM Display" panose="02010000000000000000" pitchFamily="2" charset="0"/>
                <a:ea typeface="ADLaM Display" panose="02010000000000000000" pitchFamily="2" charset="0"/>
                <a:cs typeface="ADLaM Display" panose="02010000000000000000" pitchFamily="2" charset="0"/>
              </a:rPr>
              <a:t>y</a:t>
            </a:r>
            <a:r>
              <a:rPr lang="es-MX"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Clase derivada</a:t>
            </a:r>
          </a:p>
        </p:txBody>
      </p:sp>
      <p:sp>
        <p:nvSpPr>
          <p:cNvPr id="6" name="CuadroTexto 5">
            <a:extLst>
              <a:ext uri="{FF2B5EF4-FFF2-40B4-BE49-F238E27FC236}">
                <a16:creationId xmlns:a16="http://schemas.microsoft.com/office/drawing/2014/main" id="{EA90493E-3D87-F6B6-E769-850B9AE47DC4}"/>
              </a:ext>
            </a:extLst>
          </p:cNvPr>
          <p:cNvSpPr txBox="1"/>
          <p:nvPr/>
        </p:nvSpPr>
        <p:spPr>
          <a:xfrm>
            <a:off x="187056" y="829007"/>
            <a:ext cx="10480944" cy="4401205"/>
          </a:xfrm>
          <a:prstGeom prst="rect">
            <a:avLst/>
          </a:prstGeom>
          <a:noFill/>
        </p:spPr>
        <p:txBody>
          <a:bodyPr wrap="square" rtlCol="0">
            <a:spAutoFit/>
          </a:bodyPr>
          <a:lstStyle/>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Los miembros privados de una clase base son privados  aun después de la herencia</a:t>
            </a:r>
          </a:p>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Los miembros públicos de  una clase base pueden heredarse como miembros públicos o privados a la clase derivada</a:t>
            </a:r>
          </a:p>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En la clase derivada podemos incluir miembros extras</a:t>
            </a:r>
          </a:p>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Todas las variables miembros de la clase base también lo son para la clase derivada</a:t>
            </a:r>
          </a:p>
          <a:p>
            <a:pPr marL="514350" indent="-514350">
              <a:buFont typeface="+mj-lt"/>
              <a:buAutoNum type="alphaLcParenR"/>
            </a:pPr>
            <a:r>
              <a:rPr lang="es-MX" sz="2800" b="1" u="sng" dirty="0">
                <a:latin typeface="ADLaM Display" panose="02010000000000000000" pitchFamily="2" charset="0"/>
                <a:ea typeface="ADLaM Display" panose="02010000000000000000" pitchFamily="2" charset="0"/>
                <a:cs typeface="ADLaM Display" panose="02010000000000000000" pitchFamily="2" charset="0"/>
              </a:rPr>
              <a:t>La clase derivada puede redefinir las funciones miembros public de la clase base</a:t>
            </a:r>
          </a:p>
        </p:txBody>
      </p:sp>
      <p:sp>
        <p:nvSpPr>
          <p:cNvPr id="3" name="CuadroTexto 2">
            <a:extLst>
              <a:ext uri="{FF2B5EF4-FFF2-40B4-BE49-F238E27FC236}">
                <a16:creationId xmlns:a16="http://schemas.microsoft.com/office/drawing/2014/main" id="{F30F0366-D01E-EE63-31A3-02186428D50C}"/>
              </a:ext>
            </a:extLst>
          </p:cNvPr>
          <p:cNvSpPr txBox="1"/>
          <p:nvPr/>
        </p:nvSpPr>
        <p:spPr>
          <a:xfrm>
            <a:off x="2925233" y="5537200"/>
            <a:ext cx="6489700" cy="923330"/>
          </a:xfrm>
          <a:prstGeom prst="rect">
            <a:avLst/>
          </a:prstGeom>
          <a:noFill/>
        </p:spPr>
        <p:txBody>
          <a:bodyPr wrap="square">
            <a:spAutoFit/>
          </a:bodyPr>
          <a:lstStyle/>
          <a:p>
            <a:pPr algn="ctr"/>
            <a:r>
              <a:rPr lang="es-MX" u="sng"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Para redefinir una función miembro public de una clase base en la clase derivada debemos tener el mismo nombre, número y tipos de parámetros.</a:t>
            </a:r>
          </a:p>
        </p:txBody>
      </p:sp>
      <p:pic>
        <p:nvPicPr>
          <p:cNvPr id="5" name="Imagen 4">
            <a:extLst>
              <a:ext uri="{FF2B5EF4-FFF2-40B4-BE49-F238E27FC236}">
                <a16:creationId xmlns:a16="http://schemas.microsoft.com/office/drawing/2014/main" id="{8087A16E-C190-3AFF-6054-A07AFA79F7D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52" b="94681" l="9752" r="89894">
                        <a14:foregroundMark x1="38298" y1="91844" x2="38298" y2="91844"/>
                        <a14:foregroundMark x1="62057" y1="92553" x2="62057" y2="92553"/>
                        <a14:foregroundMark x1="37943" y1="94681" x2="37943" y2="94681"/>
                      </a14:backgroundRemoval>
                    </a14:imgEffect>
                  </a14:imgLayer>
                </a14:imgProps>
              </a:ext>
            </a:extLst>
          </a:blip>
          <a:stretch>
            <a:fillRect/>
          </a:stretch>
        </p:blipFill>
        <p:spPr>
          <a:xfrm>
            <a:off x="10985499" y="5405895"/>
            <a:ext cx="1437217" cy="1437217"/>
          </a:xfrm>
          <a:prstGeom prst="rect">
            <a:avLst/>
          </a:prstGeom>
        </p:spPr>
      </p:pic>
    </p:spTree>
    <p:extLst>
      <p:ext uri="{BB962C8B-B14F-4D97-AF65-F5344CB8AC3E}">
        <p14:creationId xmlns:p14="http://schemas.microsoft.com/office/powerpoint/2010/main" val="4053220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2E23547-7333-195A-2D40-F2FAC201116F}"/>
              </a:ext>
            </a:extLst>
          </p:cNvPr>
          <p:cNvPicPr>
            <a:picLocks noChangeAspect="1"/>
          </p:cNvPicPr>
          <p:nvPr/>
        </p:nvPicPr>
        <p:blipFill>
          <a:blip r:embed="rId2"/>
          <a:stretch>
            <a:fillRect/>
          </a:stretch>
        </p:blipFill>
        <p:spPr>
          <a:xfrm>
            <a:off x="0" y="1203793"/>
            <a:ext cx="4594376" cy="5417140"/>
          </a:xfrm>
          <a:prstGeom prst="rect">
            <a:avLst/>
          </a:prstGeom>
        </p:spPr>
      </p:pic>
      <p:pic>
        <p:nvPicPr>
          <p:cNvPr id="7" name="Imagen 6">
            <a:extLst>
              <a:ext uri="{FF2B5EF4-FFF2-40B4-BE49-F238E27FC236}">
                <a16:creationId xmlns:a16="http://schemas.microsoft.com/office/drawing/2014/main" id="{D671863D-06EE-65BA-3510-6C2E35BDD348}"/>
              </a:ext>
            </a:extLst>
          </p:cNvPr>
          <p:cNvPicPr>
            <a:picLocks noChangeAspect="1"/>
          </p:cNvPicPr>
          <p:nvPr/>
        </p:nvPicPr>
        <p:blipFill rotWithShape="1">
          <a:blip r:embed="rId3"/>
          <a:srcRect l="10638" t="15435" r="45136" b="26739"/>
          <a:stretch/>
        </p:blipFill>
        <p:spPr>
          <a:xfrm>
            <a:off x="4624457" y="1540933"/>
            <a:ext cx="6596200" cy="4851400"/>
          </a:xfrm>
          <a:prstGeom prst="rect">
            <a:avLst/>
          </a:prstGeom>
        </p:spPr>
      </p:pic>
      <p:sp>
        <p:nvSpPr>
          <p:cNvPr id="8" name="CuadroTexto 7">
            <a:extLst>
              <a:ext uri="{FF2B5EF4-FFF2-40B4-BE49-F238E27FC236}">
                <a16:creationId xmlns:a16="http://schemas.microsoft.com/office/drawing/2014/main" id="{EA14B46A-DB30-4DE5-9F5A-5762E8112D93}"/>
              </a:ext>
            </a:extLst>
          </p:cNvPr>
          <p:cNvSpPr txBox="1"/>
          <p:nvPr/>
        </p:nvSpPr>
        <p:spPr>
          <a:xfrm>
            <a:off x="157090" y="359953"/>
            <a:ext cx="4105877"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Ejemplo </a:t>
            </a:r>
            <a:r>
              <a:rPr lang="es-MX" sz="2800" b="1" dirty="0" err="1">
                <a:latin typeface="ADLaM Display" panose="02010000000000000000" pitchFamily="2" charset="0"/>
                <a:ea typeface="ADLaM Display" panose="02010000000000000000" pitchFamily="2" charset="0"/>
                <a:cs typeface="ADLaM Display" panose="02010000000000000000" pitchFamily="2" charset="0"/>
              </a:rPr>
              <a:t>rectangleType</a:t>
            </a:r>
            <a:endParaRPr lang="es-MX"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059455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0AE7DCB-FA22-89FC-786D-63D1F977AF27}"/>
              </a:ext>
            </a:extLst>
          </p:cNvPr>
          <p:cNvPicPr>
            <a:picLocks noChangeAspect="1"/>
          </p:cNvPicPr>
          <p:nvPr/>
        </p:nvPicPr>
        <p:blipFill rotWithShape="1">
          <a:blip r:embed="rId2"/>
          <a:srcRect l="8299" t="20555" r="53820" b="30740"/>
          <a:stretch/>
        </p:blipFill>
        <p:spPr>
          <a:xfrm>
            <a:off x="368300" y="986367"/>
            <a:ext cx="7867368" cy="5689600"/>
          </a:xfrm>
          <a:prstGeom prst="rect">
            <a:avLst/>
          </a:prstGeom>
        </p:spPr>
      </p:pic>
      <p:sp>
        <p:nvSpPr>
          <p:cNvPr id="6" name="CuadroTexto 5">
            <a:extLst>
              <a:ext uri="{FF2B5EF4-FFF2-40B4-BE49-F238E27FC236}">
                <a16:creationId xmlns:a16="http://schemas.microsoft.com/office/drawing/2014/main" id="{BDA11CE5-7051-8B92-F376-4D86438ADB70}"/>
              </a:ext>
            </a:extLst>
          </p:cNvPr>
          <p:cNvSpPr txBox="1"/>
          <p:nvPr/>
        </p:nvSpPr>
        <p:spPr>
          <a:xfrm>
            <a:off x="368300" y="304920"/>
            <a:ext cx="4105877"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Definiciones</a:t>
            </a:r>
          </a:p>
        </p:txBody>
      </p:sp>
    </p:spTree>
    <p:extLst>
      <p:ext uri="{BB962C8B-B14F-4D97-AF65-F5344CB8AC3E}">
        <p14:creationId xmlns:p14="http://schemas.microsoft.com/office/powerpoint/2010/main" val="412553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A8A616F-FDEE-2AE0-A242-7EE8CC8D5057}"/>
              </a:ext>
            </a:extLst>
          </p:cNvPr>
          <p:cNvPicPr>
            <a:picLocks noChangeAspect="1"/>
          </p:cNvPicPr>
          <p:nvPr/>
        </p:nvPicPr>
        <p:blipFill rotWithShape="1">
          <a:blip r:embed="rId2"/>
          <a:srcRect l="8508" t="17839" r="46179" b="43889"/>
          <a:stretch/>
        </p:blipFill>
        <p:spPr>
          <a:xfrm>
            <a:off x="148166" y="1655232"/>
            <a:ext cx="10950982" cy="5202768"/>
          </a:xfrm>
          <a:prstGeom prst="rect">
            <a:avLst/>
          </a:prstGeom>
        </p:spPr>
      </p:pic>
      <p:pic>
        <p:nvPicPr>
          <p:cNvPr id="7" name="Imagen 6">
            <a:extLst>
              <a:ext uri="{FF2B5EF4-FFF2-40B4-BE49-F238E27FC236}">
                <a16:creationId xmlns:a16="http://schemas.microsoft.com/office/drawing/2014/main" id="{7F668A93-D328-C45C-C78D-38620EFD8A82}"/>
              </a:ext>
            </a:extLst>
          </p:cNvPr>
          <p:cNvPicPr>
            <a:picLocks noChangeAspect="1"/>
          </p:cNvPicPr>
          <p:nvPr/>
        </p:nvPicPr>
        <p:blipFill rotWithShape="1">
          <a:blip r:embed="rId3"/>
          <a:srcRect l="8577" t="52160" r="42708" b="33951"/>
          <a:stretch/>
        </p:blipFill>
        <p:spPr>
          <a:xfrm>
            <a:off x="67053" y="38100"/>
            <a:ext cx="11113208" cy="1782234"/>
          </a:xfrm>
          <a:prstGeom prst="rect">
            <a:avLst/>
          </a:prstGeom>
        </p:spPr>
      </p:pic>
    </p:spTree>
    <p:extLst>
      <p:ext uri="{BB962C8B-B14F-4D97-AF65-F5344CB8AC3E}">
        <p14:creationId xmlns:p14="http://schemas.microsoft.com/office/powerpoint/2010/main" val="41330706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4122360-D45D-D6FD-B4CD-C77C9C614D5B}"/>
              </a:ext>
            </a:extLst>
          </p:cNvPr>
          <p:cNvPicPr>
            <a:picLocks noChangeAspect="1"/>
          </p:cNvPicPr>
          <p:nvPr/>
        </p:nvPicPr>
        <p:blipFill>
          <a:blip r:embed="rId2"/>
          <a:stretch>
            <a:fillRect/>
          </a:stretch>
        </p:blipFill>
        <p:spPr>
          <a:xfrm>
            <a:off x="105832" y="1037168"/>
            <a:ext cx="10958595" cy="5689598"/>
          </a:xfrm>
          <a:prstGeom prst="rect">
            <a:avLst/>
          </a:prstGeom>
        </p:spPr>
      </p:pic>
      <p:sp>
        <p:nvSpPr>
          <p:cNvPr id="6" name="CuadroTexto 5">
            <a:extLst>
              <a:ext uri="{FF2B5EF4-FFF2-40B4-BE49-F238E27FC236}">
                <a16:creationId xmlns:a16="http://schemas.microsoft.com/office/drawing/2014/main" id="{86790295-C716-6B20-8261-64CAF80D34AA}"/>
              </a:ext>
            </a:extLst>
          </p:cNvPr>
          <p:cNvSpPr txBox="1"/>
          <p:nvPr/>
        </p:nvSpPr>
        <p:spPr>
          <a:xfrm>
            <a:off x="368300" y="304920"/>
            <a:ext cx="4105877"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Ejemplo 2 </a:t>
            </a:r>
            <a:r>
              <a:rPr lang="es-MX" sz="2800" b="1" dirty="0" err="1">
                <a:latin typeface="ADLaM Display" panose="02010000000000000000" pitchFamily="2" charset="0"/>
                <a:ea typeface="ADLaM Display" panose="02010000000000000000" pitchFamily="2" charset="0"/>
                <a:cs typeface="ADLaM Display" panose="02010000000000000000" pitchFamily="2" charset="0"/>
              </a:rPr>
              <a:t>boxType</a:t>
            </a:r>
            <a:endParaRPr lang="es-MX"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8993170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D4F6B0D-0808-41AE-4D9D-0625BCC62CFD}"/>
              </a:ext>
            </a:extLst>
          </p:cNvPr>
          <p:cNvPicPr>
            <a:picLocks noChangeAspect="1"/>
          </p:cNvPicPr>
          <p:nvPr/>
        </p:nvPicPr>
        <p:blipFill rotWithShape="1">
          <a:blip r:embed="rId2"/>
          <a:srcRect l="11598" t="15864" r="29826" b="31049"/>
          <a:stretch/>
        </p:blipFill>
        <p:spPr>
          <a:xfrm>
            <a:off x="97367" y="965199"/>
            <a:ext cx="8686219" cy="4428067"/>
          </a:xfrm>
          <a:prstGeom prst="rect">
            <a:avLst/>
          </a:prstGeom>
        </p:spPr>
      </p:pic>
      <p:sp>
        <p:nvSpPr>
          <p:cNvPr id="8" name="Cerrar llave 7">
            <a:extLst>
              <a:ext uri="{FF2B5EF4-FFF2-40B4-BE49-F238E27FC236}">
                <a16:creationId xmlns:a16="http://schemas.microsoft.com/office/drawing/2014/main" id="{F212F9B0-1603-E0E9-D8AE-B85DF0E88D3C}"/>
              </a:ext>
            </a:extLst>
          </p:cNvPr>
          <p:cNvSpPr/>
          <p:nvPr/>
        </p:nvSpPr>
        <p:spPr>
          <a:xfrm>
            <a:off x="3746500" y="1621366"/>
            <a:ext cx="152400" cy="419100"/>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9" name="Cerrar llave 8">
            <a:extLst>
              <a:ext uri="{FF2B5EF4-FFF2-40B4-BE49-F238E27FC236}">
                <a16:creationId xmlns:a16="http://schemas.microsoft.com/office/drawing/2014/main" id="{AB6546AA-0EBF-E6DE-D8DE-F441CEFA3861}"/>
              </a:ext>
            </a:extLst>
          </p:cNvPr>
          <p:cNvSpPr/>
          <p:nvPr/>
        </p:nvSpPr>
        <p:spPr>
          <a:xfrm>
            <a:off x="5245099" y="3255433"/>
            <a:ext cx="198967" cy="893234"/>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10" name="Cerrar llave 9">
            <a:extLst>
              <a:ext uri="{FF2B5EF4-FFF2-40B4-BE49-F238E27FC236}">
                <a16:creationId xmlns:a16="http://schemas.microsoft.com/office/drawing/2014/main" id="{C8EF7C1F-D48A-3527-B529-C3402B0FCD31}"/>
              </a:ext>
            </a:extLst>
          </p:cNvPr>
          <p:cNvSpPr/>
          <p:nvPr/>
        </p:nvSpPr>
        <p:spPr>
          <a:xfrm rot="16200000">
            <a:off x="3409950" y="84665"/>
            <a:ext cx="311153" cy="1352553"/>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11" name="Cerrar llave 10">
            <a:extLst>
              <a:ext uri="{FF2B5EF4-FFF2-40B4-BE49-F238E27FC236}">
                <a16:creationId xmlns:a16="http://schemas.microsoft.com/office/drawing/2014/main" id="{A96C124D-3646-F4A2-FFE8-7D9A242A738E}"/>
              </a:ext>
            </a:extLst>
          </p:cNvPr>
          <p:cNvSpPr/>
          <p:nvPr/>
        </p:nvSpPr>
        <p:spPr>
          <a:xfrm>
            <a:off x="8671984" y="2324100"/>
            <a:ext cx="158750" cy="444502"/>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4275789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0D4BF59-6CEF-7ED3-E497-28EB92462D17}"/>
              </a:ext>
            </a:extLst>
          </p:cNvPr>
          <p:cNvSpPr txBox="1"/>
          <p:nvPr/>
        </p:nvSpPr>
        <p:spPr>
          <a:xfrm>
            <a:off x="55034" y="173687"/>
            <a:ext cx="3839634"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Definiciones métodos</a:t>
            </a:r>
          </a:p>
        </p:txBody>
      </p:sp>
      <p:pic>
        <p:nvPicPr>
          <p:cNvPr id="8" name="Imagen 7">
            <a:extLst>
              <a:ext uri="{FF2B5EF4-FFF2-40B4-BE49-F238E27FC236}">
                <a16:creationId xmlns:a16="http://schemas.microsoft.com/office/drawing/2014/main" id="{DA86CA3A-56CA-4AA4-16A5-F4D8A6ADC423}"/>
              </a:ext>
            </a:extLst>
          </p:cNvPr>
          <p:cNvPicPr>
            <a:picLocks noChangeAspect="1"/>
          </p:cNvPicPr>
          <p:nvPr/>
        </p:nvPicPr>
        <p:blipFill rotWithShape="1">
          <a:blip r:embed="rId2"/>
          <a:srcRect l="10208" t="18087" r="26667" b="34259"/>
          <a:stretch/>
        </p:blipFill>
        <p:spPr>
          <a:xfrm>
            <a:off x="55033" y="1452034"/>
            <a:ext cx="10976055" cy="4660900"/>
          </a:xfrm>
          <a:prstGeom prst="rect">
            <a:avLst/>
          </a:prstGeom>
        </p:spPr>
      </p:pic>
    </p:spTree>
    <p:extLst>
      <p:ext uri="{BB962C8B-B14F-4D97-AF65-F5344CB8AC3E}">
        <p14:creationId xmlns:p14="http://schemas.microsoft.com/office/powerpoint/2010/main" val="4001364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9521180-C034-E6E6-CDB1-54396D93E4BA}"/>
              </a:ext>
            </a:extLst>
          </p:cNvPr>
          <p:cNvPicPr>
            <a:picLocks noChangeAspect="1"/>
          </p:cNvPicPr>
          <p:nvPr/>
        </p:nvPicPr>
        <p:blipFill rotWithShape="1">
          <a:blip r:embed="rId2"/>
          <a:srcRect l="9131" t="25362" r="46277" b="27826"/>
          <a:stretch/>
        </p:blipFill>
        <p:spPr>
          <a:xfrm>
            <a:off x="67549" y="261915"/>
            <a:ext cx="10754652" cy="6350552"/>
          </a:xfrm>
          <a:prstGeom prst="rect">
            <a:avLst/>
          </a:prstGeom>
        </p:spPr>
      </p:pic>
    </p:spTree>
    <p:extLst>
      <p:ext uri="{BB962C8B-B14F-4D97-AF65-F5344CB8AC3E}">
        <p14:creationId xmlns:p14="http://schemas.microsoft.com/office/powerpoint/2010/main" val="7637845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DAF7634-3E2E-D24E-F42A-57ECF48EFF45}"/>
              </a:ext>
            </a:extLst>
          </p:cNvPr>
          <p:cNvSpPr txBox="1"/>
          <p:nvPr/>
        </p:nvSpPr>
        <p:spPr>
          <a:xfrm>
            <a:off x="194734" y="194853"/>
            <a:ext cx="3839634" cy="523220"/>
          </a:xfrm>
          <a:prstGeom prst="rect">
            <a:avLst/>
          </a:prstGeom>
          <a:noFill/>
        </p:spPr>
        <p:txBody>
          <a:bodyPr wrap="square" rtlCol="0">
            <a:spAutoFit/>
          </a:bodyPr>
          <a:lstStyle/>
          <a:p>
            <a:r>
              <a:rPr lang="es-MX" sz="2800" b="1" dirty="0">
                <a:latin typeface="ADLaM Display" panose="02010000000000000000" pitchFamily="2" charset="0"/>
                <a:ea typeface="ADLaM Display" panose="02010000000000000000" pitchFamily="2" charset="0"/>
                <a:cs typeface="ADLaM Display" panose="02010000000000000000" pitchFamily="2" charset="0"/>
              </a:rPr>
              <a:t>Constructores</a:t>
            </a:r>
          </a:p>
        </p:txBody>
      </p:sp>
      <p:sp>
        <p:nvSpPr>
          <p:cNvPr id="5" name="CuadroTexto 4">
            <a:extLst>
              <a:ext uri="{FF2B5EF4-FFF2-40B4-BE49-F238E27FC236}">
                <a16:creationId xmlns:a16="http://schemas.microsoft.com/office/drawing/2014/main" id="{39F82C24-3B17-F3E9-9355-E4336C0C9E50}"/>
              </a:ext>
            </a:extLst>
          </p:cNvPr>
          <p:cNvSpPr txBox="1"/>
          <p:nvPr/>
        </p:nvSpPr>
        <p:spPr>
          <a:xfrm>
            <a:off x="187056" y="829007"/>
            <a:ext cx="10480944" cy="4832092"/>
          </a:xfrm>
          <a:prstGeom prst="rect">
            <a:avLst/>
          </a:prstGeom>
          <a:noFill/>
        </p:spPr>
        <p:txBody>
          <a:bodyPr wrap="square" rtlCol="0">
            <a:spAutoFit/>
          </a:bodyPr>
          <a:lstStyle/>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No podemos acceder a los miembros privados de la clase base</a:t>
            </a:r>
          </a:p>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Solo podemos inicializar datos públicos de la clase base </a:t>
            </a:r>
          </a:p>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Los constructores no pueden ser llamados como a los métodos</a:t>
            </a:r>
          </a:p>
          <a:p>
            <a:pPr marL="514350" indent="-514350">
              <a:buFont typeface="+mj-lt"/>
              <a:buAutoNum type="alphaLcParenR"/>
            </a:pPr>
            <a:r>
              <a:rPr lang="es-MX" sz="2800" b="1" dirty="0">
                <a:latin typeface="ADLaM Display" panose="02010000000000000000" pitchFamily="2" charset="0"/>
                <a:ea typeface="ADLaM Display" panose="02010000000000000000" pitchFamily="2" charset="0"/>
                <a:cs typeface="ADLaM Display" panose="02010000000000000000" pitchFamily="2" charset="0"/>
              </a:rPr>
              <a:t>Si una clase contiene el constructor predeterminado y no se especifican valores cuando el objeto se declara, el constructor predeterminado se ejecuta e inicializa el objeto.</a:t>
            </a:r>
          </a:p>
          <a:p>
            <a:pPr marL="514350" indent="-514350">
              <a:buFont typeface="+mj-lt"/>
              <a:buAutoNum type="alphaLcParenR"/>
            </a:pPr>
            <a:endParaRPr lang="es-MX" sz="2800" b="1" dirty="0">
              <a:latin typeface="ADLaM Display" panose="02010000000000000000" pitchFamily="2" charset="0"/>
              <a:ea typeface="ADLaM Display" panose="02010000000000000000" pitchFamily="2" charset="0"/>
              <a:cs typeface="ADLaM Display" panose="02010000000000000000" pitchFamily="2" charset="0"/>
            </a:endParaRPr>
          </a:p>
          <a:p>
            <a:pPr marL="514350" indent="-514350">
              <a:buFont typeface="+mj-lt"/>
              <a:buAutoNum type="alphaLcParenR"/>
            </a:pPr>
            <a:endParaRPr lang="es-MX"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8237906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48F6B78-D583-D269-34C6-186B69BDBC15}"/>
              </a:ext>
            </a:extLst>
          </p:cNvPr>
          <p:cNvSpPr txBox="1"/>
          <p:nvPr/>
        </p:nvSpPr>
        <p:spPr>
          <a:xfrm>
            <a:off x="2298700" y="39701"/>
            <a:ext cx="6104466" cy="1384995"/>
          </a:xfrm>
          <a:prstGeom prst="rect">
            <a:avLst/>
          </a:prstGeom>
          <a:noFill/>
        </p:spPr>
        <p:txBody>
          <a:bodyPr wrap="square">
            <a:spAutoFit/>
          </a:bodyPr>
          <a:lstStyle/>
          <a:p>
            <a:pPr algn="ctr"/>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DEFINICIONES DE LOS CONSTRUCTORES PREDETERMINADOS</a:t>
            </a:r>
          </a:p>
        </p:txBody>
      </p:sp>
      <p:pic>
        <p:nvPicPr>
          <p:cNvPr id="9" name="Imagen 8">
            <a:extLst>
              <a:ext uri="{FF2B5EF4-FFF2-40B4-BE49-F238E27FC236}">
                <a16:creationId xmlns:a16="http://schemas.microsoft.com/office/drawing/2014/main" id="{F2FF4A5F-EB8D-CBFB-1306-C037D457C8AA}"/>
              </a:ext>
            </a:extLst>
          </p:cNvPr>
          <p:cNvPicPr>
            <a:picLocks noChangeAspect="1"/>
          </p:cNvPicPr>
          <p:nvPr/>
        </p:nvPicPr>
        <p:blipFill rotWithShape="1">
          <a:blip r:embed="rId2"/>
          <a:srcRect l="9826" t="44074" r="68750" b="42099"/>
          <a:stretch/>
        </p:blipFill>
        <p:spPr>
          <a:xfrm>
            <a:off x="196849" y="4032250"/>
            <a:ext cx="4203702" cy="1526142"/>
          </a:xfrm>
          <a:prstGeom prst="rect">
            <a:avLst/>
          </a:prstGeom>
        </p:spPr>
      </p:pic>
      <p:pic>
        <p:nvPicPr>
          <p:cNvPr id="11" name="Imagen 10">
            <a:extLst>
              <a:ext uri="{FF2B5EF4-FFF2-40B4-BE49-F238E27FC236}">
                <a16:creationId xmlns:a16="http://schemas.microsoft.com/office/drawing/2014/main" id="{B9154A66-45B0-94B1-8CF7-DFFB09C3755E}"/>
              </a:ext>
            </a:extLst>
          </p:cNvPr>
          <p:cNvPicPr>
            <a:picLocks noChangeAspect="1"/>
          </p:cNvPicPr>
          <p:nvPr/>
        </p:nvPicPr>
        <p:blipFill rotWithShape="1">
          <a:blip r:embed="rId3"/>
          <a:srcRect l="12500" t="42963" r="42847" b="39753"/>
          <a:stretch/>
        </p:blipFill>
        <p:spPr>
          <a:xfrm>
            <a:off x="146049" y="2360248"/>
            <a:ext cx="7679268" cy="1672002"/>
          </a:xfrm>
          <a:prstGeom prst="rect">
            <a:avLst/>
          </a:prstGeom>
        </p:spPr>
      </p:pic>
      <p:sp>
        <p:nvSpPr>
          <p:cNvPr id="14" name="Flecha: hacia abajo 13">
            <a:extLst>
              <a:ext uri="{FF2B5EF4-FFF2-40B4-BE49-F238E27FC236}">
                <a16:creationId xmlns:a16="http://schemas.microsoft.com/office/drawing/2014/main" id="{83B262E3-6111-F444-7505-89B7CC90BB4C}"/>
              </a:ext>
            </a:extLst>
          </p:cNvPr>
          <p:cNvSpPr/>
          <p:nvPr/>
        </p:nvSpPr>
        <p:spPr>
          <a:xfrm>
            <a:off x="8479367" y="2159000"/>
            <a:ext cx="1782233" cy="3746500"/>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642303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681E627-C349-103A-C955-D22E97779016}"/>
              </a:ext>
            </a:extLst>
          </p:cNvPr>
          <p:cNvSpPr txBox="1"/>
          <p:nvPr/>
        </p:nvSpPr>
        <p:spPr>
          <a:xfrm>
            <a:off x="2298700" y="39701"/>
            <a:ext cx="6104466" cy="1384995"/>
          </a:xfrm>
          <a:prstGeom prst="rect">
            <a:avLst/>
          </a:prstGeom>
          <a:noFill/>
        </p:spPr>
        <p:txBody>
          <a:bodyPr wrap="square">
            <a:spAutoFit/>
          </a:bodyPr>
          <a:lstStyle/>
          <a:p>
            <a:pPr algn="ctr"/>
            <a:r>
              <a:rPr lang="es-MX" sz="2800" b="1" dirty="0">
                <a:solidFill>
                  <a:srgbClr val="0070C0"/>
                </a:solidFill>
                <a:latin typeface="ADLaM Display" panose="02010000000000000000" pitchFamily="2" charset="0"/>
                <a:ea typeface="ADLaM Display" panose="02010000000000000000" pitchFamily="2" charset="0"/>
                <a:cs typeface="ADLaM Display" panose="02010000000000000000" pitchFamily="2" charset="0"/>
              </a:rPr>
              <a:t>RECORDANDO LA ESTRUCTURA DE LA DEFINICION DE UN CONSTRUCTOR</a:t>
            </a:r>
          </a:p>
        </p:txBody>
      </p:sp>
      <p:pic>
        <p:nvPicPr>
          <p:cNvPr id="6" name="Imagen 5">
            <a:extLst>
              <a:ext uri="{FF2B5EF4-FFF2-40B4-BE49-F238E27FC236}">
                <a16:creationId xmlns:a16="http://schemas.microsoft.com/office/drawing/2014/main" id="{E15A24B5-7B0D-1445-1C8F-3D20937F3C6F}"/>
              </a:ext>
            </a:extLst>
          </p:cNvPr>
          <p:cNvPicPr>
            <a:picLocks noChangeAspect="1"/>
          </p:cNvPicPr>
          <p:nvPr/>
        </p:nvPicPr>
        <p:blipFill rotWithShape="1">
          <a:blip r:embed="rId2"/>
          <a:srcRect l="12106" t="45579" r="22595" b="38407"/>
          <a:stretch/>
        </p:blipFill>
        <p:spPr>
          <a:xfrm>
            <a:off x="77580" y="2097157"/>
            <a:ext cx="10546706" cy="1454945"/>
          </a:xfrm>
          <a:prstGeom prst="rect">
            <a:avLst/>
          </a:prstGeom>
        </p:spPr>
      </p:pic>
      <p:sp>
        <p:nvSpPr>
          <p:cNvPr id="7" name="Abrir llave 6">
            <a:extLst>
              <a:ext uri="{FF2B5EF4-FFF2-40B4-BE49-F238E27FC236}">
                <a16:creationId xmlns:a16="http://schemas.microsoft.com/office/drawing/2014/main" id="{FF307BFD-DCD2-911A-A6E5-0DEBA9ABF635}"/>
              </a:ext>
            </a:extLst>
          </p:cNvPr>
          <p:cNvSpPr/>
          <p:nvPr/>
        </p:nvSpPr>
        <p:spPr>
          <a:xfrm rot="10800000">
            <a:off x="10647570" y="1977962"/>
            <a:ext cx="165099" cy="846667"/>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11" name="Abrir llave 10">
            <a:extLst>
              <a:ext uri="{FF2B5EF4-FFF2-40B4-BE49-F238E27FC236}">
                <a16:creationId xmlns:a16="http://schemas.microsoft.com/office/drawing/2014/main" id="{19A2C30C-FBC4-EAF0-011D-7C0C38D9DFE8}"/>
              </a:ext>
            </a:extLst>
          </p:cNvPr>
          <p:cNvSpPr/>
          <p:nvPr/>
        </p:nvSpPr>
        <p:spPr>
          <a:xfrm rot="10800000">
            <a:off x="4987713" y="2633132"/>
            <a:ext cx="143933" cy="576730"/>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13" name="CuadroTexto 12">
            <a:extLst>
              <a:ext uri="{FF2B5EF4-FFF2-40B4-BE49-F238E27FC236}">
                <a16:creationId xmlns:a16="http://schemas.microsoft.com/office/drawing/2014/main" id="{78394363-A5B8-2732-F8A9-BCED2F9735B0}"/>
              </a:ext>
            </a:extLst>
          </p:cNvPr>
          <p:cNvSpPr txBox="1"/>
          <p:nvPr/>
        </p:nvSpPr>
        <p:spPr>
          <a:xfrm>
            <a:off x="6372771" y="3578232"/>
            <a:ext cx="2753894" cy="646331"/>
          </a:xfrm>
          <a:prstGeom prst="rect">
            <a:avLst/>
          </a:prstGeom>
          <a:noFill/>
          <a:ln>
            <a:solidFill>
              <a:schemeClr val="tx1"/>
            </a:solidFill>
          </a:ln>
        </p:spPr>
        <p:txBody>
          <a:bodyPr wrap="square">
            <a:spAutoFit/>
          </a:bodyPr>
          <a:lstStyle/>
          <a:p>
            <a:pPr algn="ctr"/>
            <a:r>
              <a:rPr lang="es-MX" b="1" i="0" dirty="0">
                <a:effectLst/>
                <a:latin typeface="Söhne"/>
              </a:rPr>
              <a:t>Declaración del Constructor</a:t>
            </a:r>
            <a:endParaRPr lang="es-MX" dirty="0"/>
          </a:p>
        </p:txBody>
      </p:sp>
      <p:sp>
        <p:nvSpPr>
          <p:cNvPr id="15" name="CuadroTexto 14">
            <a:extLst>
              <a:ext uri="{FF2B5EF4-FFF2-40B4-BE49-F238E27FC236}">
                <a16:creationId xmlns:a16="http://schemas.microsoft.com/office/drawing/2014/main" id="{A2946AB6-EAA1-F1C9-BA02-58725D5EAE7E}"/>
              </a:ext>
            </a:extLst>
          </p:cNvPr>
          <p:cNvSpPr txBox="1"/>
          <p:nvPr/>
        </p:nvSpPr>
        <p:spPr>
          <a:xfrm>
            <a:off x="1617675" y="4469928"/>
            <a:ext cx="2191603" cy="646331"/>
          </a:xfrm>
          <a:prstGeom prst="rect">
            <a:avLst/>
          </a:prstGeom>
          <a:noFill/>
          <a:ln>
            <a:solidFill>
              <a:schemeClr val="tx1"/>
            </a:solidFill>
          </a:ln>
        </p:spPr>
        <p:txBody>
          <a:bodyPr wrap="square">
            <a:spAutoFit/>
          </a:bodyPr>
          <a:lstStyle/>
          <a:p>
            <a:pPr algn="ctr"/>
            <a:r>
              <a:rPr lang="es-MX" b="1" i="0" dirty="0">
                <a:effectLst/>
                <a:latin typeface="Söhne"/>
              </a:rPr>
              <a:t>Cuerpo del Constructor</a:t>
            </a:r>
            <a:endParaRPr lang="es-MX" dirty="0"/>
          </a:p>
        </p:txBody>
      </p:sp>
      <p:cxnSp>
        <p:nvCxnSpPr>
          <p:cNvPr id="17" name="Conector: angular 16">
            <a:extLst>
              <a:ext uri="{FF2B5EF4-FFF2-40B4-BE49-F238E27FC236}">
                <a16:creationId xmlns:a16="http://schemas.microsoft.com/office/drawing/2014/main" id="{21196954-354A-B394-8D09-AC47B6ABED45}"/>
              </a:ext>
            </a:extLst>
          </p:cNvPr>
          <p:cNvCxnSpPr>
            <a:stCxn id="15" idx="3"/>
          </p:cNvCxnSpPr>
          <p:nvPr/>
        </p:nvCxnSpPr>
        <p:spPr>
          <a:xfrm flipV="1">
            <a:off x="3809278" y="3331633"/>
            <a:ext cx="1178435" cy="1461461"/>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9" name="Conector: angular 18">
            <a:extLst>
              <a:ext uri="{FF2B5EF4-FFF2-40B4-BE49-F238E27FC236}">
                <a16:creationId xmlns:a16="http://schemas.microsoft.com/office/drawing/2014/main" id="{8860A2A0-E5A7-D76C-380E-4F7990D17D98}"/>
              </a:ext>
            </a:extLst>
          </p:cNvPr>
          <p:cNvCxnSpPr>
            <a:stCxn id="13" idx="3"/>
            <a:endCxn id="7" idx="0"/>
          </p:cNvCxnSpPr>
          <p:nvPr/>
        </p:nvCxnSpPr>
        <p:spPr>
          <a:xfrm flipV="1">
            <a:off x="9126665" y="2824629"/>
            <a:ext cx="1520905" cy="1076769"/>
          </a:xfrm>
          <a:prstGeom prst="bentConnector4">
            <a:avLst>
              <a:gd name="adj1" fmla="val 50000"/>
              <a:gd name="adj2" fmla="val 140"/>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46210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28FF472-1094-6086-A8AE-23FCC5BFEAF0}"/>
              </a:ext>
            </a:extLst>
          </p:cNvPr>
          <p:cNvSpPr txBox="1"/>
          <p:nvPr/>
        </p:nvSpPr>
        <p:spPr>
          <a:xfrm>
            <a:off x="2565399" y="87469"/>
            <a:ext cx="6104466" cy="830997"/>
          </a:xfrm>
          <a:prstGeom prst="rect">
            <a:avLst/>
          </a:prstGeom>
          <a:noFill/>
        </p:spPr>
        <p:txBody>
          <a:bodyPr wrap="square">
            <a:spAutoFit/>
          </a:bodyPr>
          <a:lstStyle/>
          <a:p>
            <a:pPr algn="ctr"/>
            <a:r>
              <a:rPr lang="es-MX" sz="2400" b="1" dirty="0">
                <a:solidFill>
                  <a:srgbClr val="0070C0"/>
                </a:solidFill>
                <a:latin typeface="ADLaM Display" panose="02010000000000000000" pitchFamily="2" charset="0"/>
                <a:ea typeface="ADLaM Display" panose="02010000000000000000" pitchFamily="2" charset="0"/>
                <a:cs typeface="ADLaM Display" panose="02010000000000000000" pitchFamily="2" charset="0"/>
              </a:rPr>
              <a:t>ESTRUCTURA DE LA DEFINICION DEL CONSTRUCTOR MEJORADA</a:t>
            </a:r>
          </a:p>
        </p:txBody>
      </p:sp>
      <p:sp>
        <p:nvSpPr>
          <p:cNvPr id="7" name="CuadroTexto 6">
            <a:extLst>
              <a:ext uri="{FF2B5EF4-FFF2-40B4-BE49-F238E27FC236}">
                <a16:creationId xmlns:a16="http://schemas.microsoft.com/office/drawing/2014/main" id="{83A1F066-A61D-97E9-F5FC-0122004A36A0}"/>
              </a:ext>
            </a:extLst>
          </p:cNvPr>
          <p:cNvSpPr txBox="1"/>
          <p:nvPr/>
        </p:nvSpPr>
        <p:spPr>
          <a:xfrm>
            <a:off x="541019" y="1264765"/>
            <a:ext cx="9660468" cy="2308324"/>
          </a:xfrm>
          <a:prstGeom prst="rect">
            <a:avLst/>
          </a:prstGeom>
          <a:noFill/>
        </p:spPr>
        <p:txBody>
          <a:bodyPr wrap="square">
            <a:spAutoFit/>
          </a:bodyPr>
          <a:lstStyle/>
          <a:p>
            <a:r>
              <a:rPr lang="es-MX" sz="24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Clase::Clase(Tipo1 param1, Tipo2 param2, Tipo3 param3)</a:t>
            </a:r>
          </a:p>
          <a:p>
            <a:r>
              <a:rPr lang="es-MX" sz="2400" dirty="0">
                <a:latin typeface="ADLaM Display" panose="02010000000000000000" pitchFamily="2" charset="0"/>
                <a:ea typeface="ADLaM Display" panose="02010000000000000000" pitchFamily="2" charset="0"/>
                <a:cs typeface="ADLaM Display" panose="02010000000000000000" pitchFamily="2" charset="0"/>
              </a:rPr>
              <a:t>    </a:t>
            </a:r>
            <a:r>
              <a:rPr lang="es-MX" sz="24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miembro1(param1), miembro2(param2),miembro3(param3)</a:t>
            </a:r>
          </a:p>
          <a:p>
            <a:r>
              <a:rPr lang="es-MX" sz="24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a:t>
            </a:r>
          </a:p>
          <a:p>
            <a:r>
              <a:rPr lang="es-MX" sz="24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 Cuerpo del constructor</a:t>
            </a:r>
          </a:p>
          <a:p>
            <a:r>
              <a:rPr lang="es-MX" sz="24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 ...</a:t>
            </a:r>
          </a:p>
          <a:p>
            <a:r>
              <a:rPr lang="es-MX" sz="24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a:t>
            </a:r>
          </a:p>
        </p:txBody>
      </p:sp>
      <p:cxnSp>
        <p:nvCxnSpPr>
          <p:cNvPr id="9" name="Conector: angular 8">
            <a:extLst>
              <a:ext uri="{FF2B5EF4-FFF2-40B4-BE49-F238E27FC236}">
                <a16:creationId xmlns:a16="http://schemas.microsoft.com/office/drawing/2014/main" id="{088DDFF3-6AD3-3F13-51F8-A19441D383AB}"/>
              </a:ext>
            </a:extLst>
          </p:cNvPr>
          <p:cNvCxnSpPr>
            <a:cxnSpLocks/>
          </p:cNvCxnSpPr>
          <p:nvPr/>
        </p:nvCxnSpPr>
        <p:spPr>
          <a:xfrm rot="5400000" flipH="1" flipV="1">
            <a:off x="-692573" y="2446022"/>
            <a:ext cx="2247053" cy="321732"/>
          </a:xfrm>
          <a:prstGeom prst="bentConnector3">
            <a:avLst>
              <a:gd name="adj1" fmla="val 100188"/>
            </a:avLst>
          </a:prstGeom>
          <a:ln>
            <a:tailEnd type="triangle"/>
          </a:ln>
        </p:spPr>
        <p:style>
          <a:lnRef idx="3">
            <a:schemeClr val="dk1"/>
          </a:lnRef>
          <a:fillRef idx="0">
            <a:schemeClr val="dk1"/>
          </a:fillRef>
          <a:effectRef idx="2">
            <a:schemeClr val="dk1"/>
          </a:effectRef>
          <a:fontRef idx="minor">
            <a:schemeClr val="tx1"/>
          </a:fontRef>
        </p:style>
      </p:cxnSp>
      <p:sp>
        <p:nvSpPr>
          <p:cNvPr id="11" name="CuadroTexto 10">
            <a:extLst>
              <a:ext uri="{FF2B5EF4-FFF2-40B4-BE49-F238E27FC236}">
                <a16:creationId xmlns:a16="http://schemas.microsoft.com/office/drawing/2014/main" id="{EE185AA8-A061-1258-15CC-163887CAEE84}"/>
              </a:ext>
            </a:extLst>
          </p:cNvPr>
          <p:cNvSpPr txBox="1"/>
          <p:nvPr/>
        </p:nvSpPr>
        <p:spPr>
          <a:xfrm>
            <a:off x="270087" y="3730414"/>
            <a:ext cx="2753894" cy="646331"/>
          </a:xfrm>
          <a:prstGeom prst="rect">
            <a:avLst/>
          </a:prstGeom>
          <a:noFill/>
          <a:ln>
            <a:solidFill>
              <a:schemeClr val="tx1"/>
            </a:solidFill>
          </a:ln>
        </p:spPr>
        <p:txBody>
          <a:bodyPr wrap="square">
            <a:spAutoFit/>
          </a:bodyPr>
          <a:lstStyle/>
          <a:p>
            <a:pPr algn="ctr"/>
            <a:r>
              <a:rPr lang="es-MX" b="1" i="0" dirty="0">
                <a:effectLst/>
                <a:latin typeface="Söhne"/>
              </a:rPr>
              <a:t>Declaración del Constructor</a:t>
            </a:r>
            <a:endParaRPr lang="es-MX" dirty="0"/>
          </a:p>
        </p:txBody>
      </p:sp>
      <p:cxnSp>
        <p:nvCxnSpPr>
          <p:cNvPr id="13" name="Conector: angular 12">
            <a:extLst>
              <a:ext uri="{FF2B5EF4-FFF2-40B4-BE49-F238E27FC236}">
                <a16:creationId xmlns:a16="http://schemas.microsoft.com/office/drawing/2014/main" id="{7C1D67CF-9759-ACD1-ACD6-C95132A56188}"/>
              </a:ext>
            </a:extLst>
          </p:cNvPr>
          <p:cNvCxnSpPr>
            <a:cxnSpLocks/>
          </p:cNvCxnSpPr>
          <p:nvPr/>
        </p:nvCxnSpPr>
        <p:spPr>
          <a:xfrm rot="16200000" flipV="1">
            <a:off x="9157489" y="2607797"/>
            <a:ext cx="1938991" cy="391160"/>
          </a:xfrm>
          <a:prstGeom prst="bentConnector3">
            <a:avLst>
              <a:gd name="adj1" fmla="val 100302"/>
            </a:avLst>
          </a:prstGeom>
          <a:ln>
            <a:tailEnd type="triangle"/>
          </a:ln>
        </p:spPr>
        <p:style>
          <a:lnRef idx="3">
            <a:schemeClr val="dk1"/>
          </a:lnRef>
          <a:fillRef idx="0">
            <a:schemeClr val="dk1"/>
          </a:fillRef>
          <a:effectRef idx="2">
            <a:schemeClr val="dk1"/>
          </a:effectRef>
          <a:fontRef idx="minor">
            <a:schemeClr val="tx1"/>
          </a:fontRef>
        </p:style>
      </p:cxnSp>
      <p:sp>
        <p:nvSpPr>
          <p:cNvPr id="15" name="CuadroTexto 14">
            <a:extLst>
              <a:ext uri="{FF2B5EF4-FFF2-40B4-BE49-F238E27FC236}">
                <a16:creationId xmlns:a16="http://schemas.microsoft.com/office/drawing/2014/main" id="{EBDA9586-1FB1-0ADD-814C-DECCDB57CA80}"/>
              </a:ext>
            </a:extLst>
          </p:cNvPr>
          <p:cNvSpPr txBox="1"/>
          <p:nvPr/>
        </p:nvSpPr>
        <p:spPr>
          <a:xfrm>
            <a:off x="8130959" y="3772872"/>
            <a:ext cx="2191603" cy="369332"/>
          </a:xfrm>
          <a:prstGeom prst="rect">
            <a:avLst/>
          </a:prstGeom>
          <a:noFill/>
          <a:ln>
            <a:solidFill>
              <a:schemeClr val="tx1"/>
            </a:solidFill>
          </a:ln>
        </p:spPr>
        <p:txBody>
          <a:bodyPr wrap="square">
            <a:spAutoFit/>
          </a:bodyPr>
          <a:lstStyle/>
          <a:p>
            <a:pPr algn="ctr"/>
            <a:r>
              <a:rPr lang="es-MX" b="1" dirty="0">
                <a:latin typeface="Söhne"/>
              </a:rPr>
              <a:t>Lista de inicialización</a:t>
            </a:r>
            <a:endParaRPr lang="es-MX" dirty="0"/>
          </a:p>
        </p:txBody>
      </p:sp>
      <p:sp>
        <p:nvSpPr>
          <p:cNvPr id="23" name="CuadroTexto 22">
            <a:extLst>
              <a:ext uri="{FF2B5EF4-FFF2-40B4-BE49-F238E27FC236}">
                <a16:creationId xmlns:a16="http://schemas.microsoft.com/office/drawing/2014/main" id="{A09E753A-67CB-82AE-7E5E-2B01837AEA7A}"/>
              </a:ext>
            </a:extLst>
          </p:cNvPr>
          <p:cNvSpPr txBox="1"/>
          <p:nvPr/>
        </p:nvSpPr>
        <p:spPr>
          <a:xfrm>
            <a:off x="270087" y="5292634"/>
            <a:ext cx="10118513" cy="1015663"/>
          </a:xfrm>
          <a:prstGeom prst="rect">
            <a:avLst/>
          </a:prstGeom>
          <a:noFill/>
        </p:spPr>
        <p:txBody>
          <a:bodyPr wrap="square">
            <a:spAutoFit/>
          </a:bodyPr>
          <a:lstStyle/>
          <a:p>
            <a:pPr algn="ctr"/>
            <a:r>
              <a:rPr lang="es-MX" sz="2000" dirty="0">
                <a:latin typeface="ADLaM Display" panose="02010000000000000000" pitchFamily="2" charset="0"/>
                <a:ea typeface="ADLaM Display" panose="02010000000000000000" pitchFamily="2" charset="0"/>
                <a:cs typeface="ADLaM Display" panose="02010000000000000000" pitchFamily="2" charset="0"/>
              </a:rPr>
              <a:t>P</a:t>
            </a: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ermite aprovechar los constructores ya existentes en las clases base o miembros de clases, evitando así la llamada implícita a los constructores por defecto y luego asignar valores en el cuerpo del constructor.</a:t>
            </a:r>
            <a:endParaRPr lang="es-MX" sz="20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824268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D88820B-C46D-027C-1E0E-5702F803A1E3}"/>
              </a:ext>
            </a:extLst>
          </p:cNvPr>
          <p:cNvPicPr>
            <a:picLocks noChangeAspect="1"/>
          </p:cNvPicPr>
          <p:nvPr/>
        </p:nvPicPr>
        <p:blipFill rotWithShape="1">
          <a:blip r:embed="rId2"/>
          <a:srcRect l="11806" t="24074" r="25833" b="38024"/>
          <a:stretch/>
        </p:blipFill>
        <p:spPr>
          <a:xfrm>
            <a:off x="143935" y="2156881"/>
            <a:ext cx="9503833" cy="3249084"/>
          </a:xfrm>
          <a:prstGeom prst="rect">
            <a:avLst/>
          </a:prstGeom>
        </p:spPr>
      </p:pic>
      <p:sp>
        <p:nvSpPr>
          <p:cNvPr id="6" name="CuadroTexto 5">
            <a:extLst>
              <a:ext uri="{FF2B5EF4-FFF2-40B4-BE49-F238E27FC236}">
                <a16:creationId xmlns:a16="http://schemas.microsoft.com/office/drawing/2014/main" id="{3E496793-BB4E-69B5-13D2-1F06E845361B}"/>
              </a:ext>
            </a:extLst>
          </p:cNvPr>
          <p:cNvSpPr txBox="1"/>
          <p:nvPr/>
        </p:nvSpPr>
        <p:spPr>
          <a:xfrm>
            <a:off x="2298700" y="39701"/>
            <a:ext cx="6104466" cy="1384995"/>
          </a:xfrm>
          <a:prstGeom prst="rect">
            <a:avLst/>
          </a:prstGeom>
          <a:noFill/>
        </p:spPr>
        <p:txBody>
          <a:bodyPr wrap="square">
            <a:spAutoFit/>
          </a:bodyPr>
          <a:lstStyle/>
          <a:p>
            <a:pPr algn="ctr"/>
            <a:r>
              <a:rPr lang="es-MX"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DEFINICIONES DE LOS CONSTRUCTORES CON PARAMETROS</a:t>
            </a:r>
          </a:p>
        </p:txBody>
      </p:sp>
      <p:sp>
        <p:nvSpPr>
          <p:cNvPr id="7" name="Abrir llave 6">
            <a:extLst>
              <a:ext uri="{FF2B5EF4-FFF2-40B4-BE49-F238E27FC236}">
                <a16:creationId xmlns:a16="http://schemas.microsoft.com/office/drawing/2014/main" id="{074CAB98-7C42-16C4-418B-98D5978C9B64}"/>
              </a:ext>
            </a:extLst>
          </p:cNvPr>
          <p:cNvSpPr/>
          <p:nvPr/>
        </p:nvSpPr>
        <p:spPr>
          <a:xfrm rot="10800000">
            <a:off x="9647768" y="1913465"/>
            <a:ext cx="165099" cy="846667"/>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9" name="Abrir llave 8">
            <a:extLst>
              <a:ext uri="{FF2B5EF4-FFF2-40B4-BE49-F238E27FC236}">
                <a16:creationId xmlns:a16="http://schemas.microsoft.com/office/drawing/2014/main" id="{5E878265-4930-1BF1-58CA-46098F6C7A30}"/>
              </a:ext>
            </a:extLst>
          </p:cNvPr>
          <p:cNvSpPr/>
          <p:nvPr/>
        </p:nvSpPr>
        <p:spPr>
          <a:xfrm rot="10800000">
            <a:off x="5562601" y="2465914"/>
            <a:ext cx="71965" cy="588435"/>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10" name="Abrir llave 9">
            <a:extLst>
              <a:ext uri="{FF2B5EF4-FFF2-40B4-BE49-F238E27FC236}">
                <a16:creationId xmlns:a16="http://schemas.microsoft.com/office/drawing/2014/main" id="{1861F6F1-5326-06A8-4D27-F688CAD8AB7F}"/>
              </a:ext>
            </a:extLst>
          </p:cNvPr>
          <p:cNvSpPr/>
          <p:nvPr/>
        </p:nvSpPr>
        <p:spPr>
          <a:xfrm rot="10800000">
            <a:off x="4373033" y="3162296"/>
            <a:ext cx="228600" cy="1879603"/>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33065437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89AE6DA-A080-475C-BE02-EF343FBA6E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13" name="Rectangle 12">
            <a:extLst>
              <a:ext uri="{FF2B5EF4-FFF2-40B4-BE49-F238E27FC236}">
                <a16:creationId xmlns:a16="http://schemas.microsoft.com/office/drawing/2014/main" id="{AB33EF95-E91B-40C4-A692-E91065291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953CAC5D-D424-4EE2-A0C2-72ED7A88AA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6568"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C8EC2234-507F-E4DE-3F54-0AD0295A3B43}"/>
              </a:ext>
            </a:extLst>
          </p:cNvPr>
          <p:cNvPicPr>
            <a:picLocks noChangeAspect="1"/>
          </p:cNvPicPr>
          <p:nvPr/>
        </p:nvPicPr>
        <p:blipFill>
          <a:blip r:embed="rId2"/>
          <a:stretch>
            <a:fillRect/>
          </a:stretch>
        </p:blipFill>
        <p:spPr>
          <a:xfrm>
            <a:off x="-15240" y="3235960"/>
            <a:ext cx="3249577" cy="3249577"/>
          </a:xfrm>
          <a:prstGeom prst="rect">
            <a:avLst/>
          </a:prstGeom>
        </p:spPr>
      </p:pic>
      <p:pic>
        <p:nvPicPr>
          <p:cNvPr id="8" name="Imagen 7">
            <a:extLst>
              <a:ext uri="{FF2B5EF4-FFF2-40B4-BE49-F238E27FC236}">
                <a16:creationId xmlns:a16="http://schemas.microsoft.com/office/drawing/2014/main" id="{B184BC70-99C5-7533-01F1-5B7D28E9BFF4}"/>
              </a:ext>
            </a:extLst>
          </p:cNvPr>
          <p:cNvPicPr>
            <a:picLocks noChangeAspect="1"/>
          </p:cNvPicPr>
          <p:nvPr/>
        </p:nvPicPr>
        <p:blipFill rotWithShape="1">
          <a:blip r:embed="rId3"/>
          <a:srcRect l="10376" t="15704" r="43832" b="31852"/>
          <a:stretch/>
        </p:blipFill>
        <p:spPr>
          <a:xfrm>
            <a:off x="3665675" y="1005839"/>
            <a:ext cx="7930273" cy="5108857"/>
          </a:xfrm>
          <a:prstGeom prst="rect">
            <a:avLst/>
          </a:prstGeom>
        </p:spPr>
      </p:pic>
    </p:spTree>
    <p:extLst>
      <p:ext uri="{BB962C8B-B14F-4D97-AF65-F5344CB8AC3E}">
        <p14:creationId xmlns:p14="http://schemas.microsoft.com/office/powerpoint/2010/main" val="175964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9307DAD-6383-F080-6431-9BB79A75FCC0}"/>
              </a:ext>
            </a:extLst>
          </p:cNvPr>
          <p:cNvPicPr>
            <a:picLocks noChangeAspect="1"/>
          </p:cNvPicPr>
          <p:nvPr/>
        </p:nvPicPr>
        <p:blipFill rotWithShape="1">
          <a:blip r:embed="rId2"/>
          <a:srcRect l="12791" t="29778" r="15792" b="42815"/>
          <a:stretch/>
        </p:blipFill>
        <p:spPr>
          <a:xfrm>
            <a:off x="96520" y="1026160"/>
            <a:ext cx="11130994" cy="2402840"/>
          </a:xfrm>
          <a:prstGeom prst="rect">
            <a:avLst/>
          </a:prstGeom>
        </p:spPr>
      </p:pic>
      <p:sp>
        <p:nvSpPr>
          <p:cNvPr id="6" name="CuadroTexto 5">
            <a:extLst>
              <a:ext uri="{FF2B5EF4-FFF2-40B4-BE49-F238E27FC236}">
                <a16:creationId xmlns:a16="http://schemas.microsoft.com/office/drawing/2014/main" id="{9BEFBAC5-6E53-6B42-FB52-0ADC2F937023}"/>
              </a:ext>
            </a:extLst>
          </p:cNvPr>
          <p:cNvSpPr txBox="1"/>
          <p:nvPr/>
        </p:nvSpPr>
        <p:spPr>
          <a:xfrm>
            <a:off x="2298700" y="39701"/>
            <a:ext cx="6104466" cy="523220"/>
          </a:xfrm>
          <a:prstGeom prst="rect">
            <a:avLst/>
          </a:prstGeom>
          <a:noFill/>
        </p:spPr>
        <p:txBody>
          <a:bodyPr wrap="square">
            <a:spAutoFit/>
          </a:bodyPr>
          <a:lstStyle/>
          <a:p>
            <a:pPr algn="ctr"/>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DEFINICION DEL CONSTRUCTOR</a:t>
            </a:r>
          </a:p>
        </p:txBody>
      </p:sp>
    </p:spTree>
    <p:extLst>
      <p:ext uri="{BB962C8B-B14F-4D97-AF65-F5344CB8AC3E}">
        <p14:creationId xmlns:p14="http://schemas.microsoft.com/office/powerpoint/2010/main" val="4908452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5C4C8C8-EFD6-BDEB-F508-5D35BDF22E26}"/>
              </a:ext>
            </a:extLst>
          </p:cNvPr>
          <p:cNvPicPr>
            <a:picLocks noChangeAspect="1"/>
          </p:cNvPicPr>
          <p:nvPr/>
        </p:nvPicPr>
        <p:blipFill>
          <a:blip r:embed="rId2"/>
          <a:stretch>
            <a:fillRect/>
          </a:stretch>
        </p:blipFill>
        <p:spPr>
          <a:xfrm>
            <a:off x="391671" y="894944"/>
            <a:ext cx="10469369" cy="5764935"/>
          </a:xfrm>
          <a:prstGeom prst="rect">
            <a:avLst/>
          </a:prstGeom>
        </p:spPr>
      </p:pic>
      <p:sp>
        <p:nvSpPr>
          <p:cNvPr id="6" name="CuadroTexto 5">
            <a:extLst>
              <a:ext uri="{FF2B5EF4-FFF2-40B4-BE49-F238E27FC236}">
                <a16:creationId xmlns:a16="http://schemas.microsoft.com/office/drawing/2014/main" id="{8CD2F660-48D2-CA47-1229-9F346A921720}"/>
              </a:ext>
            </a:extLst>
          </p:cNvPr>
          <p:cNvSpPr txBox="1"/>
          <p:nvPr/>
        </p:nvSpPr>
        <p:spPr>
          <a:xfrm>
            <a:off x="2293620" y="39701"/>
            <a:ext cx="6104466" cy="769441"/>
          </a:xfrm>
          <a:prstGeom prst="rect">
            <a:avLst/>
          </a:prstGeom>
          <a:noFill/>
        </p:spPr>
        <p:txBody>
          <a:bodyPr wrap="square">
            <a:spAutoFit/>
          </a:bodyPr>
          <a:lstStyle/>
          <a:p>
            <a:pPr algn="ctr"/>
            <a:r>
              <a:rPr lang="es-MX" sz="44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EJERCICIO</a:t>
            </a:r>
            <a:endPar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061149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AAD0629-CC85-83DA-4203-6C963737B074}"/>
              </a:ext>
            </a:extLst>
          </p:cNvPr>
          <p:cNvSpPr txBox="1"/>
          <p:nvPr/>
        </p:nvSpPr>
        <p:spPr>
          <a:xfrm>
            <a:off x="2293620" y="39701"/>
            <a:ext cx="7028180" cy="646331"/>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DECLARACION DE LA CLASE</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6" name="Imagen 5">
            <a:extLst>
              <a:ext uri="{FF2B5EF4-FFF2-40B4-BE49-F238E27FC236}">
                <a16:creationId xmlns:a16="http://schemas.microsoft.com/office/drawing/2014/main" id="{1D0C97AE-3CD4-BF97-E02A-CE93022071A5}"/>
              </a:ext>
            </a:extLst>
          </p:cNvPr>
          <p:cNvPicPr>
            <a:picLocks noChangeAspect="1"/>
          </p:cNvPicPr>
          <p:nvPr/>
        </p:nvPicPr>
        <p:blipFill rotWithShape="1">
          <a:blip r:embed="rId2"/>
          <a:srcRect l="7458" t="22519" r="30625" b="47259"/>
          <a:stretch/>
        </p:blipFill>
        <p:spPr>
          <a:xfrm>
            <a:off x="27939" y="1183640"/>
            <a:ext cx="11212307" cy="3078480"/>
          </a:xfrm>
          <a:prstGeom prst="rect">
            <a:avLst/>
          </a:prstGeom>
        </p:spPr>
      </p:pic>
      <p:pic>
        <p:nvPicPr>
          <p:cNvPr id="2050" name="Picture 2" descr="Negocios hombre empleado humano miembro oficina - Iconos Interfaz de  usuario y Gestos">
            <a:extLst>
              <a:ext uri="{FF2B5EF4-FFF2-40B4-BE49-F238E27FC236}">
                <a16:creationId xmlns:a16="http://schemas.microsoft.com/office/drawing/2014/main" id="{0897234D-A1CA-3651-4E13-20B7121DA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4880" y="4312920"/>
            <a:ext cx="2346960" cy="2346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395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96B1A60-FA1C-2B58-E857-4FA5BCB7184F}"/>
              </a:ext>
            </a:extLst>
          </p:cNvPr>
          <p:cNvSpPr txBox="1"/>
          <p:nvPr/>
        </p:nvSpPr>
        <p:spPr>
          <a:xfrm>
            <a:off x="2293620" y="39701"/>
            <a:ext cx="7028180" cy="646331"/>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DECLARACION DE LA CLASE</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6" name="Imagen 5">
            <a:extLst>
              <a:ext uri="{FF2B5EF4-FFF2-40B4-BE49-F238E27FC236}">
                <a16:creationId xmlns:a16="http://schemas.microsoft.com/office/drawing/2014/main" id="{9482F4CD-7EE1-C010-8DBE-C2C12C1F7B3A}"/>
              </a:ext>
            </a:extLst>
          </p:cNvPr>
          <p:cNvPicPr>
            <a:picLocks noChangeAspect="1"/>
          </p:cNvPicPr>
          <p:nvPr/>
        </p:nvPicPr>
        <p:blipFill rotWithShape="1">
          <a:blip r:embed="rId2"/>
          <a:srcRect l="9542" t="21777" r="7166" b="25408"/>
          <a:stretch/>
        </p:blipFill>
        <p:spPr>
          <a:xfrm>
            <a:off x="0" y="686032"/>
            <a:ext cx="11055482" cy="3943251"/>
          </a:xfrm>
          <a:prstGeom prst="rect">
            <a:avLst/>
          </a:prstGeom>
        </p:spPr>
      </p:pic>
      <p:pic>
        <p:nvPicPr>
          <p:cNvPr id="8" name="Imagen 7">
            <a:extLst>
              <a:ext uri="{FF2B5EF4-FFF2-40B4-BE49-F238E27FC236}">
                <a16:creationId xmlns:a16="http://schemas.microsoft.com/office/drawing/2014/main" id="{6505C602-16FB-0D72-895A-80F189FCE24A}"/>
              </a:ext>
            </a:extLst>
          </p:cNvPr>
          <p:cNvPicPr>
            <a:picLocks noChangeAspect="1"/>
          </p:cNvPicPr>
          <p:nvPr/>
        </p:nvPicPr>
        <p:blipFill rotWithShape="1">
          <a:blip r:embed="rId3"/>
          <a:srcRect l="9322" t="20741" r="11875" b="53408"/>
          <a:stretch/>
        </p:blipFill>
        <p:spPr>
          <a:xfrm>
            <a:off x="0" y="4693920"/>
            <a:ext cx="9607682" cy="1772920"/>
          </a:xfrm>
          <a:prstGeom prst="rect">
            <a:avLst/>
          </a:prstGeom>
        </p:spPr>
      </p:pic>
    </p:spTree>
    <p:extLst>
      <p:ext uri="{BB962C8B-B14F-4D97-AF65-F5344CB8AC3E}">
        <p14:creationId xmlns:p14="http://schemas.microsoft.com/office/powerpoint/2010/main" val="13987137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DCA3B61-E1E4-35E9-5F76-6F5B9F853E36}"/>
              </a:ext>
            </a:extLst>
          </p:cNvPr>
          <p:cNvPicPr>
            <a:picLocks noChangeAspect="1"/>
          </p:cNvPicPr>
          <p:nvPr/>
        </p:nvPicPr>
        <p:blipFill rotWithShape="1">
          <a:blip r:embed="rId2"/>
          <a:srcRect l="12832" t="9777" r="17176" b="72123"/>
          <a:stretch/>
        </p:blipFill>
        <p:spPr>
          <a:xfrm>
            <a:off x="462279" y="2230120"/>
            <a:ext cx="10022841" cy="2306320"/>
          </a:xfrm>
          <a:prstGeom prst="rect">
            <a:avLst/>
          </a:prstGeom>
        </p:spPr>
      </p:pic>
    </p:spTree>
    <p:extLst>
      <p:ext uri="{BB962C8B-B14F-4D97-AF65-F5344CB8AC3E}">
        <p14:creationId xmlns:p14="http://schemas.microsoft.com/office/powerpoint/2010/main" val="42416750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694DC6F-DB7F-D5A3-43F6-31D7C4678A1F}"/>
              </a:ext>
            </a:extLst>
          </p:cNvPr>
          <p:cNvSpPr txBox="1"/>
          <p:nvPr/>
        </p:nvSpPr>
        <p:spPr>
          <a:xfrm>
            <a:off x="2293620" y="39701"/>
            <a:ext cx="7028180" cy="1200329"/>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ARCHIVO DE ENCABEZADO DE UNA CLASE </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CuadroTexto 5">
            <a:extLst>
              <a:ext uri="{FF2B5EF4-FFF2-40B4-BE49-F238E27FC236}">
                <a16:creationId xmlns:a16="http://schemas.microsoft.com/office/drawing/2014/main" id="{2CD1AC43-85D7-4863-83EF-268D5F989703}"/>
              </a:ext>
            </a:extLst>
          </p:cNvPr>
          <p:cNvSpPr txBox="1"/>
          <p:nvPr/>
        </p:nvSpPr>
        <p:spPr>
          <a:xfrm>
            <a:off x="308610" y="1595874"/>
            <a:ext cx="10003790" cy="3970318"/>
          </a:xfrm>
          <a:prstGeom prst="rect">
            <a:avLst/>
          </a:prstGeom>
          <a:noFill/>
        </p:spPr>
        <p:txBody>
          <a:bodyPr wrap="square">
            <a:spAutoFit/>
          </a:bodyPr>
          <a:lstStyle/>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P</a:t>
            </a:r>
            <a:r>
              <a:rPr lang="es-MX" sz="3600" b="0" i="0" dirty="0">
                <a:effectLst/>
                <a:latin typeface="ADLaM Display" panose="02010000000000000000" pitchFamily="2" charset="0"/>
                <a:ea typeface="ADLaM Display" panose="02010000000000000000" pitchFamily="2" charset="0"/>
                <a:cs typeface="ADLaM Display" panose="02010000000000000000" pitchFamily="2" charset="0"/>
              </a:rPr>
              <a:t>roporciona la interfaz pública de la clase sin exponer la implementación detallada</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Inclusión de cabeceras necesarias</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Guardias de inclusión múltiple </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Archivos con extensión .h</a:t>
            </a:r>
          </a:p>
          <a:p>
            <a:endParaRPr lang="es-MX" sz="36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026" name="Picture 2" descr="Extension, file, type, c/c++/objective-c header file, h icon - Download on  Iconfinder">
            <a:extLst>
              <a:ext uri="{FF2B5EF4-FFF2-40B4-BE49-F238E27FC236}">
                <a16:creationId xmlns:a16="http://schemas.microsoft.com/office/drawing/2014/main" id="{2C1CF368-89A7-01FE-5D61-4282E0927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7980" y="3627120"/>
            <a:ext cx="2905760" cy="290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5422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8657C0C-E78B-BC93-DDA4-9111254B3C00}"/>
              </a:ext>
            </a:extLst>
          </p:cNvPr>
          <p:cNvSpPr>
            <a:spLocks noChangeArrowheads="1"/>
          </p:cNvSpPr>
          <p:nvPr/>
        </p:nvSpPr>
        <p:spPr bwMode="auto">
          <a:xfrm>
            <a:off x="115746" y="299466"/>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Existen dos formas principales de usar #include </a:t>
            </a:r>
          </a:p>
        </p:txBody>
      </p:sp>
      <p:sp>
        <p:nvSpPr>
          <p:cNvPr id="6" name="Rectangle 2">
            <a:extLst>
              <a:ext uri="{FF2B5EF4-FFF2-40B4-BE49-F238E27FC236}">
                <a16:creationId xmlns:a16="http://schemas.microsoft.com/office/drawing/2014/main" id="{0D1D0EEB-5D0F-63F7-8F7B-E83935A25346}"/>
              </a:ext>
            </a:extLst>
          </p:cNvPr>
          <p:cNvSpPr>
            <a:spLocks noChangeArrowheads="1"/>
          </p:cNvSpPr>
          <p:nvPr/>
        </p:nvSpPr>
        <p:spPr bwMode="auto">
          <a:xfrm>
            <a:off x="179407" y="1335400"/>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Inclusión de archivos de encabezado</a:t>
            </a:r>
          </a:p>
        </p:txBody>
      </p:sp>
      <p:pic>
        <p:nvPicPr>
          <p:cNvPr id="8" name="Imagen 7">
            <a:extLst>
              <a:ext uri="{FF2B5EF4-FFF2-40B4-BE49-F238E27FC236}">
                <a16:creationId xmlns:a16="http://schemas.microsoft.com/office/drawing/2014/main" id="{5CEC722A-BB74-FCAF-9BE2-9EF90D6E4B59}"/>
              </a:ext>
            </a:extLst>
          </p:cNvPr>
          <p:cNvPicPr>
            <a:picLocks noChangeAspect="1"/>
          </p:cNvPicPr>
          <p:nvPr/>
        </p:nvPicPr>
        <p:blipFill rotWithShape="1">
          <a:blip r:embed="rId2"/>
          <a:srcRect l="13196" t="30127" r="51535" b="62025"/>
          <a:stretch/>
        </p:blipFill>
        <p:spPr>
          <a:xfrm>
            <a:off x="943336" y="2019529"/>
            <a:ext cx="6382635" cy="798905"/>
          </a:xfrm>
          <a:prstGeom prst="rect">
            <a:avLst/>
          </a:prstGeom>
        </p:spPr>
      </p:pic>
      <p:sp>
        <p:nvSpPr>
          <p:cNvPr id="9" name="Rectangle 2">
            <a:extLst>
              <a:ext uri="{FF2B5EF4-FFF2-40B4-BE49-F238E27FC236}">
                <a16:creationId xmlns:a16="http://schemas.microsoft.com/office/drawing/2014/main" id="{B1AC045B-3E36-D414-DCED-E76EC5C915D8}"/>
              </a:ext>
            </a:extLst>
          </p:cNvPr>
          <p:cNvSpPr>
            <a:spLocks noChangeArrowheads="1"/>
          </p:cNvSpPr>
          <p:nvPr/>
        </p:nvSpPr>
        <p:spPr bwMode="auto">
          <a:xfrm>
            <a:off x="179406" y="3136612"/>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rPr>
              <a:t>Inclusión de Biblioteca estándar</a:t>
            </a:r>
          </a:p>
        </p:txBody>
      </p:sp>
      <p:pic>
        <p:nvPicPr>
          <p:cNvPr id="11" name="Imagen 10">
            <a:extLst>
              <a:ext uri="{FF2B5EF4-FFF2-40B4-BE49-F238E27FC236}">
                <a16:creationId xmlns:a16="http://schemas.microsoft.com/office/drawing/2014/main" id="{89800D5A-98B3-C6D6-1022-E77D3DC4A3B8}"/>
              </a:ext>
            </a:extLst>
          </p:cNvPr>
          <p:cNvPicPr>
            <a:picLocks noChangeAspect="1"/>
          </p:cNvPicPr>
          <p:nvPr/>
        </p:nvPicPr>
        <p:blipFill rotWithShape="1">
          <a:blip r:embed="rId3"/>
          <a:srcRect l="13054" t="30886" r="56139" b="62785"/>
          <a:stretch/>
        </p:blipFill>
        <p:spPr>
          <a:xfrm>
            <a:off x="914402" y="3906454"/>
            <a:ext cx="6232968" cy="720299"/>
          </a:xfrm>
          <a:prstGeom prst="rect">
            <a:avLst/>
          </a:prstGeom>
        </p:spPr>
      </p:pic>
    </p:spTree>
    <p:extLst>
      <p:ext uri="{BB962C8B-B14F-4D97-AF65-F5344CB8AC3E}">
        <p14:creationId xmlns:p14="http://schemas.microsoft.com/office/powerpoint/2010/main" val="3209233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D69CEA9-56F5-2A69-976F-733E2EAD22D2}"/>
              </a:ext>
            </a:extLst>
          </p:cNvPr>
          <p:cNvSpPr txBox="1"/>
          <p:nvPr/>
        </p:nvSpPr>
        <p:spPr>
          <a:xfrm>
            <a:off x="2293620" y="39701"/>
            <a:ext cx="7028180" cy="646331"/>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GUARDIAS DE INCLUSIÓN</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CuadroTexto 4">
            <a:extLst>
              <a:ext uri="{FF2B5EF4-FFF2-40B4-BE49-F238E27FC236}">
                <a16:creationId xmlns:a16="http://schemas.microsoft.com/office/drawing/2014/main" id="{DDB1B023-F590-5494-DFFC-F64A6B31279A}"/>
              </a:ext>
            </a:extLst>
          </p:cNvPr>
          <p:cNvSpPr txBox="1"/>
          <p:nvPr/>
        </p:nvSpPr>
        <p:spPr>
          <a:xfrm>
            <a:off x="313690" y="920234"/>
            <a:ext cx="10003790" cy="1477328"/>
          </a:xfrm>
          <a:prstGeom prst="rect">
            <a:avLst/>
          </a:prstGeom>
          <a:noFill/>
        </p:spPr>
        <p:txBody>
          <a:bodyPr wrap="square">
            <a:spAutoFit/>
          </a:bodyPr>
          <a:lstStyle/>
          <a:p>
            <a:pPr marL="742950" indent="-742950">
              <a:buFont typeface="+mj-lt"/>
              <a:buAutoNum type="alphaLcParenR"/>
            </a:pPr>
            <a:r>
              <a:rPr lang="es-MX" dirty="0">
                <a:latin typeface="ADLaM Display" panose="02010000000000000000" pitchFamily="2" charset="0"/>
                <a:ea typeface="ADLaM Display" panose="02010000000000000000" pitchFamily="2" charset="0"/>
                <a:cs typeface="ADLaM Display" panose="02010000000000000000" pitchFamily="2" charset="0"/>
              </a:rPr>
              <a:t>Son directivas de preprocesador en C++ </a:t>
            </a:r>
          </a:p>
          <a:p>
            <a:pPr marL="742950" indent="-742950">
              <a:buFont typeface="+mj-lt"/>
              <a:buAutoNum type="alphaLcParenR"/>
            </a:pPr>
            <a:r>
              <a:rPr lang="es-MX" dirty="0">
                <a:latin typeface="ADLaM Display" panose="02010000000000000000" pitchFamily="2" charset="0"/>
                <a:ea typeface="ADLaM Display" panose="02010000000000000000" pitchFamily="2" charset="0"/>
                <a:cs typeface="ADLaM Display" panose="02010000000000000000" pitchFamily="2" charset="0"/>
              </a:rPr>
              <a:t>Evitan problemas relacionados con la inclusión de un mismo archivo de encabezado en múltiples lugares durante la compilación</a:t>
            </a:r>
          </a:p>
          <a:p>
            <a:pPr marL="1200150" lvl="1" indent="-742950">
              <a:buFont typeface="+mj-lt"/>
              <a:buAutoNum type="romanUcPeriod"/>
            </a:pPr>
            <a:r>
              <a:rPr lang="es-MX" dirty="0">
                <a:latin typeface="ADLaM Display" panose="02010000000000000000" pitchFamily="2" charset="0"/>
                <a:ea typeface="ADLaM Display" panose="02010000000000000000" pitchFamily="2" charset="0"/>
                <a:cs typeface="ADLaM Display" panose="02010000000000000000" pitchFamily="2" charset="0"/>
              </a:rPr>
              <a:t>L</a:t>
            </a:r>
            <a:r>
              <a:rPr lang="es-MX" b="0" i="0" dirty="0">
                <a:effectLst/>
                <a:latin typeface="ADLaM Display" panose="02010000000000000000" pitchFamily="2" charset="0"/>
                <a:ea typeface="ADLaM Display" panose="02010000000000000000" pitchFamily="2" charset="0"/>
                <a:cs typeface="ADLaM Display" panose="02010000000000000000" pitchFamily="2" charset="0"/>
              </a:rPr>
              <a:t>levar a definiciones múltiples y causar errores durante el proceso de compilación</a:t>
            </a:r>
            <a:endParaRPr lang="es-MX"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1" name="Imagen 10">
            <a:extLst>
              <a:ext uri="{FF2B5EF4-FFF2-40B4-BE49-F238E27FC236}">
                <a16:creationId xmlns:a16="http://schemas.microsoft.com/office/drawing/2014/main" id="{1AAEB277-0953-8695-2C32-78841471628B}"/>
              </a:ext>
            </a:extLst>
          </p:cNvPr>
          <p:cNvPicPr>
            <a:picLocks noChangeAspect="1"/>
          </p:cNvPicPr>
          <p:nvPr/>
        </p:nvPicPr>
        <p:blipFill rotWithShape="1">
          <a:blip r:embed="rId2"/>
          <a:srcRect t="12889" r="59292" b="76667"/>
          <a:stretch/>
        </p:blipFill>
        <p:spPr>
          <a:xfrm>
            <a:off x="172720" y="3840480"/>
            <a:ext cx="4963160" cy="716280"/>
          </a:xfrm>
          <a:prstGeom prst="rect">
            <a:avLst/>
          </a:prstGeom>
        </p:spPr>
      </p:pic>
      <p:pic>
        <p:nvPicPr>
          <p:cNvPr id="15" name="Imagen 14">
            <a:extLst>
              <a:ext uri="{FF2B5EF4-FFF2-40B4-BE49-F238E27FC236}">
                <a16:creationId xmlns:a16="http://schemas.microsoft.com/office/drawing/2014/main" id="{809FCE9A-DD76-B081-7582-43B4BAA9870D}"/>
              </a:ext>
            </a:extLst>
          </p:cNvPr>
          <p:cNvPicPr>
            <a:picLocks noChangeAspect="1"/>
          </p:cNvPicPr>
          <p:nvPr/>
        </p:nvPicPr>
        <p:blipFill rotWithShape="1">
          <a:blip r:embed="rId3"/>
          <a:srcRect t="12889" r="66417" b="75629"/>
          <a:stretch/>
        </p:blipFill>
        <p:spPr>
          <a:xfrm>
            <a:off x="172720" y="2623820"/>
            <a:ext cx="4094480" cy="787400"/>
          </a:xfrm>
          <a:prstGeom prst="rect">
            <a:avLst/>
          </a:prstGeom>
        </p:spPr>
      </p:pic>
      <p:sp>
        <p:nvSpPr>
          <p:cNvPr id="16" name="Cerrar llave 15">
            <a:extLst>
              <a:ext uri="{FF2B5EF4-FFF2-40B4-BE49-F238E27FC236}">
                <a16:creationId xmlns:a16="http://schemas.microsoft.com/office/drawing/2014/main" id="{A949649E-EE23-E5B6-A8E2-492F05A2AD04}"/>
              </a:ext>
            </a:extLst>
          </p:cNvPr>
          <p:cNvSpPr/>
          <p:nvPr/>
        </p:nvSpPr>
        <p:spPr>
          <a:xfrm>
            <a:off x="4566213" y="2397562"/>
            <a:ext cx="289367" cy="101365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7" name="Cerrar llave 16">
            <a:extLst>
              <a:ext uri="{FF2B5EF4-FFF2-40B4-BE49-F238E27FC236}">
                <a16:creationId xmlns:a16="http://schemas.microsoft.com/office/drawing/2014/main" id="{0BB130E9-C84E-9BFF-A9F8-E7D0747849ED}"/>
              </a:ext>
            </a:extLst>
          </p:cNvPr>
          <p:cNvSpPr/>
          <p:nvPr/>
        </p:nvSpPr>
        <p:spPr>
          <a:xfrm>
            <a:off x="5315585" y="3543102"/>
            <a:ext cx="289367" cy="101365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8" name="Cerrar llave 17">
            <a:extLst>
              <a:ext uri="{FF2B5EF4-FFF2-40B4-BE49-F238E27FC236}">
                <a16:creationId xmlns:a16="http://schemas.microsoft.com/office/drawing/2014/main" id="{326FDC6C-A120-684B-EB65-850664BEF8C2}"/>
              </a:ext>
            </a:extLst>
          </p:cNvPr>
          <p:cNvSpPr/>
          <p:nvPr/>
        </p:nvSpPr>
        <p:spPr>
          <a:xfrm>
            <a:off x="4612511" y="4888548"/>
            <a:ext cx="243069" cy="173795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9" name="Rectangle 2">
            <a:extLst>
              <a:ext uri="{FF2B5EF4-FFF2-40B4-BE49-F238E27FC236}">
                <a16:creationId xmlns:a16="http://schemas.microsoft.com/office/drawing/2014/main" id="{6A7DABF3-92DA-D1F1-92D6-8C2B06CB1D2D}"/>
              </a:ext>
            </a:extLst>
          </p:cNvPr>
          <p:cNvSpPr>
            <a:spLocks noChangeArrowheads="1"/>
          </p:cNvSpPr>
          <p:nvPr/>
        </p:nvSpPr>
        <p:spPr bwMode="auto">
          <a:xfrm>
            <a:off x="5154593" y="2597911"/>
            <a:ext cx="1562584"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err="1">
                <a:solidFill>
                  <a:srgbClr val="0070C0"/>
                </a:solidFill>
                <a:latin typeface="ADLaM Display" panose="02010000000000000000" pitchFamily="2" charset="0"/>
                <a:ea typeface="ADLaM Display" panose="02010000000000000000" pitchFamily="2" charset="0"/>
                <a:cs typeface="ADLaM Display" panose="02010000000000000000" pitchFamily="2" charset="0"/>
              </a:rPr>
              <a:t>test.h</a:t>
            </a:r>
            <a:endParaRPr lang="es-MX" altLang="es-MX" sz="32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20" name="Rectangle 2">
            <a:extLst>
              <a:ext uri="{FF2B5EF4-FFF2-40B4-BE49-F238E27FC236}">
                <a16:creationId xmlns:a16="http://schemas.microsoft.com/office/drawing/2014/main" id="{40AB2B18-564F-A025-ADEB-7A01FF7D9CD4}"/>
              </a:ext>
            </a:extLst>
          </p:cNvPr>
          <p:cNvSpPr>
            <a:spLocks noChangeArrowheads="1"/>
          </p:cNvSpPr>
          <p:nvPr/>
        </p:nvSpPr>
        <p:spPr bwMode="auto">
          <a:xfrm>
            <a:off x="5889585" y="3757543"/>
            <a:ext cx="1807580"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err="1">
                <a:solidFill>
                  <a:srgbClr val="0070C0"/>
                </a:solidFill>
                <a:latin typeface="ADLaM Display" panose="02010000000000000000" pitchFamily="2" charset="0"/>
                <a:ea typeface="ADLaM Display" panose="02010000000000000000" pitchFamily="2" charset="0"/>
                <a:cs typeface="ADLaM Display" panose="02010000000000000000" pitchFamily="2" charset="0"/>
              </a:rPr>
              <a:t>testA.h</a:t>
            </a:r>
            <a:endParaRPr lang="es-MX" altLang="es-MX" sz="32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21" name="Rectangle 2">
            <a:extLst>
              <a:ext uri="{FF2B5EF4-FFF2-40B4-BE49-F238E27FC236}">
                <a16:creationId xmlns:a16="http://schemas.microsoft.com/office/drawing/2014/main" id="{360D2BF4-A961-4999-AC29-86DE0079E1B7}"/>
              </a:ext>
            </a:extLst>
          </p:cNvPr>
          <p:cNvSpPr>
            <a:spLocks noChangeArrowheads="1"/>
          </p:cNvSpPr>
          <p:nvPr/>
        </p:nvSpPr>
        <p:spPr bwMode="auto">
          <a:xfrm>
            <a:off x="4986760" y="5414903"/>
            <a:ext cx="2982410"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err="1">
                <a:solidFill>
                  <a:srgbClr val="0070C0"/>
                </a:solidFill>
                <a:latin typeface="ADLaM Display" panose="02010000000000000000" pitchFamily="2" charset="0"/>
                <a:ea typeface="ADLaM Display" panose="02010000000000000000" pitchFamily="2" charset="0"/>
                <a:cs typeface="ADLaM Display" panose="02010000000000000000" pitchFamily="2" charset="0"/>
              </a:rPr>
              <a:t>headerTest.h</a:t>
            </a:r>
            <a:endParaRPr lang="es-MX" altLang="es-MX" sz="32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23" name="Imagen 22">
            <a:extLst>
              <a:ext uri="{FF2B5EF4-FFF2-40B4-BE49-F238E27FC236}">
                <a16:creationId xmlns:a16="http://schemas.microsoft.com/office/drawing/2014/main" id="{99332881-9E13-C1B3-B32F-31E7B2F10F0B}"/>
              </a:ext>
            </a:extLst>
          </p:cNvPr>
          <p:cNvPicPr>
            <a:picLocks noChangeAspect="1"/>
          </p:cNvPicPr>
          <p:nvPr/>
        </p:nvPicPr>
        <p:blipFill rotWithShape="1">
          <a:blip r:embed="rId4"/>
          <a:srcRect l="-4557" t="13418" r="67250" b="58565"/>
          <a:stretch/>
        </p:blipFill>
        <p:spPr>
          <a:xfrm>
            <a:off x="-387752" y="4778920"/>
            <a:ext cx="4548465" cy="1921351"/>
          </a:xfrm>
          <a:prstGeom prst="rect">
            <a:avLst/>
          </a:prstGeom>
        </p:spPr>
      </p:pic>
    </p:spTree>
    <p:extLst>
      <p:ext uri="{BB962C8B-B14F-4D97-AF65-F5344CB8AC3E}">
        <p14:creationId xmlns:p14="http://schemas.microsoft.com/office/powerpoint/2010/main" val="34608899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02001B8-7718-07D1-2046-3F451525A705}"/>
              </a:ext>
            </a:extLst>
          </p:cNvPr>
          <p:cNvPicPr>
            <a:picLocks noChangeAspect="1"/>
          </p:cNvPicPr>
          <p:nvPr/>
        </p:nvPicPr>
        <p:blipFill>
          <a:blip r:embed="rId2"/>
          <a:stretch>
            <a:fillRect/>
          </a:stretch>
        </p:blipFill>
        <p:spPr>
          <a:xfrm>
            <a:off x="0" y="209180"/>
            <a:ext cx="1392627" cy="1392627"/>
          </a:xfrm>
          <a:prstGeom prst="rect">
            <a:avLst/>
          </a:prstGeom>
        </p:spPr>
      </p:pic>
      <p:sp>
        <p:nvSpPr>
          <p:cNvPr id="5" name="CuadroTexto 4">
            <a:extLst>
              <a:ext uri="{FF2B5EF4-FFF2-40B4-BE49-F238E27FC236}">
                <a16:creationId xmlns:a16="http://schemas.microsoft.com/office/drawing/2014/main" id="{F76094C2-598F-7114-4C5E-A19F55328DAC}"/>
              </a:ext>
            </a:extLst>
          </p:cNvPr>
          <p:cNvSpPr txBox="1"/>
          <p:nvPr/>
        </p:nvSpPr>
        <p:spPr>
          <a:xfrm>
            <a:off x="2293620" y="39701"/>
            <a:ext cx="7028180" cy="1754326"/>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¿COMO LO SOLUCIONAMOS USANDO GUARDIAS DE INCLUSIÓN?</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Rectangle 2">
            <a:extLst>
              <a:ext uri="{FF2B5EF4-FFF2-40B4-BE49-F238E27FC236}">
                <a16:creationId xmlns:a16="http://schemas.microsoft.com/office/drawing/2014/main" id="{F32E5C74-465E-33C5-3F06-9613CB39AC4F}"/>
              </a:ext>
            </a:extLst>
          </p:cNvPr>
          <p:cNvSpPr>
            <a:spLocks noChangeArrowheads="1"/>
          </p:cNvSpPr>
          <p:nvPr/>
        </p:nvSpPr>
        <p:spPr bwMode="auto">
          <a:xfrm>
            <a:off x="474562" y="2578644"/>
            <a:ext cx="12149405" cy="255454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40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#ifndef </a:t>
            </a:r>
            <a:r>
              <a:rPr lang="es-MX" altLang="es-MX" sz="4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IDENTIFICADOR</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40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#define </a:t>
            </a:r>
            <a:r>
              <a:rPr lang="es-MX" altLang="es-MX" sz="4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IDENTIFICADOR</a:t>
            </a:r>
          </a:p>
          <a:p>
            <a:pPr marR="0" lvl="0" algn="l" defTabSz="914400" rtl="0" eaLnBrk="0" fontAlgn="base" latinLnBrk="0" hangingPunct="0">
              <a:lnSpc>
                <a:spcPct val="100000"/>
              </a:lnSpc>
              <a:spcBef>
                <a:spcPct val="0"/>
              </a:spcBef>
              <a:spcAft>
                <a:spcPct val="0"/>
              </a:spcAft>
              <a:buClrTx/>
              <a:buSzTx/>
              <a:tabLst/>
            </a:pPr>
            <a:r>
              <a:rPr lang="es-MX" altLang="es-MX" sz="4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	</a:t>
            </a:r>
            <a:r>
              <a:rPr lang="es-MX" altLang="es-MX" sz="4000" dirty="0">
                <a:solidFill>
                  <a:srgbClr val="7030A0"/>
                </a:solidFill>
                <a:latin typeface="ADLaM Display" panose="02010000000000000000" pitchFamily="2" charset="0"/>
                <a:ea typeface="ADLaM Display" panose="02010000000000000000" pitchFamily="2" charset="0"/>
                <a:cs typeface="ADLaM Display" panose="02010000000000000000" pitchFamily="2" charset="0"/>
              </a:rPr>
              <a:t>cuerpo del archivo…</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40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#endif</a:t>
            </a:r>
          </a:p>
        </p:txBody>
      </p:sp>
    </p:spTree>
    <p:extLst>
      <p:ext uri="{BB962C8B-B14F-4D97-AF65-F5344CB8AC3E}">
        <p14:creationId xmlns:p14="http://schemas.microsoft.com/office/powerpoint/2010/main" val="37569599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272486C-ACFB-850D-AA7F-8CF37C9CA38E}"/>
              </a:ext>
            </a:extLst>
          </p:cNvPr>
          <p:cNvPicPr>
            <a:picLocks noChangeAspect="1"/>
          </p:cNvPicPr>
          <p:nvPr/>
        </p:nvPicPr>
        <p:blipFill rotWithShape="1">
          <a:blip r:embed="rId2"/>
          <a:srcRect l="-2041" t="12236" r="65158" b="61772"/>
          <a:stretch/>
        </p:blipFill>
        <p:spPr>
          <a:xfrm>
            <a:off x="98384" y="434051"/>
            <a:ext cx="4496765" cy="1782501"/>
          </a:xfrm>
          <a:prstGeom prst="rect">
            <a:avLst/>
          </a:prstGeom>
        </p:spPr>
      </p:pic>
      <p:pic>
        <p:nvPicPr>
          <p:cNvPr id="7" name="Imagen 6">
            <a:extLst>
              <a:ext uri="{FF2B5EF4-FFF2-40B4-BE49-F238E27FC236}">
                <a16:creationId xmlns:a16="http://schemas.microsoft.com/office/drawing/2014/main" id="{F7A551F1-D284-BA88-8018-F7818F4CC9A6}"/>
              </a:ext>
            </a:extLst>
          </p:cNvPr>
          <p:cNvPicPr>
            <a:picLocks noChangeAspect="1"/>
          </p:cNvPicPr>
          <p:nvPr/>
        </p:nvPicPr>
        <p:blipFill rotWithShape="1">
          <a:blip r:embed="rId3"/>
          <a:srcRect l="-427" t="13080" r="58512" b="58059"/>
          <a:stretch/>
        </p:blipFill>
        <p:spPr>
          <a:xfrm>
            <a:off x="335665" y="2439364"/>
            <a:ext cx="5110223" cy="1979271"/>
          </a:xfrm>
          <a:prstGeom prst="rect">
            <a:avLst/>
          </a:prstGeom>
        </p:spPr>
      </p:pic>
      <p:pic>
        <p:nvPicPr>
          <p:cNvPr id="8" name="Imagen 7">
            <a:extLst>
              <a:ext uri="{FF2B5EF4-FFF2-40B4-BE49-F238E27FC236}">
                <a16:creationId xmlns:a16="http://schemas.microsoft.com/office/drawing/2014/main" id="{915E2064-29BF-ABF5-D20A-B3B0313994D7}"/>
              </a:ext>
            </a:extLst>
          </p:cNvPr>
          <p:cNvPicPr>
            <a:picLocks noChangeAspect="1"/>
          </p:cNvPicPr>
          <p:nvPr/>
        </p:nvPicPr>
        <p:blipFill rotWithShape="1">
          <a:blip r:embed="rId4"/>
          <a:srcRect l="-4557" t="13418" r="67250" b="58565"/>
          <a:stretch/>
        </p:blipFill>
        <p:spPr>
          <a:xfrm>
            <a:off x="-173620" y="4641447"/>
            <a:ext cx="4548465" cy="1921351"/>
          </a:xfrm>
          <a:prstGeom prst="rect">
            <a:avLst/>
          </a:prstGeom>
        </p:spPr>
      </p:pic>
      <p:sp>
        <p:nvSpPr>
          <p:cNvPr id="9" name="Cerrar llave 8">
            <a:extLst>
              <a:ext uri="{FF2B5EF4-FFF2-40B4-BE49-F238E27FC236}">
                <a16:creationId xmlns:a16="http://schemas.microsoft.com/office/drawing/2014/main" id="{CF0895AB-0D4B-EB84-5BF7-ECEDEBAF2706}"/>
              </a:ext>
            </a:extLst>
          </p:cNvPr>
          <p:cNvSpPr/>
          <p:nvPr/>
        </p:nvSpPr>
        <p:spPr>
          <a:xfrm>
            <a:off x="4768770" y="863917"/>
            <a:ext cx="289367" cy="101365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0" name="Cerrar llave 9">
            <a:extLst>
              <a:ext uri="{FF2B5EF4-FFF2-40B4-BE49-F238E27FC236}">
                <a16:creationId xmlns:a16="http://schemas.microsoft.com/office/drawing/2014/main" id="{EC68BCB5-F6E9-842C-23CB-78742D8B7CBF}"/>
              </a:ext>
            </a:extLst>
          </p:cNvPr>
          <p:cNvSpPr/>
          <p:nvPr/>
        </p:nvSpPr>
        <p:spPr>
          <a:xfrm>
            <a:off x="5479648" y="2439364"/>
            <a:ext cx="278758" cy="179697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1" name="Cerrar llave 10">
            <a:extLst>
              <a:ext uri="{FF2B5EF4-FFF2-40B4-BE49-F238E27FC236}">
                <a16:creationId xmlns:a16="http://schemas.microsoft.com/office/drawing/2014/main" id="{420F616C-6631-B2F9-DDBC-FEE8B4D4BB87}"/>
              </a:ext>
            </a:extLst>
          </p:cNvPr>
          <p:cNvSpPr/>
          <p:nvPr/>
        </p:nvSpPr>
        <p:spPr>
          <a:xfrm>
            <a:off x="4473614" y="4685991"/>
            <a:ext cx="243069" cy="173795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2" name="Rectangle 2">
            <a:extLst>
              <a:ext uri="{FF2B5EF4-FFF2-40B4-BE49-F238E27FC236}">
                <a16:creationId xmlns:a16="http://schemas.microsoft.com/office/drawing/2014/main" id="{54FE4CA4-02A9-EE49-7B5B-63842CCA6D65}"/>
              </a:ext>
            </a:extLst>
          </p:cNvPr>
          <p:cNvSpPr>
            <a:spLocks noChangeArrowheads="1"/>
          </p:cNvSpPr>
          <p:nvPr/>
        </p:nvSpPr>
        <p:spPr bwMode="auto">
          <a:xfrm>
            <a:off x="5357150" y="1064266"/>
            <a:ext cx="1562584"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err="1">
                <a:solidFill>
                  <a:srgbClr val="0070C0"/>
                </a:solidFill>
                <a:latin typeface="ADLaM Display" panose="02010000000000000000" pitchFamily="2" charset="0"/>
                <a:ea typeface="ADLaM Display" panose="02010000000000000000" pitchFamily="2" charset="0"/>
                <a:cs typeface="ADLaM Display" panose="02010000000000000000" pitchFamily="2" charset="0"/>
              </a:rPr>
              <a:t>test.h</a:t>
            </a:r>
            <a:endParaRPr lang="es-MX" altLang="es-MX" sz="32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Rectangle 2">
            <a:extLst>
              <a:ext uri="{FF2B5EF4-FFF2-40B4-BE49-F238E27FC236}">
                <a16:creationId xmlns:a16="http://schemas.microsoft.com/office/drawing/2014/main" id="{1379B909-168B-58F2-EBEA-7E5AAE1E888F}"/>
              </a:ext>
            </a:extLst>
          </p:cNvPr>
          <p:cNvSpPr>
            <a:spLocks noChangeArrowheads="1"/>
          </p:cNvSpPr>
          <p:nvPr/>
        </p:nvSpPr>
        <p:spPr bwMode="auto">
          <a:xfrm>
            <a:off x="5947458" y="2953103"/>
            <a:ext cx="1807580"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err="1">
                <a:solidFill>
                  <a:srgbClr val="0070C0"/>
                </a:solidFill>
                <a:latin typeface="ADLaM Display" panose="02010000000000000000" pitchFamily="2" charset="0"/>
                <a:ea typeface="ADLaM Display" panose="02010000000000000000" pitchFamily="2" charset="0"/>
                <a:cs typeface="ADLaM Display" panose="02010000000000000000" pitchFamily="2" charset="0"/>
              </a:rPr>
              <a:t>testA.h</a:t>
            </a:r>
            <a:endParaRPr lang="es-MX" altLang="es-MX" sz="32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4" name="Rectangle 2">
            <a:extLst>
              <a:ext uri="{FF2B5EF4-FFF2-40B4-BE49-F238E27FC236}">
                <a16:creationId xmlns:a16="http://schemas.microsoft.com/office/drawing/2014/main" id="{A79B6B66-8A3D-62C1-83FF-3DC2474B8437}"/>
              </a:ext>
            </a:extLst>
          </p:cNvPr>
          <p:cNvSpPr>
            <a:spLocks noChangeArrowheads="1"/>
          </p:cNvSpPr>
          <p:nvPr/>
        </p:nvSpPr>
        <p:spPr bwMode="auto">
          <a:xfrm>
            <a:off x="4815452" y="5208959"/>
            <a:ext cx="2982410"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err="1">
                <a:solidFill>
                  <a:srgbClr val="0070C0"/>
                </a:solidFill>
                <a:latin typeface="ADLaM Display" panose="02010000000000000000" pitchFamily="2" charset="0"/>
                <a:ea typeface="ADLaM Display" panose="02010000000000000000" pitchFamily="2" charset="0"/>
                <a:cs typeface="ADLaM Display" panose="02010000000000000000" pitchFamily="2" charset="0"/>
              </a:rPr>
              <a:t>headerTest.h</a:t>
            </a:r>
            <a:endParaRPr lang="es-MX" altLang="es-MX" sz="32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6" name="Imagen 15">
            <a:extLst>
              <a:ext uri="{FF2B5EF4-FFF2-40B4-BE49-F238E27FC236}">
                <a16:creationId xmlns:a16="http://schemas.microsoft.com/office/drawing/2014/main" id="{980AB92A-8EE5-B520-E12B-96CD9695230F}"/>
              </a:ext>
            </a:extLst>
          </p:cNvPr>
          <p:cNvPicPr>
            <a:picLocks noChangeAspect="1"/>
          </p:cNvPicPr>
          <p:nvPr/>
        </p:nvPicPr>
        <p:blipFill>
          <a:blip r:embed="rId5"/>
          <a:stretch>
            <a:fillRect/>
          </a:stretch>
        </p:blipFill>
        <p:spPr>
          <a:xfrm>
            <a:off x="7896631" y="3578387"/>
            <a:ext cx="3476265" cy="3476265"/>
          </a:xfrm>
          <a:prstGeom prst="rect">
            <a:avLst/>
          </a:prstGeom>
        </p:spPr>
      </p:pic>
    </p:spTree>
    <p:extLst>
      <p:ext uri="{BB962C8B-B14F-4D97-AF65-F5344CB8AC3E}">
        <p14:creationId xmlns:p14="http://schemas.microsoft.com/office/powerpoint/2010/main" val="37846372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B4097FD-DF9C-C5E1-29CA-C982A6DFC018}"/>
              </a:ext>
            </a:extLst>
          </p:cNvPr>
          <p:cNvPicPr>
            <a:picLocks noChangeAspect="1"/>
          </p:cNvPicPr>
          <p:nvPr/>
        </p:nvPicPr>
        <p:blipFill rotWithShape="1">
          <a:blip r:embed="rId2"/>
          <a:srcRect l="7262" t="15443" r="53244" b="33418"/>
          <a:stretch/>
        </p:blipFill>
        <p:spPr>
          <a:xfrm>
            <a:off x="202556" y="804442"/>
            <a:ext cx="8080734" cy="5885726"/>
          </a:xfrm>
          <a:prstGeom prst="rect">
            <a:avLst/>
          </a:prstGeom>
        </p:spPr>
      </p:pic>
      <p:sp>
        <p:nvSpPr>
          <p:cNvPr id="6" name="CuadroTexto 5">
            <a:extLst>
              <a:ext uri="{FF2B5EF4-FFF2-40B4-BE49-F238E27FC236}">
                <a16:creationId xmlns:a16="http://schemas.microsoft.com/office/drawing/2014/main" id="{F0E8FE5C-6089-4D01-2B96-3BA2649455CF}"/>
              </a:ext>
            </a:extLst>
          </p:cNvPr>
          <p:cNvSpPr txBox="1"/>
          <p:nvPr/>
        </p:nvSpPr>
        <p:spPr>
          <a:xfrm>
            <a:off x="2293620" y="39701"/>
            <a:ext cx="7028180" cy="646331"/>
          </a:xfrm>
          <a:prstGeom prst="rect">
            <a:avLst/>
          </a:prstGeom>
          <a:noFill/>
        </p:spPr>
        <p:txBody>
          <a:bodyPr wrap="square">
            <a:spAutoFit/>
          </a:bodyPr>
          <a:lstStyle/>
          <a:p>
            <a:pPr algn="ctr"/>
            <a:r>
              <a:rPr lang="es-MX" sz="3600" b="1" dirty="0" err="1">
                <a:latin typeface="ADLaM Display" panose="02010000000000000000" pitchFamily="2" charset="0"/>
                <a:ea typeface="ADLaM Display" panose="02010000000000000000" pitchFamily="2" charset="0"/>
                <a:cs typeface="ADLaM Display" panose="02010000000000000000" pitchFamily="2" charset="0"/>
              </a:rPr>
              <a:t>personType.h</a:t>
            </a:r>
            <a:endParaRPr lang="es-MX" sz="20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4831725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0110AA7-BA5A-24D4-7B92-072E4A87AD86}"/>
              </a:ext>
            </a:extLst>
          </p:cNvPr>
          <p:cNvPicPr>
            <a:picLocks noChangeAspect="1"/>
          </p:cNvPicPr>
          <p:nvPr/>
        </p:nvPicPr>
        <p:blipFill rotWithShape="1">
          <a:blip r:embed="rId2"/>
          <a:srcRect l="8782" t="15359" r="17643" b="29873"/>
          <a:stretch/>
        </p:blipFill>
        <p:spPr>
          <a:xfrm>
            <a:off x="0" y="1498922"/>
            <a:ext cx="11181876" cy="4681960"/>
          </a:xfrm>
          <a:prstGeom prst="rect">
            <a:avLst/>
          </a:prstGeom>
        </p:spPr>
      </p:pic>
      <p:sp>
        <p:nvSpPr>
          <p:cNvPr id="6" name="CuadroTexto 5">
            <a:extLst>
              <a:ext uri="{FF2B5EF4-FFF2-40B4-BE49-F238E27FC236}">
                <a16:creationId xmlns:a16="http://schemas.microsoft.com/office/drawing/2014/main" id="{04C24D78-F481-497F-504B-63FF60D4235B}"/>
              </a:ext>
            </a:extLst>
          </p:cNvPr>
          <p:cNvSpPr txBox="1"/>
          <p:nvPr/>
        </p:nvSpPr>
        <p:spPr>
          <a:xfrm>
            <a:off x="2293620" y="39701"/>
            <a:ext cx="7028180" cy="646331"/>
          </a:xfrm>
          <a:prstGeom prst="rect">
            <a:avLst/>
          </a:prstGeom>
          <a:noFill/>
        </p:spPr>
        <p:txBody>
          <a:bodyPr wrap="square">
            <a:spAutoFit/>
          </a:bodyPr>
          <a:lstStyle/>
          <a:p>
            <a:pPr algn="ctr"/>
            <a:r>
              <a:rPr lang="es-MX" sz="3600" b="1" dirty="0" err="1">
                <a:latin typeface="ADLaM Display" panose="02010000000000000000" pitchFamily="2" charset="0"/>
                <a:ea typeface="ADLaM Display" panose="02010000000000000000" pitchFamily="2" charset="0"/>
                <a:cs typeface="ADLaM Display" panose="02010000000000000000" pitchFamily="2" charset="0"/>
              </a:rPr>
              <a:t>partTimeEmployee.h</a:t>
            </a:r>
            <a:endParaRPr lang="es-MX" sz="20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4167934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1D1B485-B5E5-D2BC-0FF6-40F699CFB031}"/>
              </a:ext>
            </a:extLst>
          </p:cNvPr>
          <p:cNvPicPr>
            <a:picLocks noChangeAspect="1"/>
          </p:cNvPicPr>
          <p:nvPr/>
        </p:nvPicPr>
        <p:blipFill rotWithShape="1">
          <a:blip r:embed="rId2"/>
          <a:srcRect l="4367" t="15021" r="70760" b="32743"/>
          <a:stretch/>
        </p:blipFill>
        <p:spPr>
          <a:xfrm>
            <a:off x="179406" y="902824"/>
            <a:ext cx="4809281" cy="5681192"/>
          </a:xfrm>
          <a:prstGeom prst="rect">
            <a:avLst/>
          </a:prstGeom>
        </p:spPr>
      </p:pic>
      <p:sp>
        <p:nvSpPr>
          <p:cNvPr id="8" name="CuadroTexto 7">
            <a:extLst>
              <a:ext uri="{FF2B5EF4-FFF2-40B4-BE49-F238E27FC236}">
                <a16:creationId xmlns:a16="http://schemas.microsoft.com/office/drawing/2014/main" id="{15EECCB0-62D8-52FA-C0E8-A0386053409A}"/>
              </a:ext>
            </a:extLst>
          </p:cNvPr>
          <p:cNvSpPr txBox="1"/>
          <p:nvPr/>
        </p:nvSpPr>
        <p:spPr>
          <a:xfrm>
            <a:off x="2293620" y="39701"/>
            <a:ext cx="7028180" cy="646331"/>
          </a:xfrm>
          <a:prstGeom prst="rect">
            <a:avLst/>
          </a:prstGeom>
          <a:noFill/>
        </p:spPr>
        <p:txBody>
          <a:bodyPr wrap="square">
            <a:spAutoFit/>
          </a:bodyPr>
          <a:lstStyle/>
          <a:p>
            <a:pPr algn="ctr"/>
            <a:r>
              <a:rPr lang="es-MX" sz="3600" b="1" dirty="0">
                <a:latin typeface="ADLaM Display" panose="02010000000000000000" pitchFamily="2" charset="0"/>
                <a:ea typeface="ADLaM Display" panose="02010000000000000000" pitchFamily="2" charset="0"/>
                <a:cs typeface="ADLaM Display" panose="02010000000000000000" pitchFamily="2" charset="0"/>
              </a:rPr>
              <a:t>personType_definitions.cpp</a:t>
            </a:r>
            <a:endParaRPr lang="es-MX" sz="20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7281050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F47AC48-3F8C-6C31-6A36-B17499F99CC1}"/>
              </a:ext>
            </a:extLst>
          </p:cNvPr>
          <p:cNvPicPr>
            <a:picLocks noChangeAspect="1"/>
          </p:cNvPicPr>
          <p:nvPr/>
        </p:nvPicPr>
        <p:blipFill rotWithShape="1">
          <a:blip r:embed="rId2"/>
          <a:srcRect l="4747" t="15274" r="53956" b="42701"/>
          <a:stretch/>
        </p:blipFill>
        <p:spPr>
          <a:xfrm>
            <a:off x="260429" y="908614"/>
            <a:ext cx="9938539" cy="5688956"/>
          </a:xfrm>
          <a:prstGeom prst="rect">
            <a:avLst/>
          </a:prstGeom>
        </p:spPr>
      </p:pic>
      <p:sp>
        <p:nvSpPr>
          <p:cNvPr id="5" name="CuadroTexto 4">
            <a:extLst>
              <a:ext uri="{FF2B5EF4-FFF2-40B4-BE49-F238E27FC236}">
                <a16:creationId xmlns:a16="http://schemas.microsoft.com/office/drawing/2014/main" id="{E6AD09AA-FF0C-97B2-4169-7B84A0004A1B}"/>
              </a:ext>
            </a:extLst>
          </p:cNvPr>
          <p:cNvSpPr txBox="1"/>
          <p:nvPr/>
        </p:nvSpPr>
        <p:spPr>
          <a:xfrm>
            <a:off x="2293620" y="39701"/>
            <a:ext cx="7816866" cy="646331"/>
          </a:xfrm>
          <a:prstGeom prst="rect">
            <a:avLst/>
          </a:prstGeom>
          <a:noFill/>
        </p:spPr>
        <p:txBody>
          <a:bodyPr wrap="square">
            <a:spAutoFit/>
          </a:bodyPr>
          <a:lstStyle/>
          <a:p>
            <a:pPr algn="ctr"/>
            <a:r>
              <a:rPr lang="es-MX" sz="3600" b="1" dirty="0">
                <a:latin typeface="ADLaM Display" panose="02010000000000000000" pitchFamily="2" charset="0"/>
                <a:ea typeface="ADLaM Display" panose="02010000000000000000" pitchFamily="2" charset="0"/>
                <a:cs typeface="ADLaM Display" panose="02010000000000000000" pitchFamily="2" charset="0"/>
              </a:rPr>
              <a:t>partTimeEmployee_definitions.cpp</a:t>
            </a:r>
            <a:endParaRPr lang="es-MX" sz="20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5794791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83391E1-F29F-7B3E-BF5F-B2F8C070EE69}"/>
              </a:ext>
            </a:extLst>
          </p:cNvPr>
          <p:cNvPicPr>
            <a:picLocks noChangeAspect="1"/>
          </p:cNvPicPr>
          <p:nvPr/>
        </p:nvPicPr>
        <p:blipFill rotWithShape="1">
          <a:blip r:embed="rId2"/>
          <a:srcRect l="8497" t="15106" r="22627" b="58227"/>
          <a:stretch/>
        </p:blipFill>
        <p:spPr>
          <a:xfrm>
            <a:off x="0" y="954911"/>
            <a:ext cx="10815681" cy="2355448"/>
          </a:xfrm>
          <a:prstGeom prst="rect">
            <a:avLst/>
          </a:prstGeom>
        </p:spPr>
      </p:pic>
      <p:sp>
        <p:nvSpPr>
          <p:cNvPr id="6" name="CuadroTexto 5">
            <a:extLst>
              <a:ext uri="{FF2B5EF4-FFF2-40B4-BE49-F238E27FC236}">
                <a16:creationId xmlns:a16="http://schemas.microsoft.com/office/drawing/2014/main" id="{41333CEF-B77F-AFBD-4D08-87933BA75C5F}"/>
              </a:ext>
            </a:extLst>
          </p:cNvPr>
          <p:cNvSpPr txBox="1"/>
          <p:nvPr/>
        </p:nvSpPr>
        <p:spPr>
          <a:xfrm>
            <a:off x="2293620" y="39701"/>
            <a:ext cx="7028180" cy="646331"/>
          </a:xfrm>
          <a:prstGeom prst="rect">
            <a:avLst/>
          </a:prstGeom>
          <a:noFill/>
        </p:spPr>
        <p:txBody>
          <a:bodyPr wrap="square">
            <a:spAutoFit/>
          </a:bodyPr>
          <a:lstStyle/>
          <a:p>
            <a:pPr algn="ctr"/>
            <a:r>
              <a:rPr lang="es-MX" sz="3600" b="1" dirty="0">
                <a:latin typeface="ADLaM Display" panose="02010000000000000000" pitchFamily="2" charset="0"/>
                <a:ea typeface="ADLaM Display" panose="02010000000000000000" pitchFamily="2" charset="0"/>
                <a:cs typeface="ADLaM Display" panose="02010000000000000000" pitchFamily="2" charset="0"/>
              </a:rPr>
              <a:t>main.cpp</a:t>
            </a:r>
            <a:endParaRPr lang="es-MX" sz="20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1098948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8062F1E-A40A-3AF2-7245-40094642E618}"/>
              </a:ext>
            </a:extLst>
          </p:cNvPr>
          <p:cNvSpPr txBox="1"/>
          <p:nvPr/>
        </p:nvSpPr>
        <p:spPr>
          <a:xfrm>
            <a:off x="2293620" y="39701"/>
            <a:ext cx="7028180" cy="461665"/>
          </a:xfrm>
          <a:prstGeom prst="rect">
            <a:avLst/>
          </a:prstGeom>
          <a:noFill/>
        </p:spPr>
        <p:txBody>
          <a:bodyPr wrap="square">
            <a:spAutoFit/>
          </a:bodyPr>
          <a:lstStyle/>
          <a:p>
            <a:pPr algn="ctr"/>
            <a:r>
              <a:rPr lang="es-MX" sz="24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RAZONES CLAVE PARA ESTA CONVENCION</a:t>
            </a:r>
          </a:p>
        </p:txBody>
      </p:sp>
      <p:sp>
        <p:nvSpPr>
          <p:cNvPr id="8" name="Rectangle 2">
            <a:extLst>
              <a:ext uri="{FF2B5EF4-FFF2-40B4-BE49-F238E27FC236}">
                <a16:creationId xmlns:a16="http://schemas.microsoft.com/office/drawing/2014/main" id="{798BFA48-C463-2971-58FD-22B8C1C6F262}"/>
              </a:ext>
            </a:extLst>
          </p:cNvPr>
          <p:cNvSpPr>
            <a:spLocks noChangeArrowheads="1"/>
          </p:cNvSpPr>
          <p:nvPr/>
        </p:nvSpPr>
        <p:spPr bwMode="auto">
          <a:xfrm>
            <a:off x="225707" y="501366"/>
            <a:ext cx="10472195" cy="5386605"/>
          </a:xfrm>
          <a:prstGeom prst="rect">
            <a:avLst/>
          </a:prstGeom>
          <a:noFill/>
          <a:ln>
            <a:noFill/>
          </a:ln>
          <a:effec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latin typeface="ADLaM Display" panose="02010000000000000000" pitchFamily="2" charset="0"/>
              <a:ea typeface="ADLaM Display" panose="02010000000000000000" pitchFamily="2" charset="0"/>
              <a:cs typeface="ADLaM Display" panose="0201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Separación de Interfaz e Implementación:</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El archivo de encabezado (.h) contiene las declaraciones de clases, funciones y variables, proporcionando la interfaz pública que otros archivos pueden usar.</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El archivo de implementación (.</a:t>
            </a:r>
            <a:r>
              <a:rPr lang="es-MX" altLang="es-MX" dirty="0" err="1">
                <a:latin typeface="ADLaM Display" panose="02010000000000000000" pitchFamily="2" charset="0"/>
                <a:ea typeface="ADLaM Display" panose="02010000000000000000" pitchFamily="2" charset="0"/>
                <a:cs typeface="ADLaM Display" panose="02010000000000000000" pitchFamily="2" charset="0"/>
              </a:rPr>
              <a:t>cpp</a:t>
            </a:r>
            <a:r>
              <a:rPr lang="es-MX" altLang="es-MX" dirty="0">
                <a:latin typeface="ADLaM Display" panose="02010000000000000000" pitchFamily="2" charset="0"/>
                <a:ea typeface="ADLaM Display" panose="02010000000000000000" pitchFamily="2" charset="0"/>
                <a:cs typeface="ADLaM Display" panose="02010000000000000000" pitchFamily="2" charset="0"/>
              </a:rPr>
              <a:t>) contiene las definiciones de las funciones y variables, manteniendo los detalles de implementación ocultos a los usuarios de la interfaz.</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Facilita la Modularidad:</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Esta convención facilita la creación de módulos independientes que se pueden reutilizar en diferentes partes de un proyecto o incluso en diferentes proyectos.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Separación en el Proceso de Compilación:</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Durante el proceso de compilación, los archivos de encabezado se incluyen en los archivos fuente para proporcionar declaraciones necesarias, pero no se compilan directamente.</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Los archivos de implementación se compilan por separado.</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Mejora la Legibilidad:</a:t>
            </a:r>
          </a:p>
          <a:p>
            <a:pPr marL="457200" marR="0" lvl="1" indent="0" algn="l" defTabSz="914400" rtl="0" eaLnBrk="0" fontAlgn="base" latinLnBrk="0" hangingPunct="0">
              <a:lnSpc>
                <a:spcPct val="100000"/>
              </a:lnSpc>
              <a:spcBef>
                <a:spcPct val="0"/>
              </a:spcBef>
              <a:spcAft>
                <a:spcPct val="0"/>
              </a:spcAft>
              <a:buClrTx/>
              <a:buSzTx/>
              <a:buFontTx/>
              <a:buChar char="•"/>
              <a:tabLst/>
            </a:pPr>
            <a:r>
              <a:rPr lang="es-MX" altLang="es-MX" dirty="0">
                <a:latin typeface="ADLaM Display" panose="02010000000000000000" pitchFamily="2" charset="0"/>
                <a:ea typeface="ADLaM Display" panose="02010000000000000000" pitchFamily="2" charset="0"/>
                <a:cs typeface="ADLaM Display" panose="02010000000000000000" pitchFamily="2" charset="0"/>
              </a:rPr>
              <a:t>Al seguir esta convención, cuando alguien revisa tu código, puede identificar rápidamente los archivos de encabezado y los archivos de implementación. Esto mejora la legibilidad y facilita el mantenimiento.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71636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1CF0AAD-309C-B6A3-5C24-ECCD30CCA56A}"/>
              </a:ext>
            </a:extLst>
          </p:cNvPr>
          <p:cNvSpPr txBox="1"/>
          <p:nvPr/>
        </p:nvSpPr>
        <p:spPr>
          <a:xfrm>
            <a:off x="2293620" y="39701"/>
            <a:ext cx="6104466" cy="523220"/>
          </a:xfrm>
          <a:prstGeom prst="rect">
            <a:avLst/>
          </a:prstGeom>
          <a:noFill/>
        </p:spPr>
        <p:txBody>
          <a:bodyPr wrap="square">
            <a:spAutoFit/>
          </a:bodyPr>
          <a:lstStyle/>
          <a:p>
            <a:pPr algn="ctr"/>
            <a:r>
              <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COMPOSICION</a:t>
            </a:r>
          </a:p>
        </p:txBody>
      </p:sp>
      <p:sp>
        <p:nvSpPr>
          <p:cNvPr id="6" name="CuadroTexto 5">
            <a:extLst>
              <a:ext uri="{FF2B5EF4-FFF2-40B4-BE49-F238E27FC236}">
                <a16:creationId xmlns:a16="http://schemas.microsoft.com/office/drawing/2014/main" id="{5CEF39DC-8553-C8A3-EDAE-6F047B2AB1F1}"/>
              </a:ext>
            </a:extLst>
          </p:cNvPr>
          <p:cNvSpPr txBox="1"/>
          <p:nvPr/>
        </p:nvSpPr>
        <p:spPr>
          <a:xfrm>
            <a:off x="359833" y="724870"/>
            <a:ext cx="10621434" cy="1815882"/>
          </a:xfrm>
          <a:prstGeom prst="rect">
            <a:avLst/>
          </a:prstGeom>
          <a:noFill/>
        </p:spPr>
        <p:txBody>
          <a:bodyPr wrap="square">
            <a:spAutoFit/>
          </a:bodyPr>
          <a:lstStyle/>
          <a:p>
            <a:pPr algn="ctr"/>
            <a:r>
              <a:rPr lang="es-MX" sz="2800" dirty="0">
                <a:latin typeface="ADLaM Display" panose="02010000000000000000" pitchFamily="2" charset="0"/>
                <a:ea typeface="ADLaM Display" panose="02010000000000000000" pitchFamily="2" charset="0"/>
                <a:cs typeface="ADLaM Display" panose="02010000000000000000" pitchFamily="2" charset="0"/>
              </a:rPr>
              <a:t>L</a:t>
            </a:r>
            <a:r>
              <a:rPr lang="es-MX" sz="2800" b="0" i="0" dirty="0">
                <a:effectLst/>
                <a:latin typeface="ADLaM Display" panose="02010000000000000000" pitchFamily="2" charset="0"/>
                <a:ea typeface="ADLaM Display" panose="02010000000000000000" pitchFamily="2" charset="0"/>
                <a:cs typeface="ADLaM Display" panose="02010000000000000000" pitchFamily="2" charset="0"/>
              </a:rPr>
              <a:t>a creación de objetos más complejos mediante la combinación de otros objetos más simples. Es una forma de construir relaciones entre clases de manera que un objeto esté compuesto por otros objetos.</a:t>
            </a:r>
            <a:endParaRPr lang="es-MX" sz="28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026" name="Picture 2" descr="47,166 imágenes, fotos de stock, objetos en 3D y vectores sobre Cpu parts |  Shutterstock">
            <a:extLst>
              <a:ext uri="{FF2B5EF4-FFF2-40B4-BE49-F238E27FC236}">
                <a16:creationId xmlns:a16="http://schemas.microsoft.com/office/drawing/2014/main" id="{6700A442-6263-91BE-F576-9B11C13FC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76" y="2814783"/>
            <a:ext cx="10239348" cy="3208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2546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89AE6DA-A080-475C-BE02-EF343FBA6E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13" name="Rectangle 12">
            <a:extLst>
              <a:ext uri="{FF2B5EF4-FFF2-40B4-BE49-F238E27FC236}">
                <a16:creationId xmlns:a16="http://schemas.microsoft.com/office/drawing/2014/main" id="{8B01281A-259A-4358-8C1E-FBE6C0A82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15" name="Rectangle 14">
            <a:extLst>
              <a:ext uri="{FF2B5EF4-FFF2-40B4-BE49-F238E27FC236}">
                <a16:creationId xmlns:a16="http://schemas.microsoft.com/office/drawing/2014/main" id="{A3AFD133-2654-4DC8-BD97-69582DD4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4B24DE3-866A-211B-C703-C7A1F6CFA43E}"/>
              </a:ext>
            </a:extLst>
          </p:cNvPr>
          <p:cNvPicPr>
            <a:picLocks noChangeAspect="1"/>
          </p:cNvPicPr>
          <p:nvPr/>
        </p:nvPicPr>
        <p:blipFill>
          <a:blip r:embed="rId2"/>
          <a:stretch>
            <a:fillRect/>
          </a:stretch>
        </p:blipFill>
        <p:spPr>
          <a:xfrm>
            <a:off x="914400" y="1620765"/>
            <a:ext cx="4452619" cy="4827204"/>
          </a:xfrm>
          <a:prstGeom prst="rect">
            <a:avLst/>
          </a:prstGeom>
        </p:spPr>
      </p:pic>
      <p:pic>
        <p:nvPicPr>
          <p:cNvPr id="6" name="Imagen 5">
            <a:extLst>
              <a:ext uri="{FF2B5EF4-FFF2-40B4-BE49-F238E27FC236}">
                <a16:creationId xmlns:a16="http://schemas.microsoft.com/office/drawing/2014/main" id="{ED3A521D-D5C9-35FE-439B-B8299680829A}"/>
              </a:ext>
            </a:extLst>
          </p:cNvPr>
          <p:cNvPicPr>
            <a:picLocks noChangeAspect="1"/>
          </p:cNvPicPr>
          <p:nvPr/>
        </p:nvPicPr>
        <p:blipFill>
          <a:blip r:embed="rId3"/>
          <a:stretch>
            <a:fillRect/>
          </a:stretch>
        </p:blipFill>
        <p:spPr>
          <a:xfrm>
            <a:off x="5680286" y="1620765"/>
            <a:ext cx="4452619" cy="4410213"/>
          </a:xfrm>
          <a:prstGeom prst="rect">
            <a:avLst/>
          </a:prstGeom>
        </p:spPr>
      </p:pic>
      <p:pic>
        <p:nvPicPr>
          <p:cNvPr id="2050" name="Picture 2" descr="La Historieta Observa Diseño Del Icono Del Símbolo Del Vector Ilustración  del Vector - Ilustración de fondo, objeto: 91719523">
            <a:extLst>
              <a:ext uri="{FF2B5EF4-FFF2-40B4-BE49-F238E27FC236}">
                <a16:creationId xmlns:a16="http://schemas.microsoft.com/office/drawing/2014/main" id="{CA67B25A-BB19-7C91-BD95-7B5E314F9CC9}"/>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34188" y1="13460" x2="34188" y2="13460"/>
                        <a14:foregroundMark x1="65500" y1="20913" x2="65500" y2="20913"/>
                        <a14:foregroundMark x1="39438" y1="58175" x2="39438" y2="58175"/>
                      </a14:backgroundRemoval>
                    </a14:imgEffect>
                  </a14:imgLayer>
                </a14:imgProps>
              </a:ext>
              <a:ext uri="{28A0092B-C50C-407E-A947-70E740481C1C}">
                <a14:useLocalDpi xmlns:a14="http://schemas.microsoft.com/office/drawing/2010/main" val="0"/>
              </a:ext>
            </a:extLst>
          </a:blip>
          <a:srcRect l="13419" t="7407" r="10528" b="14136"/>
          <a:stretch/>
        </p:blipFill>
        <p:spPr bwMode="auto">
          <a:xfrm>
            <a:off x="643552" y="97367"/>
            <a:ext cx="973583" cy="82550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FBB7BE24-953E-287A-1F32-E898AA837A86}"/>
              </a:ext>
            </a:extLst>
          </p:cNvPr>
          <p:cNvSpPr txBox="1"/>
          <p:nvPr/>
        </p:nvSpPr>
        <p:spPr>
          <a:xfrm>
            <a:off x="2293620" y="39701"/>
            <a:ext cx="6104466" cy="769441"/>
          </a:xfrm>
          <a:prstGeom prst="rect">
            <a:avLst/>
          </a:prstGeom>
          <a:noFill/>
        </p:spPr>
        <p:txBody>
          <a:bodyPr wrap="square">
            <a:spAutoFit/>
          </a:bodyPr>
          <a:lstStyle/>
          <a:p>
            <a:pPr algn="ctr"/>
            <a:r>
              <a:rPr lang="es-MX" sz="44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EJERCICIO</a:t>
            </a:r>
            <a:endParaRPr lang="es-MX" sz="28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5686167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F60DC3C-E7EF-8973-69BF-E64100EF30B9}"/>
              </a:ext>
            </a:extLst>
          </p:cNvPr>
          <p:cNvPicPr>
            <a:picLocks noChangeAspect="1"/>
          </p:cNvPicPr>
          <p:nvPr/>
        </p:nvPicPr>
        <p:blipFill>
          <a:blip r:embed="rId2"/>
          <a:stretch>
            <a:fillRect/>
          </a:stretch>
        </p:blipFill>
        <p:spPr>
          <a:xfrm>
            <a:off x="1421129" y="1003088"/>
            <a:ext cx="8747337" cy="5567083"/>
          </a:xfrm>
          <a:prstGeom prst="rect">
            <a:avLst/>
          </a:prstGeom>
        </p:spPr>
      </p:pic>
    </p:spTree>
    <p:extLst>
      <p:ext uri="{BB962C8B-B14F-4D97-AF65-F5344CB8AC3E}">
        <p14:creationId xmlns:p14="http://schemas.microsoft.com/office/powerpoint/2010/main" val="14744063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3BFA768-75E5-AA0B-E81F-2D16C13A0CE7}"/>
              </a:ext>
            </a:extLst>
          </p:cNvPr>
          <p:cNvPicPr>
            <a:picLocks noChangeAspect="1"/>
          </p:cNvPicPr>
          <p:nvPr/>
        </p:nvPicPr>
        <p:blipFill rotWithShape="1">
          <a:blip r:embed="rId2"/>
          <a:srcRect l="8560" t="15290" r="31848" b="36812"/>
          <a:stretch/>
        </p:blipFill>
        <p:spPr>
          <a:xfrm>
            <a:off x="95342" y="1209445"/>
            <a:ext cx="11032805" cy="4988156"/>
          </a:xfrm>
          <a:prstGeom prst="rect">
            <a:avLst/>
          </a:prstGeom>
        </p:spPr>
      </p:pic>
      <p:sp>
        <p:nvSpPr>
          <p:cNvPr id="6" name="CuadroTexto 5">
            <a:extLst>
              <a:ext uri="{FF2B5EF4-FFF2-40B4-BE49-F238E27FC236}">
                <a16:creationId xmlns:a16="http://schemas.microsoft.com/office/drawing/2014/main" id="{36706F24-F77F-9A90-5AC9-C9064FC4D982}"/>
              </a:ext>
            </a:extLst>
          </p:cNvPr>
          <p:cNvSpPr txBox="1"/>
          <p:nvPr/>
        </p:nvSpPr>
        <p:spPr>
          <a:xfrm>
            <a:off x="2293620" y="39701"/>
            <a:ext cx="7028180" cy="1200329"/>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DECLARACION DE CLASE </a:t>
            </a:r>
            <a:r>
              <a:rPr lang="es-MX" sz="3600" b="1" dirty="0" err="1">
                <a:solidFill>
                  <a:srgbClr val="00B0F0"/>
                </a:solidFill>
                <a:latin typeface="ADLaM Display" panose="02010000000000000000" pitchFamily="2" charset="0"/>
                <a:ea typeface="ADLaM Display" panose="02010000000000000000" pitchFamily="2" charset="0"/>
                <a:cs typeface="ADLaM Display" panose="02010000000000000000" pitchFamily="2" charset="0"/>
              </a:rPr>
              <a:t>dateType</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42491604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0F2FA60-B5CB-DA4F-AE99-B987AC41BEE9}"/>
              </a:ext>
            </a:extLst>
          </p:cNvPr>
          <p:cNvPicPr>
            <a:picLocks noChangeAspect="1"/>
          </p:cNvPicPr>
          <p:nvPr/>
        </p:nvPicPr>
        <p:blipFill rotWithShape="1">
          <a:blip r:embed="rId2"/>
          <a:srcRect l="7663" t="17391" r="44932" b="30652"/>
          <a:stretch/>
        </p:blipFill>
        <p:spPr>
          <a:xfrm>
            <a:off x="303511" y="705861"/>
            <a:ext cx="9429663" cy="5813472"/>
          </a:xfrm>
          <a:prstGeom prst="rect">
            <a:avLst/>
          </a:prstGeom>
        </p:spPr>
      </p:pic>
      <p:sp>
        <p:nvSpPr>
          <p:cNvPr id="6" name="CuadroTexto 5">
            <a:extLst>
              <a:ext uri="{FF2B5EF4-FFF2-40B4-BE49-F238E27FC236}">
                <a16:creationId xmlns:a16="http://schemas.microsoft.com/office/drawing/2014/main" id="{8FB20D32-45D9-DCBE-C073-69D8460953BE}"/>
              </a:ext>
            </a:extLst>
          </p:cNvPr>
          <p:cNvSpPr txBox="1"/>
          <p:nvPr/>
        </p:nvSpPr>
        <p:spPr>
          <a:xfrm>
            <a:off x="2293620" y="39701"/>
            <a:ext cx="7028180" cy="646331"/>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DEFINICION DE METODOS</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824779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3D45C6B-2043-7C47-26A9-729C8EDFD27B}"/>
              </a:ext>
            </a:extLst>
          </p:cNvPr>
          <p:cNvPicPr>
            <a:picLocks noChangeAspect="1"/>
          </p:cNvPicPr>
          <p:nvPr/>
        </p:nvPicPr>
        <p:blipFill rotWithShape="1">
          <a:blip r:embed="rId2"/>
          <a:srcRect l="8193" t="20217" r="46644" b="33189"/>
          <a:stretch/>
        </p:blipFill>
        <p:spPr>
          <a:xfrm>
            <a:off x="495115" y="472384"/>
            <a:ext cx="10189517" cy="5913231"/>
          </a:xfrm>
          <a:prstGeom prst="rect">
            <a:avLst/>
          </a:prstGeom>
        </p:spPr>
      </p:pic>
    </p:spTree>
    <p:extLst>
      <p:ext uri="{BB962C8B-B14F-4D97-AF65-F5344CB8AC3E}">
        <p14:creationId xmlns:p14="http://schemas.microsoft.com/office/powerpoint/2010/main" val="26114822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924EEEB-7A1E-0A74-BF66-DCB43148AF83}"/>
              </a:ext>
            </a:extLst>
          </p:cNvPr>
          <p:cNvSpPr txBox="1"/>
          <p:nvPr/>
        </p:nvSpPr>
        <p:spPr>
          <a:xfrm>
            <a:off x="2293620" y="39701"/>
            <a:ext cx="7028180" cy="1200329"/>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DECLARACION DE CLASE </a:t>
            </a:r>
            <a:r>
              <a:rPr lang="es-MX" sz="3600" b="1" dirty="0" err="1">
                <a:solidFill>
                  <a:srgbClr val="00B0F0"/>
                </a:solidFill>
                <a:latin typeface="ADLaM Display" panose="02010000000000000000" pitchFamily="2" charset="0"/>
                <a:ea typeface="ADLaM Display" panose="02010000000000000000" pitchFamily="2" charset="0"/>
                <a:cs typeface="ADLaM Display" panose="02010000000000000000" pitchFamily="2" charset="0"/>
              </a:rPr>
              <a:t>personalInfType</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0" name="Imagen 9">
            <a:extLst>
              <a:ext uri="{FF2B5EF4-FFF2-40B4-BE49-F238E27FC236}">
                <a16:creationId xmlns:a16="http://schemas.microsoft.com/office/drawing/2014/main" id="{56C82923-8C51-BE02-E08F-AA8F9E757A1A}"/>
              </a:ext>
            </a:extLst>
          </p:cNvPr>
          <p:cNvPicPr>
            <a:picLocks noChangeAspect="1"/>
          </p:cNvPicPr>
          <p:nvPr/>
        </p:nvPicPr>
        <p:blipFill rotWithShape="1">
          <a:blip r:embed="rId2"/>
          <a:srcRect l="8274" t="20362" r="18195" b="37346"/>
          <a:stretch/>
        </p:blipFill>
        <p:spPr>
          <a:xfrm>
            <a:off x="43622" y="1895981"/>
            <a:ext cx="10940744" cy="3539619"/>
          </a:xfrm>
          <a:prstGeom prst="rect">
            <a:avLst/>
          </a:prstGeom>
        </p:spPr>
      </p:pic>
    </p:spTree>
    <p:extLst>
      <p:ext uri="{BB962C8B-B14F-4D97-AF65-F5344CB8AC3E}">
        <p14:creationId xmlns:p14="http://schemas.microsoft.com/office/powerpoint/2010/main" val="10390890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99FBDDF-AE03-5FBD-59B9-18C815ADDA49}"/>
              </a:ext>
            </a:extLst>
          </p:cNvPr>
          <p:cNvSpPr txBox="1"/>
          <p:nvPr/>
        </p:nvSpPr>
        <p:spPr>
          <a:xfrm>
            <a:off x="2293620" y="39701"/>
            <a:ext cx="7028180" cy="646331"/>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DEFINICION DE METODOS</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8" name="Imagen 7">
            <a:extLst>
              <a:ext uri="{FF2B5EF4-FFF2-40B4-BE49-F238E27FC236}">
                <a16:creationId xmlns:a16="http://schemas.microsoft.com/office/drawing/2014/main" id="{A1205C21-53A8-15B8-8124-0BE9A178133A}"/>
              </a:ext>
            </a:extLst>
          </p:cNvPr>
          <p:cNvPicPr>
            <a:picLocks noChangeAspect="1"/>
          </p:cNvPicPr>
          <p:nvPr/>
        </p:nvPicPr>
        <p:blipFill rotWithShape="1">
          <a:blip r:embed="rId2"/>
          <a:srcRect l="5828" t="21087" r="49009" b="44743"/>
          <a:stretch/>
        </p:blipFill>
        <p:spPr>
          <a:xfrm>
            <a:off x="35560" y="1492672"/>
            <a:ext cx="10494434" cy="4466168"/>
          </a:xfrm>
          <a:prstGeom prst="rect">
            <a:avLst/>
          </a:prstGeom>
        </p:spPr>
      </p:pic>
    </p:spTree>
    <p:extLst>
      <p:ext uri="{BB962C8B-B14F-4D97-AF65-F5344CB8AC3E}">
        <p14:creationId xmlns:p14="http://schemas.microsoft.com/office/powerpoint/2010/main" val="7409242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E01B281-5030-4E55-B808-A213110EBC4D}"/>
              </a:ext>
            </a:extLst>
          </p:cNvPr>
          <p:cNvPicPr>
            <a:picLocks noChangeAspect="1"/>
          </p:cNvPicPr>
          <p:nvPr/>
        </p:nvPicPr>
        <p:blipFill rotWithShape="1">
          <a:blip r:embed="rId2"/>
          <a:srcRect l="7708" t="38444" r="37292" b="42889"/>
          <a:stretch/>
        </p:blipFill>
        <p:spPr>
          <a:xfrm>
            <a:off x="0" y="4550586"/>
            <a:ext cx="11176000" cy="2133600"/>
          </a:xfrm>
          <a:prstGeom prst="rect">
            <a:avLst/>
          </a:prstGeom>
        </p:spPr>
      </p:pic>
      <p:sp>
        <p:nvSpPr>
          <p:cNvPr id="9" name="Signo de multiplicación 8">
            <a:extLst>
              <a:ext uri="{FF2B5EF4-FFF2-40B4-BE49-F238E27FC236}">
                <a16:creationId xmlns:a16="http://schemas.microsoft.com/office/drawing/2014/main" id="{75416A10-9F75-9D8E-6E0C-39E9BBE6836A}"/>
              </a:ext>
            </a:extLst>
          </p:cNvPr>
          <p:cNvSpPr/>
          <p:nvPr/>
        </p:nvSpPr>
        <p:spPr>
          <a:xfrm>
            <a:off x="9938896" y="3429000"/>
            <a:ext cx="1574800" cy="118872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Elipse 1">
            <a:extLst>
              <a:ext uri="{FF2B5EF4-FFF2-40B4-BE49-F238E27FC236}">
                <a16:creationId xmlns:a16="http://schemas.microsoft.com/office/drawing/2014/main" id="{E338FD91-5D7E-EF52-08C3-74B03A333951}"/>
              </a:ext>
            </a:extLst>
          </p:cNvPr>
          <p:cNvSpPr/>
          <p:nvPr/>
        </p:nvSpPr>
        <p:spPr>
          <a:xfrm>
            <a:off x="9938896" y="612446"/>
            <a:ext cx="1133817" cy="940503"/>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s-MX"/>
          </a:p>
        </p:txBody>
      </p:sp>
      <p:pic>
        <p:nvPicPr>
          <p:cNvPr id="5" name="Imagen 4">
            <a:extLst>
              <a:ext uri="{FF2B5EF4-FFF2-40B4-BE49-F238E27FC236}">
                <a16:creationId xmlns:a16="http://schemas.microsoft.com/office/drawing/2014/main" id="{C8682EDC-CFBD-BDDF-A347-2AC525264293}"/>
              </a:ext>
            </a:extLst>
          </p:cNvPr>
          <p:cNvPicPr>
            <a:picLocks noChangeAspect="1"/>
          </p:cNvPicPr>
          <p:nvPr/>
        </p:nvPicPr>
        <p:blipFill rotWithShape="1">
          <a:blip r:embed="rId3"/>
          <a:srcRect l="55000" t="42182" r="11709" b="46835"/>
          <a:stretch/>
        </p:blipFill>
        <p:spPr>
          <a:xfrm>
            <a:off x="0" y="727656"/>
            <a:ext cx="10015305" cy="1858526"/>
          </a:xfrm>
          <a:prstGeom prst="rect">
            <a:avLst/>
          </a:prstGeom>
        </p:spPr>
      </p:pic>
    </p:spTree>
    <p:extLst>
      <p:ext uri="{BB962C8B-B14F-4D97-AF65-F5344CB8AC3E}">
        <p14:creationId xmlns:p14="http://schemas.microsoft.com/office/powerpoint/2010/main" val="9577793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09ACB9A-E017-C13E-BB3B-847D8739103C}"/>
              </a:ext>
            </a:extLst>
          </p:cNvPr>
          <p:cNvSpPr txBox="1"/>
          <p:nvPr/>
        </p:nvSpPr>
        <p:spPr>
          <a:xfrm>
            <a:off x="2293620" y="39701"/>
            <a:ext cx="7028180" cy="646331"/>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APUNTADOR THIS </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CuadroTexto 4">
            <a:extLst>
              <a:ext uri="{FF2B5EF4-FFF2-40B4-BE49-F238E27FC236}">
                <a16:creationId xmlns:a16="http://schemas.microsoft.com/office/drawing/2014/main" id="{48817C30-7CFD-A96E-6152-03C38C6DBA00}"/>
              </a:ext>
            </a:extLst>
          </p:cNvPr>
          <p:cNvSpPr txBox="1"/>
          <p:nvPr/>
        </p:nvSpPr>
        <p:spPr>
          <a:xfrm>
            <a:off x="239162" y="686032"/>
            <a:ext cx="10003790" cy="1754326"/>
          </a:xfrm>
          <a:prstGeom prst="rect">
            <a:avLst/>
          </a:prstGeom>
          <a:noFill/>
        </p:spPr>
        <p:txBody>
          <a:bodyPr wrap="square">
            <a:spAutoFit/>
          </a:bodyPr>
          <a:lstStyle/>
          <a:p>
            <a:pPr marL="742950" indent="-742950">
              <a:buFont typeface="+mj-lt"/>
              <a:buAutoNum type="alphaLcParenR"/>
            </a:pPr>
            <a:r>
              <a:rPr lang="es-MX" sz="3600" dirty="0" err="1">
                <a:solidFill>
                  <a:srgbClr val="FF0000"/>
                </a:solidFill>
                <a:latin typeface="ADLaM Display" panose="02010000000000000000" pitchFamily="2" charset="0"/>
                <a:ea typeface="ADLaM Display" panose="02010000000000000000" pitchFamily="2" charset="0"/>
                <a:cs typeface="ADLaM Display" panose="02010000000000000000" pitchFamily="2" charset="0"/>
              </a:rPr>
              <a:t>this</a:t>
            </a:r>
            <a:r>
              <a:rPr lang="es-MX" sz="3600" dirty="0">
                <a:latin typeface="ADLaM Display" panose="02010000000000000000" pitchFamily="2" charset="0"/>
                <a:ea typeface="ADLaM Display" panose="02010000000000000000" pitchFamily="2" charset="0"/>
                <a:cs typeface="ADLaM Display" panose="02010000000000000000" pitchFamily="2" charset="0"/>
              </a:rPr>
              <a:t> palabra reserva </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Apuntado a sí mismo como un todo</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Es un apuntador (oculto) para sí mismo</a:t>
            </a:r>
          </a:p>
        </p:txBody>
      </p:sp>
      <p:pic>
        <p:nvPicPr>
          <p:cNvPr id="7" name="Imagen 6">
            <a:extLst>
              <a:ext uri="{FF2B5EF4-FFF2-40B4-BE49-F238E27FC236}">
                <a16:creationId xmlns:a16="http://schemas.microsoft.com/office/drawing/2014/main" id="{B73F6E90-2046-320B-D9AA-94C68F413ED7}"/>
              </a:ext>
            </a:extLst>
          </p:cNvPr>
          <p:cNvPicPr>
            <a:picLocks noChangeAspect="1"/>
          </p:cNvPicPr>
          <p:nvPr/>
        </p:nvPicPr>
        <p:blipFill rotWithShape="1">
          <a:blip r:embed="rId2"/>
          <a:srcRect l="10869" t="16619" r="26848" b="41255"/>
          <a:stretch/>
        </p:blipFill>
        <p:spPr>
          <a:xfrm>
            <a:off x="239161" y="2440358"/>
            <a:ext cx="10519031" cy="4002006"/>
          </a:xfrm>
          <a:prstGeom prst="rect">
            <a:avLst/>
          </a:prstGeom>
        </p:spPr>
      </p:pic>
    </p:spTree>
    <p:extLst>
      <p:ext uri="{BB962C8B-B14F-4D97-AF65-F5344CB8AC3E}">
        <p14:creationId xmlns:p14="http://schemas.microsoft.com/office/powerpoint/2010/main" val="11482498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6F75DD3-2585-BEC6-3FA7-C3EF06D2214E}"/>
              </a:ext>
            </a:extLst>
          </p:cNvPr>
          <p:cNvPicPr>
            <a:picLocks noChangeAspect="1"/>
          </p:cNvPicPr>
          <p:nvPr/>
        </p:nvPicPr>
        <p:blipFill rotWithShape="1">
          <a:blip r:embed="rId2"/>
          <a:srcRect l="10486" t="45679" r="9306" b="31605"/>
          <a:stretch/>
        </p:blipFill>
        <p:spPr>
          <a:xfrm>
            <a:off x="42332" y="330200"/>
            <a:ext cx="10948231" cy="1744134"/>
          </a:xfrm>
          <a:prstGeom prst="rect">
            <a:avLst/>
          </a:prstGeom>
        </p:spPr>
      </p:pic>
    </p:spTree>
    <p:extLst>
      <p:ext uri="{BB962C8B-B14F-4D97-AF65-F5344CB8AC3E}">
        <p14:creationId xmlns:p14="http://schemas.microsoft.com/office/powerpoint/2010/main" val="26099365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27AD0D5-E930-BA64-9E5D-6C0FA0E949B9}"/>
              </a:ext>
            </a:extLst>
          </p:cNvPr>
          <p:cNvSpPr txBox="1"/>
          <p:nvPr/>
        </p:nvSpPr>
        <p:spPr>
          <a:xfrm>
            <a:off x="2293620" y="39701"/>
            <a:ext cx="7028180" cy="646331"/>
          </a:xfrm>
          <a:prstGeom prst="rect">
            <a:avLst/>
          </a:prstGeom>
          <a:noFill/>
        </p:spPr>
        <p:txBody>
          <a:bodyPr wrap="square">
            <a:spAutoFit/>
          </a:bodyPr>
          <a:lstStyle/>
          <a:p>
            <a:pPr algn="ctr"/>
            <a:r>
              <a:rPr lang="es-MX" sz="36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Funciones amigas </a:t>
            </a:r>
            <a:endParaRPr lang="es-MX" sz="2000" b="1" dirty="0">
              <a:solidFill>
                <a:srgbClr val="00B0F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CuadroTexto 4">
            <a:extLst>
              <a:ext uri="{FF2B5EF4-FFF2-40B4-BE49-F238E27FC236}">
                <a16:creationId xmlns:a16="http://schemas.microsoft.com/office/drawing/2014/main" id="{C6AA53A5-4564-9651-1E38-A4B5A17B00F5}"/>
              </a:ext>
            </a:extLst>
          </p:cNvPr>
          <p:cNvSpPr txBox="1"/>
          <p:nvPr/>
        </p:nvSpPr>
        <p:spPr>
          <a:xfrm>
            <a:off x="239162" y="686032"/>
            <a:ext cx="10003790" cy="5632311"/>
          </a:xfrm>
          <a:prstGeom prst="rect">
            <a:avLst/>
          </a:prstGeom>
          <a:noFill/>
        </p:spPr>
        <p:txBody>
          <a:bodyPr wrap="square">
            <a:spAutoFit/>
          </a:bodyPr>
          <a:lstStyle/>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No son consideradas por los especificadores de accesos, tiene un comportamiento especial  </a:t>
            </a:r>
          </a:p>
          <a:p>
            <a:pPr marL="742950" indent="-742950">
              <a:buFont typeface="+mj-lt"/>
              <a:buAutoNum type="alphaLcParenR"/>
            </a:pPr>
            <a:r>
              <a:rPr lang="es-MX" sz="3600" dirty="0" err="1">
                <a:solidFill>
                  <a:srgbClr val="FF0000"/>
                </a:solidFill>
                <a:latin typeface="ADLaM Display" panose="02010000000000000000" pitchFamily="2" charset="0"/>
                <a:ea typeface="ADLaM Display" panose="02010000000000000000" pitchFamily="2" charset="0"/>
                <a:cs typeface="ADLaM Display" panose="02010000000000000000" pitchFamily="2" charset="0"/>
              </a:rPr>
              <a:t>friend</a:t>
            </a:r>
            <a:r>
              <a:rPr lang="es-MX" sz="36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 </a:t>
            </a:r>
            <a:r>
              <a:rPr lang="es-MX" sz="3600" dirty="0">
                <a:latin typeface="ADLaM Display" panose="02010000000000000000" pitchFamily="2" charset="0"/>
                <a:ea typeface="ADLaM Display" panose="02010000000000000000" pitchFamily="2" charset="0"/>
                <a:cs typeface="ADLaM Display" panose="02010000000000000000" pitchFamily="2" charset="0"/>
              </a:rPr>
              <a:t>es una palabra reservada dentro de C++</a:t>
            </a:r>
            <a:endParaRPr lang="es-MX" sz="36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endParaRP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Tiene acceso a los miembros privados de la clase</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A las funciones </a:t>
            </a:r>
            <a:r>
              <a:rPr lang="es-MX" sz="3600" dirty="0" err="1">
                <a:latin typeface="ADLaM Display" panose="02010000000000000000" pitchFamily="2" charset="0"/>
                <a:ea typeface="ADLaM Display" panose="02010000000000000000" pitchFamily="2" charset="0"/>
                <a:cs typeface="ADLaM Display" panose="02010000000000000000" pitchFamily="2" charset="0"/>
              </a:rPr>
              <a:t>friend</a:t>
            </a:r>
            <a:r>
              <a:rPr lang="es-MX" sz="3600" dirty="0">
                <a:latin typeface="ADLaM Display" panose="02010000000000000000" pitchFamily="2" charset="0"/>
                <a:ea typeface="ADLaM Display" panose="02010000000000000000" pitchFamily="2" charset="0"/>
                <a:cs typeface="ADLaM Display" panose="02010000000000000000" pitchFamily="2" charset="0"/>
              </a:rPr>
              <a:t> también se les son conocidas como funciones no miembros de una clase </a:t>
            </a:r>
          </a:p>
        </p:txBody>
      </p:sp>
    </p:spTree>
    <p:extLst>
      <p:ext uri="{BB962C8B-B14F-4D97-AF65-F5344CB8AC3E}">
        <p14:creationId xmlns:p14="http://schemas.microsoft.com/office/powerpoint/2010/main" val="29916129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B72D06D-A112-616E-51C5-71D8A84FEAA9}"/>
              </a:ext>
            </a:extLst>
          </p:cNvPr>
          <p:cNvSpPr>
            <a:spLocks noChangeArrowheads="1"/>
          </p:cNvSpPr>
          <p:nvPr/>
        </p:nvSpPr>
        <p:spPr bwMode="auto">
          <a:xfrm>
            <a:off x="391352" y="258569"/>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Sintaxis para la declaración de funciones </a:t>
            </a:r>
            <a:r>
              <a:rPr lang="es-MX" altLang="es-MX" sz="3200" dirty="0" err="1">
                <a:latin typeface="ADLaM Display" panose="02010000000000000000" pitchFamily="2" charset="0"/>
                <a:ea typeface="ADLaM Display" panose="02010000000000000000" pitchFamily="2" charset="0"/>
                <a:cs typeface="ADLaM Display" panose="02010000000000000000" pitchFamily="2" charset="0"/>
              </a:rPr>
              <a:t>friend</a:t>
            </a:r>
            <a:endParaRPr lang="es-MX" altLang="es-MX" sz="32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CuadroTexto 4">
            <a:extLst>
              <a:ext uri="{FF2B5EF4-FFF2-40B4-BE49-F238E27FC236}">
                <a16:creationId xmlns:a16="http://schemas.microsoft.com/office/drawing/2014/main" id="{6584E595-4419-C049-D474-614C26D876E2}"/>
              </a:ext>
            </a:extLst>
          </p:cNvPr>
          <p:cNvSpPr txBox="1"/>
          <p:nvPr/>
        </p:nvSpPr>
        <p:spPr>
          <a:xfrm>
            <a:off x="495523" y="1197349"/>
            <a:ext cx="8933180" cy="523220"/>
          </a:xfrm>
          <a:prstGeom prst="rect">
            <a:avLst/>
          </a:prstGeom>
          <a:noFill/>
        </p:spPr>
        <p:txBody>
          <a:bodyPr wrap="square">
            <a:spAutoFit/>
          </a:bodyPr>
          <a:lstStyle/>
          <a:p>
            <a:r>
              <a:rPr lang="es-MX" sz="2400" dirty="0" err="1">
                <a:solidFill>
                  <a:srgbClr val="00B0F0"/>
                </a:solidFill>
                <a:latin typeface="ADLaM Display" panose="02010000000000000000" pitchFamily="2" charset="0"/>
                <a:ea typeface="ADLaM Display" panose="02010000000000000000" pitchFamily="2" charset="0"/>
                <a:cs typeface="ADLaM Display" panose="02010000000000000000" pitchFamily="2" charset="0"/>
              </a:rPr>
              <a:t>friend</a:t>
            </a:r>
            <a:r>
              <a:rPr lang="es-MX" sz="24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 </a:t>
            </a:r>
            <a:r>
              <a:rPr lang="es-MX" sz="2400" dirty="0" err="1">
                <a:solidFill>
                  <a:srgbClr val="00B0F0"/>
                </a:solidFill>
                <a:latin typeface="ADLaM Display" panose="02010000000000000000" pitchFamily="2" charset="0"/>
                <a:ea typeface="ADLaM Display" panose="02010000000000000000" pitchFamily="2" charset="0"/>
                <a:cs typeface="ADLaM Display" panose="02010000000000000000" pitchFamily="2" charset="0"/>
              </a:rPr>
              <a:t>returnType</a:t>
            </a:r>
            <a:r>
              <a:rPr lang="es-MX" sz="2400" dirty="0">
                <a:latin typeface="ADLaM Display" panose="02010000000000000000" pitchFamily="2" charset="0"/>
                <a:ea typeface="ADLaM Display" panose="02010000000000000000" pitchFamily="2" charset="0"/>
                <a:cs typeface="ADLaM Display" panose="02010000000000000000" pitchFamily="2" charset="0"/>
              </a:rPr>
              <a:t> </a:t>
            </a:r>
            <a:r>
              <a:rPr lang="es-MX" sz="2400" dirty="0" err="1">
                <a:solidFill>
                  <a:srgbClr val="FF0000"/>
                </a:solidFill>
                <a:latin typeface="ADLaM Display" panose="02010000000000000000" pitchFamily="2" charset="0"/>
                <a:ea typeface="ADLaM Display" panose="02010000000000000000" pitchFamily="2" charset="0"/>
                <a:cs typeface="ADLaM Display" panose="02010000000000000000" pitchFamily="2" charset="0"/>
              </a:rPr>
              <a:t>operator</a:t>
            </a:r>
            <a:r>
              <a:rPr lang="es-MX" sz="2400" dirty="0">
                <a:latin typeface="ADLaM Display" panose="02010000000000000000" pitchFamily="2" charset="0"/>
                <a:ea typeface="ADLaM Display" panose="02010000000000000000" pitchFamily="2" charset="0"/>
                <a:cs typeface="ADLaM Display" panose="02010000000000000000" pitchFamily="2" charset="0"/>
              </a:rPr>
              <a:t> </a:t>
            </a:r>
            <a:r>
              <a:rPr lang="es-MX" sz="2400"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operatorSymbol</a:t>
            </a:r>
            <a:r>
              <a:rPr lang="es-MX" sz="2400" dirty="0">
                <a:latin typeface="ADLaM Display" panose="02010000000000000000" pitchFamily="2" charset="0"/>
                <a:ea typeface="ADLaM Display" panose="02010000000000000000" pitchFamily="2" charset="0"/>
                <a:cs typeface="ADLaM Display" panose="02010000000000000000" pitchFamily="2" charset="0"/>
              </a:rPr>
              <a:t>(</a:t>
            </a:r>
            <a:r>
              <a:rPr lang="es-MX" sz="24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argumentos</a:t>
            </a:r>
            <a:r>
              <a:rPr lang="es-MX" sz="2800" dirty="0">
                <a:latin typeface="ADLaM Display" panose="02010000000000000000" pitchFamily="2" charset="0"/>
                <a:ea typeface="ADLaM Display" panose="02010000000000000000" pitchFamily="2" charset="0"/>
                <a:cs typeface="ADLaM Display" panose="02010000000000000000" pitchFamily="2" charset="0"/>
              </a:rPr>
              <a:t>)</a:t>
            </a:r>
          </a:p>
        </p:txBody>
      </p:sp>
      <p:pic>
        <p:nvPicPr>
          <p:cNvPr id="8" name="Imagen 7">
            <a:extLst>
              <a:ext uri="{FF2B5EF4-FFF2-40B4-BE49-F238E27FC236}">
                <a16:creationId xmlns:a16="http://schemas.microsoft.com/office/drawing/2014/main" id="{620291E9-CEF0-8DE8-3212-3EFEB8A91B8B}"/>
              </a:ext>
            </a:extLst>
          </p:cNvPr>
          <p:cNvPicPr>
            <a:picLocks noChangeAspect="1"/>
          </p:cNvPicPr>
          <p:nvPr/>
        </p:nvPicPr>
        <p:blipFill rotWithShape="1">
          <a:blip r:embed="rId2"/>
          <a:srcRect l="61814" t="33114" r="6514" b="62491"/>
          <a:stretch/>
        </p:blipFill>
        <p:spPr>
          <a:xfrm>
            <a:off x="621415" y="1720569"/>
            <a:ext cx="8681396" cy="677725"/>
          </a:xfrm>
          <a:prstGeom prst="rect">
            <a:avLst/>
          </a:prstGeom>
        </p:spPr>
      </p:pic>
      <p:sp>
        <p:nvSpPr>
          <p:cNvPr id="9" name="Rectangle 2">
            <a:extLst>
              <a:ext uri="{FF2B5EF4-FFF2-40B4-BE49-F238E27FC236}">
                <a16:creationId xmlns:a16="http://schemas.microsoft.com/office/drawing/2014/main" id="{A2DD5581-B425-F937-1D1D-E2405832FC6F}"/>
              </a:ext>
            </a:extLst>
          </p:cNvPr>
          <p:cNvSpPr>
            <a:spLocks noChangeArrowheads="1"/>
          </p:cNvSpPr>
          <p:nvPr/>
        </p:nvSpPr>
        <p:spPr bwMode="auto">
          <a:xfrm>
            <a:off x="391351" y="2752300"/>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Sintaxis para la definición de funciones </a:t>
            </a:r>
            <a:r>
              <a:rPr lang="es-MX" altLang="es-MX" sz="3200" dirty="0" err="1">
                <a:latin typeface="ADLaM Display" panose="02010000000000000000" pitchFamily="2" charset="0"/>
                <a:ea typeface="ADLaM Display" panose="02010000000000000000" pitchFamily="2" charset="0"/>
                <a:cs typeface="ADLaM Display" panose="02010000000000000000" pitchFamily="2" charset="0"/>
              </a:rPr>
              <a:t>friend</a:t>
            </a:r>
            <a:endParaRPr lang="es-MX" altLang="es-MX" sz="32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1" name="Imagen 10">
            <a:extLst>
              <a:ext uri="{FF2B5EF4-FFF2-40B4-BE49-F238E27FC236}">
                <a16:creationId xmlns:a16="http://schemas.microsoft.com/office/drawing/2014/main" id="{4F48D5F8-DCD5-313F-897C-FD131E354248}"/>
              </a:ext>
            </a:extLst>
          </p:cNvPr>
          <p:cNvPicPr>
            <a:picLocks noChangeAspect="1"/>
          </p:cNvPicPr>
          <p:nvPr/>
        </p:nvPicPr>
        <p:blipFill rotWithShape="1">
          <a:blip r:embed="rId3"/>
          <a:srcRect l="58656" t="43270" r="7524" b="45912"/>
          <a:stretch/>
        </p:blipFill>
        <p:spPr>
          <a:xfrm>
            <a:off x="621415" y="3813312"/>
            <a:ext cx="9586932" cy="1724846"/>
          </a:xfrm>
          <a:prstGeom prst="rect">
            <a:avLst/>
          </a:prstGeom>
        </p:spPr>
      </p:pic>
    </p:spTree>
    <p:extLst>
      <p:ext uri="{BB962C8B-B14F-4D97-AF65-F5344CB8AC3E}">
        <p14:creationId xmlns:p14="http://schemas.microsoft.com/office/powerpoint/2010/main" val="19856642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13DF438-4B91-CCFC-9CCD-88C4A91CC117}"/>
              </a:ext>
            </a:extLst>
          </p:cNvPr>
          <p:cNvPicPr>
            <a:picLocks noChangeAspect="1"/>
          </p:cNvPicPr>
          <p:nvPr/>
        </p:nvPicPr>
        <p:blipFill rotWithShape="1">
          <a:blip r:embed="rId2"/>
          <a:srcRect l="54148" t="24322" r="27802" b="31868"/>
          <a:stretch/>
        </p:blipFill>
        <p:spPr>
          <a:xfrm>
            <a:off x="391352" y="843344"/>
            <a:ext cx="4181252" cy="5708649"/>
          </a:xfrm>
          <a:prstGeom prst="rect">
            <a:avLst/>
          </a:prstGeom>
        </p:spPr>
      </p:pic>
      <p:sp>
        <p:nvSpPr>
          <p:cNvPr id="4" name="Rectangle 2">
            <a:extLst>
              <a:ext uri="{FF2B5EF4-FFF2-40B4-BE49-F238E27FC236}">
                <a16:creationId xmlns:a16="http://schemas.microsoft.com/office/drawing/2014/main" id="{5B465B31-E3E2-3565-68B7-59A35AD24754}"/>
              </a:ext>
            </a:extLst>
          </p:cNvPr>
          <p:cNvSpPr>
            <a:spLocks noChangeArrowheads="1"/>
          </p:cNvSpPr>
          <p:nvPr/>
        </p:nvSpPr>
        <p:spPr bwMode="auto">
          <a:xfrm>
            <a:off x="391352" y="258569"/>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Ejemplo de uso de funciones </a:t>
            </a:r>
            <a:r>
              <a:rPr lang="es-MX" altLang="es-MX" sz="3200" dirty="0" err="1">
                <a:latin typeface="ADLaM Display" panose="02010000000000000000" pitchFamily="2" charset="0"/>
                <a:ea typeface="ADLaM Display" panose="02010000000000000000" pitchFamily="2" charset="0"/>
                <a:cs typeface="ADLaM Display" panose="02010000000000000000" pitchFamily="2" charset="0"/>
              </a:rPr>
              <a:t>friend</a:t>
            </a:r>
            <a:endParaRPr lang="es-MX" altLang="es-MX" sz="32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Cerrar llave 8">
            <a:extLst>
              <a:ext uri="{FF2B5EF4-FFF2-40B4-BE49-F238E27FC236}">
                <a16:creationId xmlns:a16="http://schemas.microsoft.com/office/drawing/2014/main" id="{0387EEB7-189F-82C6-83B5-AB2A319F35D6}"/>
              </a:ext>
            </a:extLst>
          </p:cNvPr>
          <p:cNvSpPr/>
          <p:nvPr/>
        </p:nvSpPr>
        <p:spPr>
          <a:xfrm>
            <a:off x="3752491" y="2924355"/>
            <a:ext cx="215660" cy="1311215"/>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s-MX"/>
          </a:p>
        </p:txBody>
      </p:sp>
      <p:sp>
        <p:nvSpPr>
          <p:cNvPr id="12" name="Cerrar llave 11">
            <a:extLst>
              <a:ext uri="{FF2B5EF4-FFF2-40B4-BE49-F238E27FC236}">
                <a16:creationId xmlns:a16="http://schemas.microsoft.com/office/drawing/2014/main" id="{C3EEFBB1-D42D-EC0A-EB84-7BA1F6C45E05}"/>
              </a:ext>
            </a:extLst>
          </p:cNvPr>
          <p:cNvSpPr/>
          <p:nvPr/>
        </p:nvSpPr>
        <p:spPr>
          <a:xfrm>
            <a:off x="4666891" y="1112808"/>
            <a:ext cx="103517" cy="584775"/>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13" name="Cerrar llave 12">
            <a:extLst>
              <a:ext uri="{FF2B5EF4-FFF2-40B4-BE49-F238E27FC236}">
                <a16:creationId xmlns:a16="http://schemas.microsoft.com/office/drawing/2014/main" id="{5A64AF1C-AC42-A70E-9C98-03307AED6378}"/>
              </a:ext>
            </a:extLst>
          </p:cNvPr>
          <p:cNvSpPr/>
          <p:nvPr/>
        </p:nvSpPr>
        <p:spPr>
          <a:xfrm>
            <a:off x="4252823" y="4399472"/>
            <a:ext cx="112143" cy="879894"/>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s-MX"/>
          </a:p>
        </p:txBody>
      </p:sp>
      <p:sp>
        <p:nvSpPr>
          <p:cNvPr id="14" name="Rectangle 2">
            <a:extLst>
              <a:ext uri="{FF2B5EF4-FFF2-40B4-BE49-F238E27FC236}">
                <a16:creationId xmlns:a16="http://schemas.microsoft.com/office/drawing/2014/main" id="{FE4286A3-7B98-A251-E115-A6CE3AE59DF0}"/>
              </a:ext>
            </a:extLst>
          </p:cNvPr>
          <p:cNvSpPr>
            <a:spLocks noChangeArrowheads="1"/>
          </p:cNvSpPr>
          <p:nvPr/>
        </p:nvSpPr>
        <p:spPr bwMode="auto">
          <a:xfrm>
            <a:off x="5016569" y="1143586"/>
            <a:ext cx="5352381" cy="52322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28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rPr>
              <a:t>Declaración de función amiga</a:t>
            </a:r>
          </a:p>
        </p:txBody>
      </p:sp>
      <p:sp>
        <p:nvSpPr>
          <p:cNvPr id="15" name="Rectangle 2">
            <a:extLst>
              <a:ext uri="{FF2B5EF4-FFF2-40B4-BE49-F238E27FC236}">
                <a16:creationId xmlns:a16="http://schemas.microsoft.com/office/drawing/2014/main" id="{7B124D39-E87F-8DAC-5CEE-A18975AB356B}"/>
              </a:ext>
            </a:extLst>
          </p:cNvPr>
          <p:cNvSpPr>
            <a:spLocks noChangeArrowheads="1"/>
          </p:cNvSpPr>
          <p:nvPr/>
        </p:nvSpPr>
        <p:spPr bwMode="auto">
          <a:xfrm>
            <a:off x="4082041" y="3106812"/>
            <a:ext cx="6959770" cy="95410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8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rPr>
              <a:t>Definición de funciones miembros de la clase</a:t>
            </a:r>
          </a:p>
        </p:txBody>
      </p:sp>
      <p:sp>
        <p:nvSpPr>
          <p:cNvPr id="16" name="Rectangle 2">
            <a:extLst>
              <a:ext uri="{FF2B5EF4-FFF2-40B4-BE49-F238E27FC236}">
                <a16:creationId xmlns:a16="http://schemas.microsoft.com/office/drawing/2014/main" id="{C547BCA8-6B9A-C43A-75C4-B408C00340A0}"/>
              </a:ext>
            </a:extLst>
          </p:cNvPr>
          <p:cNvSpPr>
            <a:spLocks noChangeArrowheads="1"/>
          </p:cNvSpPr>
          <p:nvPr/>
        </p:nvSpPr>
        <p:spPr bwMode="auto">
          <a:xfrm>
            <a:off x="4139513" y="4399472"/>
            <a:ext cx="6959770" cy="95410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800" dirty="0">
                <a:solidFill>
                  <a:srgbClr val="0070C0"/>
                </a:solidFill>
                <a:latin typeface="ADLaM Display" panose="02010000000000000000" pitchFamily="2" charset="0"/>
                <a:ea typeface="ADLaM Display" panose="02010000000000000000" pitchFamily="2" charset="0"/>
                <a:cs typeface="ADLaM Display" panose="02010000000000000000" pitchFamily="2" charset="0"/>
              </a:rPr>
              <a:t>Definición de la función amiga de la clase</a:t>
            </a:r>
          </a:p>
        </p:txBody>
      </p:sp>
    </p:spTree>
    <p:extLst>
      <p:ext uri="{BB962C8B-B14F-4D97-AF65-F5344CB8AC3E}">
        <p14:creationId xmlns:p14="http://schemas.microsoft.com/office/powerpoint/2010/main" val="26977290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77EA1E2-A643-3F4F-E261-2D0B2815EC76}"/>
              </a:ext>
            </a:extLst>
          </p:cNvPr>
          <p:cNvSpPr>
            <a:spLocks noChangeArrowheads="1"/>
          </p:cNvSpPr>
          <p:nvPr/>
        </p:nvSpPr>
        <p:spPr bwMode="auto">
          <a:xfrm>
            <a:off x="339266" y="177546"/>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¿Por qué se requiere sobrecarga de operadores?</a:t>
            </a:r>
          </a:p>
        </p:txBody>
      </p:sp>
      <p:pic>
        <p:nvPicPr>
          <p:cNvPr id="8" name="Imagen 7">
            <a:extLst>
              <a:ext uri="{FF2B5EF4-FFF2-40B4-BE49-F238E27FC236}">
                <a16:creationId xmlns:a16="http://schemas.microsoft.com/office/drawing/2014/main" id="{ADCA4320-70EC-C9F6-D856-FE88FB319F6C}"/>
              </a:ext>
            </a:extLst>
          </p:cNvPr>
          <p:cNvPicPr>
            <a:picLocks noChangeAspect="1"/>
          </p:cNvPicPr>
          <p:nvPr/>
        </p:nvPicPr>
        <p:blipFill rotWithShape="1">
          <a:blip r:embed="rId2"/>
          <a:srcRect l="8042" t="15185" r="46291" b="27407"/>
          <a:stretch/>
        </p:blipFill>
        <p:spPr>
          <a:xfrm>
            <a:off x="284480" y="771362"/>
            <a:ext cx="8356600" cy="5909092"/>
          </a:xfrm>
          <a:prstGeom prst="rect">
            <a:avLst/>
          </a:prstGeom>
        </p:spPr>
      </p:pic>
      <p:sp>
        <p:nvSpPr>
          <p:cNvPr id="9" name="Cerrar llave 8">
            <a:extLst>
              <a:ext uri="{FF2B5EF4-FFF2-40B4-BE49-F238E27FC236}">
                <a16:creationId xmlns:a16="http://schemas.microsoft.com/office/drawing/2014/main" id="{6B694952-3E33-EE98-02EA-ACEB43A8D606}"/>
              </a:ext>
            </a:extLst>
          </p:cNvPr>
          <p:cNvSpPr/>
          <p:nvPr/>
        </p:nvSpPr>
        <p:spPr>
          <a:xfrm>
            <a:off x="8823960" y="853440"/>
            <a:ext cx="60960" cy="277368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dirty="0"/>
          </a:p>
        </p:txBody>
      </p:sp>
      <p:sp>
        <p:nvSpPr>
          <p:cNvPr id="10" name="Cerrar llave 9">
            <a:extLst>
              <a:ext uri="{FF2B5EF4-FFF2-40B4-BE49-F238E27FC236}">
                <a16:creationId xmlns:a16="http://schemas.microsoft.com/office/drawing/2014/main" id="{DD1ECA67-FCA6-7AF9-7FD0-4FB94ED958A1}"/>
              </a:ext>
            </a:extLst>
          </p:cNvPr>
          <p:cNvSpPr/>
          <p:nvPr/>
        </p:nvSpPr>
        <p:spPr>
          <a:xfrm>
            <a:off x="9296400" y="3774440"/>
            <a:ext cx="60960" cy="277368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Tree>
    <p:extLst>
      <p:ext uri="{BB962C8B-B14F-4D97-AF65-F5344CB8AC3E}">
        <p14:creationId xmlns:p14="http://schemas.microsoft.com/office/powerpoint/2010/main" val="536955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CD2D488-6AB6-3178-A014-9876C47D48D3}"/>
              </a:ext>
            </a:extLst>
          </p:cNvPr>
          <p:cNvSpPr>
            <a:spLocks noChangeArrowheads="1"/>
          </p:cNvSpPr>
          <p:nvPr/>
        </p:nvSpPr>
        <p:spPr bwMode="auto">
          <a:xfrm>
            <a:off x="391352" y="68792"/>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Sintaxis para la sobrecarga de operadores</a:t>
            </a:r>
          </a:p>
        </p:txBody>
      </p:sp>
      <p:sp>
        <p:nvSpPr>
          <p:cNvPr id="6" name="CuadroTexto 5">
            <a:extLst>
              <a:ext uri="{FF2B5EF4-FFF2-40B4-BE49-F238E27FC236}">
                <a16:creationId xmlns:a16="http://schemas.microsoft.com/office/drawing/2014/main" id="{411C8A1F-5E23-A5DF-BD0B-C0B2964C2829}"/>
              </a:ext>
            </a:extLst>
          </p:cNvPr>
          <p:cNvSpPr txBox="1"/>
          <p:nvPr/>
        </p:nvSpPr>
        <p:spPr>
          <a:xfrm>
            <a:off x="495523" y="811978"/>
            <a:ext cx="8933180" cy="523220"/>
          </a:xfrm>
          <a:prstGeom prst="rect">
            <a:avLst/>
          </a:prstGeom>
          <a:noFill/>
        </p:spPr>
        <p:txBody>
          <a:bodyPr wrap="square">
            <a:spAutoFit/>
          </a:bodyPr>
          <a:lstStyle/>
          <a:p>
            <a:r>
              <a:rPr lang="es-MX" sz="2800" dirty="0" err="1">
                <a:solidFill>
                  <a:srgbClr val="00B0F0"/>
                </a:solidFill>
                <a:latin typeface="ADLaM Display" panose="02010000000000000000" pitchFamily="2" charset="0"/>
                <a:ea typeface="ADLaM Display" panose="02010000000000000000" pitchFamily="2" charset="0"/>
                <a:cs typeface="ADLaM Display" panose="02010000000000000000" pitchFamily="2" charset="0"/>
              </a:rPr>
              <a:t>returnType</a:t>
            </a:r>
            <a:r>
              <a:rPr lang="es-MX" sz="2800" dirty="0">
                <a:latin typeface="ADLaM Display" panose="02010000000000000000" pitchFamily="2" charset="0"/>
                <a:ea typeface="ADLaM Display" panose="02010000000000000000" pitchFamily="2" charset="0"/>
                <a:cs typeface="ADLaM Display" panose="02010000000000000000" pitchFamily="2" charset="0"/>
              </a:rPr>
              <a:t> </a:t>
            </a:r>
            <a:r>
              <a:rPr lang="es-MX" sz="2800" dirty="0" err="1">
                <a:solidFill>
                  <a:srgbClr val="FF0000"/>
                </a:solidFill>
                <a:latin typeface="ADLaM Display" panose="02010000000000000000" pitchFamily="2" charset="0"/>
                <a:ea typeface="ADLaM Display" panose="02010000000000000000" pitchFamily="2" charset="0"/>
                <a:cs typeface="ADLaM Display" panose="02010000000000000000" pitchFamily="2" charset="0"/>
              </a:rPr>
              <a:t>operator</a:t>
            </a:r>
            <a:r>
              <a:rPr lang="es-MX" sz="2800" dirty="0">
                <a:latin typeface="ADLaM Display" panose="02010000000000000000" pitchFamily="2" charset="0"/>
                <a:ea typeface="ADLaM Display" panose="02010000000000000000" pitchFamily="2" charset="0"/>
                <a:cs typeface="ADLaM Display" panose="02010000000000000000" pitchFamily="2" charset="0"/>
              </a:rPr>
              <a:t> </a:t>
            </a:r>
            <a:r>
              <a:rPr lang="es-MX" sz="2800"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operatorSymbol</a:t>
            </a:r>
            <a:r>
              <a:rPr lang="es-MX" sz="2800" dirty="0">
                <a:latin typeface="ADLaM Display" panose="02010000000000000000" pitchFamily="2" charset="0"/>
                <a:ea typeface="ADLaM Display" panose="02010000000000000000" pitchFamily="2" charset="0"/>
                <a:cs typeface="ADLaM Display" panose="02010000000000000000" pitchFamily="2" charset="0"/>
              </a:rPr>
              <a:t>(</a:t>
            </a:r>
            <a:r>
              <a:rPr lang="es-MX" sz="2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argumentos</a:t>
            </a:r>
            <a:r>
              <a:rPr lang="es-MX" sz="2800" dirty="0">
                <a:latin typeface="ADLaM Display" panose="02010000000000000000" pitchFamily="2" charset="0"/>
                <a:ea typeface="ADLaM Display" panose="02010000000000000000" pitchFamily="2" charset="0"/>
                <a:cs typeface="ADLaM Display" panose="02010000000000000000" pitchFamily="2" charset="0"/>
              </a:rPr>
              <a:t>)</a:t>
            </a:r>
          </a:p>
        </p:txBody>
      </p:sp>
      <p:pic>
        <p:nvPicPr>
          <p:cNvPr id="8" name="Imagen 7">
            <a:extLst>
              <a:ext uri="{FF2B5EF4-FFF2-40B4-BE49-F238E27FC236}">
                <a16:creationId xmlns:a16="http://schemas.microsoft.com/office/drawing/2014/main" id="{CDDA06A9-A66C-83A0-AF6C-180E770334DF}"/>
              </a:ext>
            </a:extLst>
          </p:cNvPr>
          <p:cNvPicPr>
            <a:picLocks noChangeAspect="1"/>
          </p:cNvPicPr>
          <p:nvPr/>
        </p:nvPicPr>
        <p:blipFill rotWithShape="1">
          <a:blip r:embed="rId2"/>
          <a:srcRect l="11750" t="56222" r="47607" b="37037"/>
          <a:stretch/>
        </p:blipFill>
        <p:spPr>
          <a:xfrm>
            <a:off x="275605" y="1678875"/>
            <a:ext cx="10143880" cy="946359"/>
          </a:xfrm>
          <a:prstGeom prst="rect">
            <a:avLst/>
          </a:prstGeom>
        </p:spPr>
      </p:pic>
      <p:sp>
        <p:nvSpPr>
          <p:cNvPr id="2" name="Rectangle 2">
            <a:extLst>
              <a:ext uri="{FF2B5EF4-FFF2-40B4-BE49-F238E27FC236}">
                <a16:creationId xmlns:a16="http://schemas.microsoft.com/office/drawing/2014/main" id="{147DCD89-360A-9705-6279-EE91E29B5231}"/>
              </a:ext>
            </a:extLst>
          </p:cNvPr>
          <p:cNvSpPr>
            <a:spLocks noChangeArrowheads="1"/>
          </p:cNvSpPr>
          <p:nvPr/>
        </p:nvSpPr>
        <p:spPr bwMode="auto">
          <a:xfrm>
            <a:off x="3811699" y="2654448"/>
            <a:ext cx="3071692"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OPERADORES</a:t>
            </a:r>
          </a:p>
        </p:txBody>
      </p:sp>
      <p:sp>
        <p:nvSpPr>
          <p:cNvPr id="3" name="CuadroTexto 2">
            <a:extLst>
              <a:ext uri="{FF2B5EF4-FFF2-40B4-BE49-F238E27FC236}">
                <a16:creationId xmlns:a16="http://schemas.microsoft.com/office/drawing/2014/main" id="{904D31CA-BDDE-9A7F-401D-0FE23E94D1D9}"/>
              </a:ext>
            </a:extLst>
          </p:cNvPr>
          <p:cNvSpPr txBox="1"/>
          <p:nvPr/>
        </p:nvSpPr>
        <p:spPr>
          <a:xfrm>
            <a:off x="923968" y="3828348"/>
            <a:ext cx="1940001" cy="523220"/>
          </a:xfrm>
          <a:prstGeom prst="rect">
            <a:avLst/>
          </a:prstGeom>
          <a:noFill/>
        </p:spPr>
        <p:txBody>
          <a:bodyPr wrap="square">
            <a:spAutoFit/>
          </a:bodyPr>
          <a:lstStyle/>
          <a:p>
            <a:r>
              <a:rPr lang="es-MX" sz="2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BINARIOS</a:t>
            </a:r>
            <a:endParaRPr lang="es-MX" sz="2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5" name="CuadroTexto 4">
            <a:extLst>
              <a:ext uri="{FF2B5EF4-FFF2-40B4-BE49-F238E27FC236}">
                <a16:creationId xmlns:a16="http://schemas.microsoft.com/office/drawing/2014/main" id="{2F3B53CF-DDF1-7C3A-F60D-40BCD89563C3}"/>
              </a:ext>
            </a:extLst>
          </p:cNvPr>
          <p:cNvSpPr txBox="1"/>
          <p:nvPr/>
        </p:nvSpPr>
        <p:spPr>
          <a:xfrm>
            <a:off x="8458702" y="3828348"/>
            <a:ext cx="1940001" cy="523220"/>
          </a:xfrm>
          <a:prstGeom prst="rect">
            <a:avLst/>
          </a:prstGeom>
          <a:noFill/>
        </p:spPr>
        <p:txBody>
          <a:bodyPr wrap="square">
            <a:spAutoFit/>
          </a:bodyPr>
          <a:lstStyle/>
          <a:p>
            <a:r>
              <a:rPr lang="es-MX" sz="2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UNARIOS</a:t>
            </a:r>
            <a:endParaRPr lang="es-MX" sz="2800"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 name="Conector: angular 10">
            <a:extLst>
              <a:ext uri="{FF2B5EF4-FFF2-40B4-BE49-F238E27FC236}">
                <a16:creationId xmlns:a16="http://schemas.microsoft.com/office/drawing/2014/main" id="{59EE24D0-0489-0B18-3C45-4AD1BDD27A17}"/>
              </a:ext>
            </a:extLst>
          </p:cNvPr>
          <p:cNvCxnSpPr>
            <a:stCxn id="2" idx="3"/>
            <a:endCxn id="5" idx="0"/>
          </p:cNvCxnSpPr>
          <p:nvPr/>
        </p:nvCxnSpPr>
        <p:spPr>
          <a:xfrm>
            <a:off x="6883391" y="2946836"/>
            <a:ext cx="2545312" cy="881512"/>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Conector: angular 12">
            <a:extLst>
              <a:ext uri="{FF2B5EF4-FFF2-40B4-BE49-F238E27FC236}">
                <a16:creationId xmlns:a16="http://schemas.microsoft.com/office/drawing/2014/main" id="{CD33E5DC-3B6E-C8C8-5573-8474DAF01F43}"/>
              </a:ext>
            </a:extLst>
          </p:cNvPr>
          <p:cNvCxnSpPr>
            <a:stCxn id="2" idx="1"/>
            <a:endCxn id="3" idx="0"/>
          </p:cNvCxnSpPr>
          <p:nvPr/>
        </p:nvCxnSpPr>
        <p:spPr>
          <a:xfrm rot="10800000" flipV="1">
            <a:off x="1893969" y="2946836"/>
            <a:ext cx="1917730" cy="88151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14" name="CuadroTexto 13">
            <a:extLst>
              <a:ext uri="{FF2B5EF4-FFF2-40B4-BE49-F238E27FC236}">
                <a16:creationId xmlns:a16="http://schemas.microsoft.com/office/drawing/2014/main" id="{614205A7-4C76-EF0B-B376-D66C142DDE10}"/>
              </a:ext>
            </a:extLst>
          </p:cNvPr>
          <p:cNvSpPr txBox="1"/>
          <p:nvPr/>
        </p:nvSpPr>
        <p:spPr>
          <a:xfrm>
            <a:off x="824764" y="4442337"/>
            <a:ext cx="2138408" cy="369332"/>
          </a:xfrm>
          <a:prstGeom prst="rect">
            <a:avLst/>
          </a:prstGeom>
          <a:noFill/>
        </p:spPr>
        <p:txBody>
          <a:bodyPr wrap="square" rtlCol="0">
            <a:spAutoFit/>
          </a:bodyPr>
          <a:lstStyle/>
          <a:p>
            <a:r>
              <a:rPr lang="es-MX" dirty="0"/>
              <a:t>- + * / == != &lt;= &gt;= </a:t>
            </a:r>
          </a:p>
        </p:txBody>
      </p:sp>
      <p:sp>
        <p:nvSpPr>
          <p:cNvPr id="15" name="CuadroTexto 14">
            <a:extLst>
              <a:ext uri="{FF2B5EF4-FFF2-40B4-BE49-F238E27FC236}">
                <a16:creationId xmlns:a16="http://schemas.microsoft.com/office/drawing/2014/main" id="{D19B2D86-2D9E-C635-A67B-B490FF26D7A0}"/>
              </a:ext>
            </a:extLst>
          </p:cNvPr>
          <p:cNvSpPr txBox="1"/>
          <p:nvPr/>
        </p:nvSpPr>
        <p:spPr>
          <a:xfrm>
            <a:off x="9048828" y="4351568"/>
            <a:ext cx="888802" cy="369332"/>
          </a:xfrm>
          <a:prstGeom prst="rect">
            <a:avLst/>
          </a:prstGeom>
          <a:noFill/>
        </p:spPr>
        <p:txBody>
          <a:bodyPr wrap="square" rtlCol="0">
            <a:spAutoFit/>
          </a:bodyPr>
          <a:lstStyle/>
          <a:p>
            <a:r>
              <a:rPr lang="es-MX" dirty="0"/>
              <a:t>! ++ --</a:t>
            </a:r>
          </a:p>
        </p:txBody>
      </p:sp>
    </p:spTree>
    <p:extLst>
      <p:ext uri="{BB962C8B-B14F-4D97-AF65-F5344CB8AC3E}">
        <p14:creationId xmlns:p14="http://schemas.microsoft.com/office/powerpoint/2010/main" val="7461137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FC279FF-3362-F0B9-53A7-B4645E8F7121}"/>
              </a:ext>
            </a:extLst>
          </p:cNvPr>
          <p:cNvSpPr>
            <a:spLocks noChangeArrowheads="1"/>
          </p:cNvSpPr>
          <p:nvPr/>
        </p:nvSpPr>
        <p:spPr bwMode="auto">
          <a:xfrm>
            <a:off x="391352" y="68792"/>
            <a:ext cx="1214940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RESTRICCIONES PARA LA SOBRECARGA</a:t>
            </a:r>
          </a:p>
        </p:txBody>
      </p:sp>
      <p:sp>
        <p:nvSpPr>
          <p:cNvPr id="5" name="CuadroTexto 4">
            <a:extLst>
              <a:ext uri="{FF2B5EF4-FFF2-40B4-BE49-F238E27FC236}">
                <a16:creationId xmlns:a16="http://schemas.microsoft.com/office/drawing/2014/main" id="{9678C657-3273-2D81-25C3-DF4D26A72DB8}"/>
              </a:ext>
            </a:extLst>
          </p:cNvPr>
          <p:cNvSpPr txBox="1"/>
          <p:nvPr/>
        </p:nvSpPr>
        <p:spPr>
          <a:xfrm>
            <a:off x="239162" y="686032"/>
            <a:ext cx="10003790" cy="3970318"/>
          </a:xfrm>
          <a:prstGeom prst="rect">
            <a:avLst/>
          </a:prstGeom>
          <a:noFill/>
        </p:spPr>
        <p:txBody>
          <a:bodyPr wrap="square">
            <a:spAutoFit/>
          </a:bodyPr>
          <a:lstStyle/>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Para los operadores </a:t>
            </a:r>
            <a:r>
              <a:rPr lang="es-MX" sz="36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 [] -&gt; </a:t>
            </a:r>
            <a:r>
              <a:rPr lang="es-MX" sz="3600" dirty="0">
                <a:latin typeface="ADLaM Display" panose="02010000000000000000" pitchFamily="2" charset="0"/>
                <a:ea typeface="ADLaM Display" panose="02010000000000000000" pitchFamily="2" charset="0"/>
                <a:cs typeface="ADLaM Display" panose="02010000000000000000" pitchFamily="2" charset="0"/>
              </a:rPr>
              <a:t>o </a:t>
            </a:r>
            <a:r>
              <a:rPr lang="es-MX" sz="36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 </a:t>
            </a:r>
            <a:r>
              <a:rPr lang="es-MX" sz="3600" dirty="0">
                <a:latin typeface="ADLaM Display" panose="02010000000000000000" pitchFamily="2" charset="0"/>
                <a:ea typeface="ADLaM Display" panose="02010000000000000000" pitchFamily="2" charset="0"/>
                <a:cs typeface="ADLaM Display" panose="02010000000000000000" pitchFamily="2" charset="0"/>
              </a:rPr>
              <a:t>deben declararse como funciones miembros</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Si el operando más a la izquierda es un objeto diferente al de la derecha debe declararse como funciones no miembros </a:t>
            </a:r>
          </a:p>
          <a:p>
            <a:pPr marL="742950" indent="-742950">
              <a:buFont typeface="+mj-lt"/>
              <a:buAutoNum type="alphaLcParenR"/>
            </a:pPr>
            <a:r>
              <a:rPr lang="es-MX" sz="3600" dirty="0">
                <a:latin typeface="ADLaM Display" panose="02010000000000000000" pitchFamily="2" charset="0"/>
                <a:ea typeface="ADLaM Display" panose="02010000000000000000" pitchFamily="2" charset="0"/>
                <a:cs typeface="ADLaM Display" panose="02010000000000000000" pitchFamily="2" charset="0"/>
              </a:rPr>
              <a:t>En caso contrario hacerse como funciones miembros</a:t>
            </a:r>
          </a:p>
        </p:txBody>
      </p:sp>
      <p:sp>
        <p:nvSpPr>
          <p:cNvPr id="6" name="CuadroTexto 5">
            <a:extLst>
              <a:ext uri="{FF2B5EF4-FFF2-40B4-BE49-F238E27FC236}">
                <a16:creationId xmlns:a16="http://schemas.microsoft.com/office/drawing/2014/main" id="{E16C181C-1D56-53B4-7C46-EE15E54A411C}"/>
              </a:ext>
            </a:extLst>
          </p:cNvPr>
          <p:cNvSpPr txBox="1"/>
          <p:nvPr/>
        </p:nvSpPr>
        <p:spPr>
          <a:xfrm>
            <a:off x="944410" y="5070763"/>
            <a:ext cx="4142979" cy="520551"/>
          </a:xfrm>
          <a:prstGeom prst="rect">
            <a:avLst/>
          </a:prstGeom>
          <a:noFill/>
        </p:spPr>
        <p:txBody>
          <a:bodyPr wrap="square">
            <a:spAutoFit/>
          </a:bodyPr>
          <a:lstStyle/>
          <a:p>
            <a:r>
              <a:rPr lang="es-MX" sz="2800" dirty="0" err="1">
                <a:solidFill>
                  <a:srgbClr val="00B0F0"/>
                </a:solidFill>
                <a:latin typeface="ADLaM Display" panose="02010000000000000000" pitchFamily="2" charset="0"/>
                <a:ea typeface="ADLaM Display" panose="02010000000000000000" pitchFamily="2" charset="0"/>
                <a:cs typeface="ADLaM Display" panose="02010000000000000000" pitchFamily="2" charset="0"/>
              </a:rPr>
              <a:t>cout</a:t>
            </a:r>
            <a:r>
              <a:rPr lang="es-MX" sz="2800" dirty="0">
                <a:latin typeface="ADLaM Display" panose="02010000000000000000" pitchFamily="2" charset="0"/>
                <a:ea typeface="ADLaM Display" panose="02010000000000000000" pitchFamily="2" charset="0"/>
                <a:cs typeface="ADLaM Display" panose="02010000000000000000" pitchFamily="2" charset="0"/>
              </a:rPr>
              <a:t> </a:t>
            </a:r>
            <a:r>
              <a:rPr lang="es-MX" sz="28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&lt;&lt;</a:t>
            </a:r>
            <a:r>
              <a:rPr lang="es-MX" sz="2800" dirty="0">
                <a:latin typeface="ADLaM Display" panose="02010000000000000000" pitchFamily="2" charset="0"/>
                <a:ea typeface="ADLaM Display" panose="02010000000000000000" pitchFamily="2" charset="0"/>
                <a:cs typeface="ADLaM Display" panose="02010000000000000000" pitchFamily="2" charset="0"/>
              </a:rPr>
              <a:t> </a:t>
            </a:r>
            <a:r>
              <a:rPr lang="es-MX" sz="2800"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objetoCreado</a:t>
            </a:r>
            <a:r>
              <a:rPr lang="es-MX" sz="2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a:t>
            </a:r>
            <a:endParaRPr lang="es-MX" sz="2800"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8" name="Conector recto de flecha 7">
            <a:extLst>
              <a:ext uri="{FF2B5EF4-FFF2-40B4-BE49-F238E27FC236}">
                <a16:creationId xmlns:a16="http://schemas.microsoft.com/office/drawing/2014/main" id="{F8203606-BBA5-164A-8C18-1D9408B93BD5}"/>
              </a:ext>
            </a:extLst>
          </p:cNvPr>
          <p:cNvCxnSpPr/>
          <p:nvPr/>
        </p:nvCxnSpPr>
        <p:spPr>
          <a:xfrm flipH="1">
            <a:off x="5087389" y="5370022"/>
            <a:ext cx="340417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Rectangle 2">
            <a:extLst>
              <a:ext uri="{FF2B5EF4-FFF2-40B4-BE49-F238E27FC236}">
                <a16:creationId xmlns:a16="http://schemas.microsoft.com/office/drawing/2014/main" id="{10818BB6-1E8C-8AEE-C958-0ECD7C7B2F24}"/>
              </a:ext>
            </a:extLst>
          </p:cNvPr>
          <p:cNvSpPr>
            <a:spLocks noChangeArrowheads="1"/>
          </p:cNvSpPr>
          <p:nvPr/>
        </p:nvSpPr>
        <p:spPr bwMode="auto">
          <a:xfrm>
            <a:off x="8610340" y="5077634"/>
            <a:ext cx="620028"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b)</a:t>
            </a:r>
          </a:p>
        </p:txBody>
      </p:sp>
    </p:spTree>
    <p:extLst>
      <p:ext uri="{BB962C8B-B14F-4D97-AF65-F5344CB8AC3E}">
        <p14:creationId xmlns:p14="http://schemas.microsoft.com/office/powerpoint/2010/main" val="8884733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0100364-0D2C-EDB2-9A61-807A381226E5}"/>
              </a:ext>
            </a:extLst>
          </p:cNvPr>
          <p:cNvSpPr>
            <a:spLocks noChangeArrowheads="1"/>
          </p:cNvSpPr>
          <p:nvPr/>
        </p:nvSpPr>
        <p:spPr bwMode="auto">
          <a:xfrm>
            <a:off x="198408" y="68792"/>
            <a:ext cx="1088653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SOBRECARGA DE OPERADORES BINARIOS</a:t>
            </a:r>
          </a:p>
        </p:txBody>
      </p:sp>
      <p:sp>
        <p:nvSpPr>
          <p:cNvPr id="5" name="Rectángulo 4">
            <a:extLst>
              <a:ext uri="{FF2B5EF4-FFF2-40B4-BE49-F238E27FC236}">
                <a16:creationId xmlns:a16="http://schemas.microsoft.com/office/drawing/2014/main" id="{9130FB58-7F82-0265-83B4-5E4A751A5C96}"/>
              </a:ext>
            </a:extLst>
          </p:cNvPr>
          <p:cNvSpPr/>
          <p:nvPr/>
        </p:nvSpPr>
        <p:spPr>
          <a:xfrm>
            <a:off x="2128057" y="653567"/>
            <a:ext cx="7564582" cy="764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 RERPRESENTA UN OPERADOR BINARIO</a:t>
            </a:r>
          </a:p>
        </p:txBody>
      </p:sp>
      <p:sp>
        <p:nvSpPr>
          <p:cNvPr id="10" name="Rectangle 2">
            <a:extLst>
              <a:ext uri="{FF2B5EF4-FFF2-40B4-BE49-F238E27FC236}">
                <a16:creationId xmlns:a16="http://schemas.microsoft.com/office/drawing/2014/main" id="{5177814F-8492-2DE0-3AD0-58D48B954955}"/>
              </a:ext>
            </a:extLst>
          </p:cNvPr>
          <p:cNvSpPr>
            <a:spLocks noChangeArrowheads="1"/>
          </p:cNvSpPr>
          <p:nvPr/>
        </p:nvSpPr>
        <p:spPr bwMode="auto">
          <a:xfrm>
            <a:off x="42596" y="1558287"/>
            <a:ext cx="11154492"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CON FUNCIONES MIEMBROS</a:t>
            </a:r>
          </a:p>
        </p:txBody>
      </p:sp>
    </p:spTree>
    <p:extLst>
      <p:ext uri="{BB962C8B-B14F-4D97-AF65-F5344CB8AC3E}">
        <p14:creationId xmlns:p14="http://schemas.microsoft.com/office/powerpoint/2010/main" val="30303023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3C7052D-E7FA-5CFE-9B4B-2FA509AA58D3}"/>
              </a:ext>
            </a:extLst>
          </p:cNvPr>
          <p:cNvPicPr>
            <a:picLocks noChangeAspect="1"/>
          </p:cNvPicPr>
          <p:nvPr/>
        </p:nvPicPr>
        <p:blipFill>
          <a:blip r:embed="rId2"/>
          <a:stretch>
            <a:fillRect/>
          </a:stretch>
        </p:blipFill>
        <p:spPr>
          <a:xfrm>
            <a:off x="587673" y="1548009"/>
            <a:ext cx="4758049" cy="4939817"/>
          </a:xfrm>
          <a:prstGeom prst="rect">
            <a:avLst/>
          </a:prstGeom>
        </p:spPr>
      </p:pic>
      <p:sp>
        <p:nvSpPr>
          <p:cNvPr id="5" name="Cerrar llave 4">
            <a:extLst>
              <a:ext uri="{FF2B5EF4-FFF2-40B4-BE49-F238E27FC236}">
                <a16:creationId xmlns:a16="http://schemas.microsoft.com/office/drawing/2014/main" id="{58342533-D7A8-9A12-002B-5C1B6EB503FE}"/>
              </a:ext>
            </a:extLst>
          </p:cNvPr>
          <p:cNvSpPr/>
          <p:nvPr/>
        </p:nvSpPr>
        <p:spPr>
          <a:xfrm>
            <a:off x="5460521" y="5158596"/>
            <a:ext cx="405441" cy="1329230"/>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sp>
        <p:nvSpPr>
          <p:cNvPr id="6" name="Rectangle 2">
            <a:extLst>
              <a:ext uri="{FF2B5EF4-FFF2-40B4-BE49-F238E27FC236}">
                <a16:creationId xmlns:a16="http://schemas.microsoft.com/office/drawing/2014/main" id="{EBBEB1B8-A0ED-33D9-EBDF-86524FD8DF44}"/>
              </a:ext>
            </a:extLst>
          </p:cNvPr>
          <p:cNvSpPr>
            <a:spLocks noChangeArrowheads="1"/>
          </p:cNvSpPr>
          <p:nvPr/>
        </p:nvSpPr>
        <p:spPr bwMode="auto">
          <a:xfrm>
            <a:off x="5865962" y="4826961"/>
            <a:ext cx="4973673" cy="156966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Funciones miembros sobrecargando los operadores </a:t>
            </a:r>
            <a:r>
              <a:rPr lang="es-MX" altLang="es-MX" sz="32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 * ==</a:t>
            </a:r>
            <a:r>
              <a:rPr lang="es-MX" altLang="es-MX" sz="3200" dirty="0">
                <a:latin typeface="ADLaM Display" panose="02010000000000000000" pitchFamily="2" charset="0"/>
                <a:ea typeface="ADLaM Display" panose="02010000000000000000" pitchFamily="2" charset="0"/>
                <a:cs typeface="ADLaM Display" panose="02010000000000000000" pitchFamily="2" charset="0"/>
              </a:rPr>
              <a:t> y </a:t>
            </a:r>
            <a:r>
              <a:rPr lang="es-MX" altLang="es-MX" sz="32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a:t>
            </a:r>
          </a:p>
        </p:txBody>
      </p:sp>
    </p:spTree>
    <p:extLst>
      <p:ext uri="{BB962C8B-B14F-4D97-AF65-F5344CB8AC3E}">
        <p14:creationId xmlns:p14="http://schemas.microsoft.com/office/powerpoint/2010/main" val="6652958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Vista">
  <a:themeElements>
    <a:clrScheme name="Vista">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sta">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st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7688</TotalTime>
  <Words>2203</Words>
  <Application>Microsoft Office PowerPoint</Application>
  <PresentationFormat>Panorámica</PresentationFormat>
  <Paragraphs>306</Paragraphs>
  <Slides>83</Slides>
  <Notes>0</Notes>
  <HiddenSlides>0</HiddenSlides>
  <MMClips>0</MMClips>
  <ScaleCrop>false</ScaleCrop>
  <HeadingPairs>
    <vt:vector size="6" baseType="variant">
      <vt:variant>
        <vt:lpstr>Fuentes usadas</vt:lpstr>
      </vt:variant>
      <vt:variant>
        <vt:i4>10</vt:i4>
      </vt:variant>
      <vt:variant>
        <vt:lpstr>Tema</vt:lpstr>
      </vt:variant>
      <vt:variant>
        <vt:i4>3</vt:i4>
      </vt:variant>
      <vt:variant>
        <vt:lpstr>Títulos de diapositiva</vt:lpstr>
      </vt:variant>
      <vt:variant>
        <vt:i4>83</vt:i4>
      </vt:variant>
    </vt:vector>
  </HeadingPairs>
  <TitlesOfParts>
    <vt:vector size="96" baseType="lpstr">
      <vt:lpstr>Abadi</vt:lpstr>
      <vt:lpstr>ADLaM Display</vt:lpstr>
      <vt:lpstr>Arial</vt:lpstr>
      <vt:lpstr>Calibri</vt:lpstr>
      <vt:lpstr>Calibri Light</vt:lpstr>
      <vt:lpstr>Century Schoolbook</vt:lpstr>
      <vt:lpstr>Consolas</vt:lpstr>
      <vt:lpstr>Söhne</vt:lpstr>
      <vt:lpstr>Tw Cen MT</vt:lpstr>
      <vt:lpstr>Wingdings 2</vt:lpstr>
      <vt:lpstr>Tema de Office</vt:lpstr>
      <vt:lpstr>Gota</vt:lpstr>
      <vt:lpstr>Vista</vt:lpstr>
      <vt:lpstr>ESTRUCTURA DE DATOS CON C++</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Ejemplo de clases</vt:lpstr>
      <vt:lpstr>Presentación de PowerPoint</vt:lpstr>
      <vt:lpstr>Especificadores de acceso </vt:lpstr>
      <vt:lpstr>Ejemplo:clockType_version1</vt:lpstr>
      <vt:lpstr>Codificación</vt:lpstr>
      <vt:lpstr>¿Qué vemos en lo anterior?</vt:lpstr>
      <vt:lpstr>Presentación de PowerPoint</vt:lpstr>
      <vt:lpstr>Propiedades de los constructores</vt:lpstr>
      <vt:lpstr>Ejemplo:clockType_version1.1</vt:lpstr>
      <vt:lpstr>Objetos</vt:lpstr>
      <vt:lpstr>Ejemplo de instancia</vt:lpstr>
      <vt:lpstr>Implementation de funciones miembro</vt:lpstr>
      <vt:lpstr>setTime</vt:lpstr>
      <vt:lpstr>getTime</vt:lpstr>
      <vt:lpstr>increments</vt:lpstr>
      <vt:lpstr>equalTime</vt:lpstr>
      <vt:lpstr>Operador de asignación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DE DATOS</dc:title>
  <dc:creator>Leonardo Vicente Jimenez</dc:creator>
  <cp:lastModifiedBy>Leonardo Vicente Jimenez</cp:lastModifiedBy>
  <cp:revision>12</cp:revision>
  <dcterms:created xsi:type="dcterms:W3CDTF">2023-11-06T21:14:24Z</dcterms:created>
  <dcterms:modified xsi:type="dcterms:W3CDTF">2024-03-05T19:29:03Z</dcterms:modified>
</cp:coreProperties>
</file>